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0079365" cy="5669642" type="custom"/>
  <p:notesSz cx="6858000" cy="9144000"/>
  <p:defaultTextStyle>
    <a:defPPr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5" accent4="accent4" accent5="accent5" accent6="accent6" hlink="hlink" folHlink="folHlink"/>
  <p:notesStyle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body" idx="4294967295"/>
          </p:nvPr>
        </p:nvSpPr>
        <p:spPr>
          <a:xfrm>
            <a:off x="755952" y="5078200"/>
            <a:ext cx="6047259" cy="4810736"/>
          </a:xfrm>
          <a:prstGeom prst="rect">
            <a:avLst/>
          </a:prstGeom>
          <a:noFill/>
          <a:ln>
            <a:noFill/>
          </a:ln>
          <a:effectLst/>
        </p:spPr>
        <p:txBody>
          <a:bodyPr anchor="t">
            <a:spAutoFit/>
          </a:bodyPr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body" idx="4294967295"/>
          </p:nvPr>
        </p:nvSpPr>
        <p:spPr>
          <a:xfrm>
            <a:off x="755952" y="5078200"/>
            <a:ext cx="6047259" cy="4810736"/>
          </a:xfrm>
          <a:prstGeom prst="rect">
            <a:avLst/>
          </a:prstGeom>
          <a:noFill/>
          <a:ln>
            <a:noFill/>
          </a:ln>
          <a:effectLst/>
        </p:spPr>
        <p:txBody>
          <a:bodyPr anchor="t">
            <a:spAutoFit/>
          </a:bodyPr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body" idx="4294967295"/>
          </p:nvPr>
        </p:nvSpPr>
        <p:spPr>
          <a:xfrm>
            <a:off x="755952" y="5078200"/>
            <a:ext cx="6047259" cy="4810736"/>
          </a:xfrm>
          <a:prstGeom prst="rect">
            <a:avLst/>
          </a:prstGeom>
          <a:noFill/>
          <a:ln>
            <a:noFill/>
          </a:ln>
          <a:effectLst/>
        </p:spPr>
        <p:txBody>
          <a:bodyPr anchor="t">
            <a:spAutoFit/>
          </a:bodyPr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body" idx="4294967295"/>
          </p:nvPr>
        </p:nvSpPr>
        <p:spPr>
          <a:xfrm>
            <a:off x="755952" y="5078200"/>
            <a:ext cx="6047259" cy="4810736"/>
          </a:xfrm>
          <a:prstGeom prst="rect">
            <a:avLst/>
          </a:prstGeom>
          <a:noFill/>
          <a:ln>
            <a:noFill/>
          </a:ln>
          <a:effectLst/>
        </p:spPr>
        <p:txBody>
          <a:bodyPr anchor="t">
            <a:spAutoFit/>
          </a:bodyPr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body" idx="4294967295"/>
          </p:nvPr>
        </p:nvSpPr>
        <p:spPr>
          <a:xfrm>
            <a:off x="755952" y="5078200"/>
            <a:ext cx="6047259" cy="4810736"/>
          </a:xfrm>
          <a:prstGeom prst="rect">
            <a:avLst/>
          </a:prstGeom>
          <a:noFill/>
          <a:ln>
            <a:noFill/>
          </a:ln>
          <a:effectLst/>
        </p:spPr>
        <p:txBody>
          <a:bodyPr anchor="t">
            <a:spAutoFit/>
          </a:bodyPr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body" idx="4294967295"/>
          </p:nvPr>
        </p:nvSpPr>
        <p:spPr>
          <a:xfrm>
            <a:off x="755952" y="5078200"/>
            <a:ext cx="6047259" cy="4810736"/>
          </a:xfrm>
          <a:prstGeom prst="rect">
            <a:avLst/>
          </a:prstGeom>
          <a:noFill/>
          <a:ln>
            <a:noFill/>
          </a:ln>
          <a:effectLst/>
        </p:spPr>
        <p:txBody>
          <a:bodyPr anchor="t">
            <a:spAutoFit/>
          </a:bodyPr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body" idx="4294967295"/>
          </p:nvPr>
        </p:nvSpPr>
        <p:spPr>
          <a:xfrm>
            <a:off x="755952" y="5078200"/>
            <a:ext cx="6047259" cy="4810736"/>
          </a:xfrm>
          <a:prstGeom prst="rect">
            <a:avLst/>
          </a:prstGeom>
          <a:noFill/>
          <a:ln>
            <a:noFill/>
          </a:ln>
          <a:effectLst/>
        </p:spPr>
        <p:txBody>
          <a:bodyPr anchor="t">
            <a:spAutoFit/>
          </a:bodyPr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body" idx="4294967295"/>
          </p:nvPr>
        </p:nvSpPr>
        <p:spPr>
          <a:xfrm>
            <a:off x="755952" y="5078200"/>
            <a:ext cx="6047259" cy="4810736"/>
          </a:xfrm>
          <a:prstGeom prst="rect">
            <a:avLst/>
          </a:prstGeom>
          <a:noFill/>
          <a:ln>
            <a:noFill/>
          </a:ln>
          <a:effectLst/>
        </p:spPr>
        <p:txBody>
          <a:bodyPr anchor="t">
            <a:spAutoFit/>
          </a:bodyPr>
          <a:p>
            <a:endParaRPr sz="20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body" idx="4294967295"/>
          </p:nvPr>
        </p:nvSpPr>
        <p:spPr>
          <a:xfrm>
            <a:off x="755952" y="5078200"/>
            <a:ext cx="6047259" cy="4810736"/>
          </a:xfrm>
          <a:prstGeom prst="rect">
            <a:avLst/>
          </a:prstGeom>
          <a:noFill/>
          <a:ln>
            <a:noFill/>
          </a:ln>
          <a:effectLst/>
        </p:spPr>
        <p:txBody>
          <a:bodyPr anchor="t">
            <a:spAutoFit/>
          </a:bodyPr>
          <a:p>
            <a:endParaRPr sz="20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body" idx="4294967295"/>
          </p:nvPr>
        </p:nvSpPr>
        <p:spPr>
          <a:xfrm>
            <a:off x="755952" y="5078200"/>
            <a:ext cx="6047259" cy="4810736"/>
          </a:xfrm>
          <a:prstGeom prst="rect">
            <a:avLst/>
          </a:prstGeom>
          <a:noFill/>
          <a:ln>
            <a:noFill/>
          </a:ln>
          <a:effectLst/>
        </p:spPr>
        <p:txBody>
          <a:bodyPr anchor="t">
            <a:spAutoFit/>
          </a:bodyPr>
          <a:p>
            <a:endParaRPr sz="20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Default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_holder"/>
          <p:cNvSpPr txBox="1"/>
          <p:nvPr>
            <p:ph type="title" idx="4294967295"/>
          </p:nvPr>
        </p:nvSpPr>
        <p:spPr>
          <a:xfrm>
            <a:off x="740833" y="627440"/>
            <a:ext cx="8607777" cy="1262440"/>
          </a:xfrm>
        </p:spPr>
        <p:txBody>
          <a:bodyPr/>
          <a:p>
            <a:endParaRPr/>
          </a:p>
        </p:txBody>
      </p:sp>
      <p:sp>
        <p:nvSpPr>
          <p:cNvPr id="3" name="place_holder"/>
          <p:cNvSpPr txBox="1"/>
          <p:nvPr>
            <p:ph type="body" idx="4294967295"/>
          </p:nvPr>
        </p:nvSpPr>
        <p:spPr>
          <a:xfrm>
            <a:off x="740833" y="2101547"/>
            <a:ext cx="8607777" cy="4762500"/>
          </a:xfrm>
        </p:spPr>
        <p:txBody>
          <a:bodyPr/>
          <a:p>
            <a:endParaRPr/>
          </a:p>
        </p:txBody>
      </p:sp>
      <p:sp>
        <p:nvSpPr>
          <p:cNvPr id="4" name=""/>
          <p:cNvSpPr txBox="1"/>
          <p:nvPr>
            <p:ph type="dt" sz="half" idx="1"/>
          </p:nvPr>
        </p:nvSpPr>
        <p:spPr>
          <a:xfrm>
            <a:off x="1151927" y="4868693"/>
            <a:ext cx="2012633" cy="340898"/>
          </a:xfrm>
        </p:spPr>
        <p:txBody>
          <a:bodyPr anchor="t"/>
          <a:lstStyle/>
          <a:p>
            <a:fld id="{1D1B89AE-8D35-4BB5-B492-6D9BE4F23A39}" type="datetime1">
              <a:t>01.01.2000</a:t>
            </a:fld>
            <a:endParaRPr sz="2000"/>
          </a:p>
        </p:txBody>
      </p:sp>
      <p:sp>
        <p:nvSpPr>
          <p:cNvPr id="5" name=""/>
          <p:cNvSpPr txBox="1"/>
          <p:nvPr>
            <p:ph type="ftr" sz="quarter" idx="2"/>
          </p:nvPr>
        </p:nvSpPr>
        <p:spPr>
          <a:xfrm>
            <a:off x="3674648" y="4868693"/>
            <a:ext cx="2738347" cy="340898"/>
          </a:xfrm>
        </p:spPr>
        <p:txBody>
          <a:bodyPr anchor="t"/>
          <a:lstStyle/>
          <a:p>
            <a:pPr algn="ctr">
              <a:defRPr lang="none-none" sz="1400" strike="noStrike">
                <a:latin typeface="Liberation Sans"/>
                <a:cs typeface="Liberation Sans"/>
              </a:defRPr>
            </a:pPr>
            <a:endParaRPr/>
          </a:p>
        </p:txBody>
      </p:sp>
      <p:sp>
        <p:nvSpPr>
          <p:cNvPr id="6" name=""/>
          <p:cNvSpPr txBox="1"/>
          <p:nvPr>
            <p:ph type="sldNum" sz="quarter" idx="3"/>
          </p:nvPr>
        </p:nvSpPr>
        <p:spPr>
          <a:xfrm>
            <a:off x="6914444" y="4868693"/>
            <a:ext cx="2012633" cy="340898"/>
          </a:xfrm>
        </p:spPr>
        <p:txBody>
          <a:bodyPr anchor="t"/>
          <a:lstStyle/>
          <a:p>
            <a:pPr algn="r">
              <a:defRPr lang="none-none" sz="1400" strike="noStrike">
                <a:latin typeface="Liberation Sans"/>
                <a:cs typeface="Liberation Sans"/>
              </a:defRPr>
            </a:pPr>
            <a:fld id="{5CC2A059-B141-45A7-B910-B096D6D06820}" type="slidenum">
              <a:t>&lt;number&gt;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bg>
      <p:bgPr>
        <a:noFill/>
      </p:bgPr>
    </p:bg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title" idx="4294967295"/>
          </p:nvPr>
        </p:nvSpPr>
        <p:spPr>
          <a:xfrm>
            <a:off x="899583" y="556884"/>
            <a:ext cx="8279478" cy="8265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>
              <a:defRPr sz="3840" b="1" u="none" cap="all">
                <a:latin typeface="Liberation Sans"/>
                <a:ea typeface="Noto Sans CJK SC"/>
                <a:cs typeface="FreeSans"/>
              </a:defRPr>
            </a:pPr>
            <a:endParaRPr/>
          </a:p>
        </p:txBody>
      </p:sp>
      <p:sp>
        <p:nvSpPr>
          <p:cNvPr id="3" name=""/>
          <p:cNvSpPr txBox="1"/>
          <p:nvPr>
            <p:ph type="body" idx="4294967295"/>
          </p:nvPr>
        </p:nvSpPr>
        <p:spPr>
          <a:xfrm>
            <a:off x="1151927" y="1517664"/>
            <a:ext cx="7775150" cy="287045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/>
          <a:p>
            <a:pPr marL="0" marR="0" indent="0">
              <a:spcBef>
                <a:spcPts val="1233"/>
              </a:spcBef>
              <a:spcAft>
                <a:spcPts val="1233"/>
              </a:spcAft>
              <a:defRPr sz="2790" u="none">
                <a:latin typeface="Liberation Sans"/>
                <a:ea typeface="Noto Sans CJK SC"/>
                <a:cs typeface="FreeSans"/>
              </a:defRPr>
            </a:pPr>
            <a:endParaRPr/>
          </a:p>
        </p:txBody>
      </p:sp>
      <p:sp>
        <p:nvSpPr>
          <p:cNvPr id="4" name=""/>
          <p:cNvSpPr txBox="1"/>
          <p:nvPr>
            <p:ph type="dt" sz="half" idx="1"/>
          </p:nvPr>
        </p:nvSpPr>
        <p:spPr>
          <a:xfrm>
            <a:off x="1151927" y="4868693"/>
            <a:ext cx="2012633" cy="340898"/>
          </a:xfrm>
          <a:prstGeom prst="rect">
            <a:avLst/>
          </a:prstGeom>
          <a:noFill/>
          <a:ln>
            <a:noFill/>
          </a:ln>
          <a:effectLst/>
        </p:spPr>
        <p:txBody>
          <a:bodyPr anchor="t"/>
          <a:lstStyle/>
          <a:p>
            <a:fld id="{1D1B89AE-8D35-4BB5-B492-6D9BE4F23A39}" type="datetime1">
              <a:t>01.01.2000</a:t>
            </a:fld>
            <a:endParaRPr/>
          </a:p>
        </p:txBody>
      </p:sp>
      <p:sp>
        <p:nvSpPr>
          <p:cNvPr id="5" name=""/>
          <p:cNvSpPr txBox="1"/>
          <p:nvPr>
            <p:ph type="ftr" sz="quarter" idx="2"/>
          </p:nvPr>
        </p:nvSpPr>
        <p:spPr>
          <a:xfrm>
            <a:off x="3674648" y="4868693"/>
            <a:ext cx="2738347" cy="340898"/>
          </a:xfrm>
          <a:prstGeom prst="rect">
            <a:avLst/>
          </a:prstGeom>
          <a:noFill/>
          <a:ln>
            <a:noFill/>
          </a:ln>
          <a:effectLst/>
        </p:spPr>
        <p:txBody>
          <a:bodyPr anchor="t"/>
          <a:lstStyle/>
          <a:p>
            <a:pPr algn="ctr">
              <a:defRPr lang="none-none" sz="1400" strike="noStrike">
                <a:latin typeface="Liberation Sans"/>
                <a:cs typeface="Liberation Sans"/>
              </a:defRPr>
            </a:pPr>
            <a:endParaRPr/>
          </a:p>
        </p:txBody>
      </p:sp>
      <p:sp>
        <p:nvSpPr>
          <p:cNvPr id="6" name=""/>
          <p:cNvSpPr txBox="1"/>
          <p:nvPr>
            <p:ph type="sldNum" sz="quarter" idx="3"/>
          </p:nvPr>
        </p:nvSpPr>
        <p:spPr>
          <a:xfrm>
            <a:off x="6914444" y="4868693"/>
            <a:ext cx="2012633" cy="340898"/>
          </a:xfrm>
          <a:prstGeom prst="rect">
            <a:avLst/>
          </a:prstGeom>
          <a:noFill/>
          <a:ln>
            <a:noFill/>
          </a:ln>
          <a:effectLst/>
        </p:spPr>
        <p:txBody>
          <a:bodyPr anchor="t"/>
          <a:lstStyle/>
          <a:p>
            <a:pPr algn="r">
              <a:defRPr lang="none-none" sz="1400" strike="noStrike">
                <a:latin typeface="Liberation Sans"/>
                <a:cs typeface="Liberation Sans"/>
              </a:defRPr>
            </a:pPr>
            <a:fld id="{5CC2A059-B141-45A7-B910-B096D6D06820}" type="slidenum">
              <a:t>&lt;number&gt;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1" ftr="1" sldNum="1"/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="1">
  <p:cSld name="page1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title" idx="4294967295"/>
          </p:nvPr>
        </p:nvSpPr>
        <p:spPr>
          <a:xfrm>
            <a:off x="899583" y="556884"/>
            <a:ext cx="8279478" cy="8265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ctr"/>
            <a:r>
              <a:rPr sz="3840" b="1" u="none" cap="all">
                <a:latin typeface="Liberation Sans"/>
                <a:ea typeface="Noto Sans CJK SC"/>
                <a:cs typeface="FreeSans"/>
              </a:rPr>
              <a:t>TÓPICOS THIAGO</a:t>
            </a:r>
            <a:endParaRPr sz="3840"/>
          </a:p>
        </p:txBody>
      </p:sp>
      <p:sp>
        <p:nvSpPr>
          <p:cNvPr id="3" name=""/>
          <p:cNvSpPr txBox="1"/>
          <p:nvPr>
            <p:ph type="body" idx="4294967295"/>
          </p:nvPr>
        </p:nvSpPr>
        <p:spPr>
          <a:xfrm>
            <a:off x="3012650" y="1517664"/>
            <a:ext cx="4056944" cy="28704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L="0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Padrões envolvidos</a:t>
            </a:r>
            <a:endParaRPr/>
          </a:p>
          <a:p>
            <a:pPr marL="0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Exemplos de aplicações</a:t>
            </a:r>
            <a:endParaRPr/>
          </a:p>
          <a:p>
            <a:pPr marL="0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Bluetooth Low Energy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="1">
  <p:cSld name="page2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title" idx="4294967295"/>
          </p:nvPr>
        </p:nvSpPr>
        <p:spPr>
          <a:xfrm>
            <a:off x="899583" y="556884"/>
            <a:ext cx="8279478" cy="8265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indent="0" algn="l">
              <a:spcBef>
                <a:spcPts val="1417"/>
              </a:spcBef>
              <a:spcAft>
                <a:spcPts val="1417"/>
              </a:spcAft>
            </a:pPr>
            <a:r>
              <a:rPr sz="3200" b="1" u="none" cap="all">
                <a:latin typeface="Liberation Sans"/>
                <a:ea typeface="Noto Sans CJK SC"/>
                <a:cs typeface="FreeSans"/>
              </a:rPr>
              <a:t>Padrões envolvidos</a:t>
            </a:r>
            <a:endParaRPr/>
          </a:p>
        </p:txBody>
      </p:sp>
      <p:sp>
        <p:nvSpPr>
          <p:cNvPr id="3" name=""/>
          <p:cNvSpPr txBox="1"/>
          <p:nvPr>
            <p:ph type="body" idx="4294967295"/>
          </p:nvPr>
        </p:nvSpPr>
        <p:spPr>
          <a:xfrm>
            <a:off x="1079931" y="1517664"/>
            <a:ext cx="3927352" cy="28704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t">
            <a:spAutoFit/>
          </a:bodyPr>
          <a:lstStyle/>
          <a:p>
            <a:pPr marL="0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IEEE 802.15.1 (PAN)</a:t>
            </a:r>
            <a:endParaRPr/>
          </a:p>
          <a:p>
            <a:pPr marL="0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ESTI 07.10 (RFCOMM)</a:t>
            </a:r>
            <a:endParaRPr/>
          </a:p>
          <a:p>
            <a:pPr marL="0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IETF 1621 (PPP)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="1">
  <p:cSld name="page3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title" idx="4294967295"/>
          </p:nvPr>
        </p:nvSpPr>
        <p:spPr>
          <a:xfrm>
            <a:off x="899583" y="556884"/>
            <a:ext cx="8279478" cy="8265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indent="0" algn="l">
              <a:spcBef>
                <a:spcPts val="1417"/>
              </a:spcBef>
              <a:spcAft>
                <a:spcPts val="1417"/>
              </a:spcAft>
            </a:pPr>
            <a:r>
              <a:rPr sz="3200" b="1" u="none" cap="all">
                <a:latin typeface="Liberation Sans"/>
                <a:ea typeface="Noto Sans CJK SC"/>
                <a:cs typeface="FreeSans"/>
              </a:rPr>
              <a:t>Exemplos de aplicações</a:t>
            </a:r>
            <a:endParaRPr/>
          </a:p>
        </p:txBody>
      </p:sp>
      <p:sp>
        <p:nvSpPr>
          <p:cNvPr id="3" name=""/>
          <p:cNvSpPr txBox="1"/>
          <p:nvPr>
            <p:ph type="body" idx="4294967295"/>
          </p:nvPr>
        </p:nvSpPr>
        <p:spPr>
          <a:xfrm>
            <a:off x="1079931" y="1517664"/>
            <a:ext cx="7919501" cy="3522018"/>
          </a:xfrm>
          <a:prstGeom prst="rect">
            <a:avLst/>
          </a:prstGeom>
          <a:noFill/>
          <a:ln>
            <a:noFill/>
          </a:ln>
          <a:effectLst/>
        </p:spPr>
        <p:txBody>
          <a:bodyPr anchor="t">
            <a:normAutofit/>
          </a:bodyPr>
          <a:lstStyle/>
          <a:p>
            <a:pPr marL="0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3030" u="none">
                <a:latin typeface="Liberation Sans"/>
                <a:ea typeface="Noto Sans CJK SC"/>
                <a:cs typeface="FreeSans"/>
              </a:rPr>
              <a:t>Conectar impressoras a dispositivos móveis (sincronização de dados)</a:t>
            </a:r>
            <a:endParaRPr/>
          </a:p>
          <a:p>
            <a:pPr marL="0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3030" u="none">
                <a:latin typeface="Liberation Sans"/>
                <a:ea typeface="Noto Sans CJK SC"/>
                <a:cs typeface="FreeSans"/>
              </a:rPr>
              <a:t>Parear fones de ouvido sem fio com smartphones (transmissão de áudio)</a:t>
            </a:r>
            <a:endParaRPr/>
          </a:p>
          <a:p>
            <a:pPr marL="0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3030" u="none">
                <a:latin typeface="Liberation Sans"/>
                <a:ea typeface="Noto Sans CJK SC"/>
                <a:cs typeface="FreeSans"/>
              </a:rPr>
              <a:t>Compartilhar arquivos entre notebooks (controle de dispositivos remotamente)</a:t>
            </a:r>
            <a:endParaRPr/>
          </a:p>
          <a:p>
            <a:pPr marL="0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3030" u="none">
                <a:latin typeface="Liberation Sans"/>
                <a:ea typeface="Noto Sans CJK SC"/>
                <a:cs typeface="FreeSans"/>
              </a:rPr>
              <a:t>Localização de objetos em armazém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="1">
  <p:cSld name="page4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title" idx="4294967295"/>
          </p:nvPr>
        </p:nvSpPr>
        <p:spPr>
          <a:xfrm>
            <a:off x="899583" y="556884"/>
            <a:ext cx="8279478" cy="8265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indent="0" algn="l">
              <a:spcBef>
                <a:spcPts val="1417"/>
              </a:spcBef>
              <a:spcAft>
                <a:spcPts val="1417"/>
              </a:spcAft>
            </a:pPr>
            <a:r>
              <a:rPr sz="3200" b="1" u="none" cap="all">
                <a:latin typeface="Liberation Sans"/>
                <a:ea typeface="Noto Sans CJK SC"/>
                <a:cs typeface="FreeSans"/>
              </a:rPr>
              <a:t>Exemplos de aplicações</a:t>
            </a:r>
            <a:endParaRPr/>
          </a:p>
        </p:txBody>
      </p:sp>
      <p:pic>
        <p:nvPicPr>
          <p:cNvPr id="3" name=""/>
          <p:cNvPicPr/>
          <p:nvPr/>
        </p:nvPicPr>
        <p:blipFill>
          <a:blip r:embed="rId3">
            <a:alphaModFix amt="100000"/>
            <a:lum bright="0" contrast="0"/>
          </a:blip>
          <a:srcRect l="284" t="3626" r="2184" b="1823"/>
          <a:stretch/>
        </p:blipFill>
        <p:spPr>
          <a:xfrm flipH="0" flipV="0">
            <a:off x="1547542" y="1259920"/>
            <a:ext cx="6984280" cy="4157738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"/>
          <p:cNvSpPr txBox="1"/>
          <p:nvPr/>
        </p:nvSpPr>
        <p:spPr>
          <a:xfrm rot="16199999">
            <a:off x="7019197" y="3564855"/>
            <a:ext cx="3257434" cy="23218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89994" tIns="44997" rIns="89994" bIns="44997">
            <a:spAutoFit/>
          </a:bodyPr>
          <a:lstStyle/>
          <a:p>
            <a:r>
              <a:rPr sz="1000" strike="noStrike">
                <a:solidFill>
                  <a:srgbClr val="808080"/>
                </a:solidFill>
              </a:rPr>
              <a:t>Fonte: https://adamcatley.com/AirTag.html#bluetooth-le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="1">
  <p:cSld name="page5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title" idx="4294967295"/>
          </p:nvPr>
        </p:nvSpPr>
        <p:spPr>
          <a:xfrm>
            <a:off x="899583" y="556884"/>
            <a:ext cx="8279478" cy="8265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indent="0" algn="l">
              <a:spcBef>
                <a:spcPts val="1417"/>
              </a:spcBef>
              <a:spcAft>
                <a:spcPts val="1417"/>
              </a:spcAft>
            </a:pPr>
            <a:r>
              <a:rPr sz="3200" b="1" u="none" cap="all">
                <a:latin typeface="Liberation Sans"/>
                <a:ea typeface="Noto Sans CJK SC"/>
                <a:cs typeface="FreeSans"/>
              </a:rPr>
              <a:t>Bluetooth Low Energy</a:t>
            </a:r>
            <a:endParaRPr/>
          </a:p>
        </p:txBody>
      </p:sp>
      <p:sp>
        <p:nvSpPr>
          <p:cNvPr id="3" name=""/>
          <p:cNvSpPr txBox="1"/>
          <p:nvPr>
            <p:ph type="body" idx="4294967295"/>
          </p:nvPr>
        </p:nvSpPr>
        <p:spPr>
          <a:xfrm>
            <a:off x="1079931" y="1383392"/>
            <a:ext cx="7919501" cy="383627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t">
            <a:spAutoFit/>
          </a:bodyPr>
          <a:lstStyle/>
          <a:p>
            <a:pPr marL="0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Origem</a:t>
            </a:r>
            <a:endParaRPr/>
          </a:p>
          <a:p>
            <a:pPr marL="0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Proposta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="1">
  <p:cSld name="page6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title" idx="4294967295"/>
          </p:nvPr>
        </p:nvSpPr>
        <p:spPr>
          <a:xfrm>
            <a:off x="899583" y="556884"/>
            <a:ext cx="8279478" cy="8265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indent="0" algn="l">
              <a:spcBef>
                <a:spcPts val="1417"/>
              </a:spcBef>
              <a:spcAft>
                <a:spcPts val="1417"/>
              </a:spcAft>
            </a:pPr>
            <a:r>
              <a:rPr sz="3200" b="1" u="none" cap="all">
                <a:latin typeface="Liberation Sans"/>
                <a:ea typeface="Noto Sans CJK SC"/>
                <a:cs typeface="FreeSans"/>
              </a:rPr>
              <a:t>Bluetooth Low Energy</a:t>
            </a:r>
            <a:endParaRPr/>
          </a:p>
        </p:txBody>
      </p:sp>
      <p:sp>
        <p:nvSpPr>
          <p:cNvPr id="3" name=""/>
          <p:cNvSpPr txBox="1"/>
          <p:nvPr>
            <p:ph type="body" idx="4294967295"/>
          </p:nvPr>
        </p:nvSpPr>
        <p:spPr>
          <a:xfrm>
            <a:off x="1079931" y="1313917"/>
            <a:ext cx="7919501" cy="390575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t">
            <a:spAutoFit/>
          </a:bodyPr>
          <a:lstStyle/>
          <a:p>
            <a:pPr marL="0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Diferenças com o Bluetooth clássico</a:t>
            </a:r>
            <a:endParaRPr/>
          </a:p>
          <a:p>
            <a:pPr marL="359977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Vantagens</a:t>
            </a:r>
            <a:endParaRPr/>
          </a:p>
          <a:p>
            <a:pPr marL="719954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Consumo de energia</a:t>
            </a:r>
            <a:endParaRPr/>
          </a:p>
          <a:p>
            <a:pPr marL="719954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Velocidade de conexão</a:t>
            </a:r>
            <a:endParaRPr/>
          </a:p>
          <a:p>
            <a:pPr marL="719954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Maior número de participantes</a:t>
            </a:r>
            <a:endParaRPr/>
          </a:p>
          <a:p>
            <a:pPr marL="359977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Desvantagens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="1">
  <p:cSld name="page7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title" idx="4294967295"/>
          </p:nvPr>
        </p:nvSpPr>
        <p:spPr>
          <a:xfrm>
            <a:off x="899583" y="556884"/>
            <a:ext cx="8279478" cy="8265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indent="0" algn="l">
              <a:spcBef>
                <a:spcPts val="1417"/>
              </a:spcBef>
              <a:spcAft>
                <a:spcPts val="1417"/>
              </a:spcAft>
            </a:pPr>
            <a:r>
              <a:rPr sz="3200" b="1" u="none" cap="all">
                <a:latin typeface="Liberation Sans"/>
                <a:ea typeface="Noto Sans CJK SC"/>
                <a:cs typeface="FreeSans"/>
              </a:rPr>
              <a:t>Bluetooth Low Energy</a:t>
            </a:r>
            <a:endParaRPr/>
          </a:p>
        </p:txBody>
      </p:sp>
      <p:sp>
        <p:nvSpPr>
          <p:cNvPr id="3" name=""/>
          <p:cNvSpPr txBox="1"/>
          <p:nvPr>
            <p:ph type="body" idx="4294967295"/>
          </p:nvPr>
        </p:nvSpPr>
        <p:spPr>
          <a:xfrm>
            <a:off x="1079931" y="1313917"/>
            <a:ext cx="3779761" cy="21256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t">
            <a:spAutoFit/>
          </a:bodyPr>
          <a:lstStyle/>
          <a:p>
            <a:pPr marL="0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Pilha de protocolos</a:t>
            </a:r>
            <a:endParaRPr/>
          </a:p>
        </p:txBody>
      </p:sp>
      <p:pic>
        <p:nvPicPr>
          <p:cNvPr id="4" name=""/>
          <p:cNvPicPr/>
          <p:nvPr/>
        </p:nvPicPr>
        <p:blipFill>
          <a:blip r:embed="rId3">
            <a:alphaModFix amt="100000"/>
            <a:lum bright="0" contrast="0"/>
          </a:blip>
          <a:stretch>
            <a:fillRect/>
          </a:stretch>
        </p:blipFill>
        <p:spPr>
          <a:xfrm flipH="0" flipV="0">
            <a:off x="4766819" y="1313917"/>
            <a:ext cx="4592590" cy="3836278"/>
          </a:xfrm>
          <a:prstGeom prst="rect">
            <a:avLst/>
          </a:prstGeom>
          <a:ln>
            <a:noFill/>
          </a:ln>
          <a:effectLst/>
        </p:spPr>
      </p:pic>
      <p:sp>
        <p:nvSpPr>
          <p:cNvPr id="5" name=""/>
          <p:cNvSpPr txBox="1"/>
          <p:nvPr/>
        </p:nvSpPr>
        <p:spPr>
          <a:xfrm>
            <a:off x="4666386" y="5219671"/>
            <a:ext cx="4801017" cy="23218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89994" tIns="44997" rIns="89994" bIns="44997">
            <a:spAutoFit/>
          </a:bodyPr>
          <a:lstStyle/>
          <a:p>
            <a:r>
              <a:rPr sz="1000" strike="noStrike">
                <a:solidFill>
                  <a:srgbClr val="808080"/>
                </a:solidFill>
              </a:rPr>
              <a:t>Fonte: https://www.mathworks.com/help/bluetooth/ug/bluetooth-protocol-stack.html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="1">
  <p:cSld name="page8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title" idx="4294967295"/>
          </p:nvPr>
        </p:nvSpPr>
        <p:spPr>
          <a:xfrm>
            <a:off x="899583" y="556884"/>
            <a:ext cx="8279478" cy="8265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indent="0" algn="l">
              <a:spcBef>
                <a:spcPts val="1417"/>
              </a:spcBef>
              <a:spcAft>
                <a:spcPts val="1417"/>
              </a:spcAft>
            </a:pPr>
            <a:r>
              <a:rPr sz="3200" b="1" u="none" cap="all">
                <a:latin typeface="Liberation Sans"/>
                <a:ea typeface="Noto Sans CJK SC"/>
                <a:cs typeface="FreeSans"/>
              </a:rPr>
              <a:t>Bluetooth Low Energy</a:t>
            </a:r>
            <a:endParaRPr/>
          </a:p>
        </p:txBody>
      </p:sp>
      <p:sp>
        <p:nvSpPr>
          <p:cNvPr id="3" name=""/>
          <p:cNvSpPr txBox="1"/>
          <p:nvPr>
            <p:ph type="body" idx="4294967295"/>
          </p:nvPr>
        </p:nvSpPr>
        <p:spPr>
          <a:xfrm>
            <a:off x="1081731" y="1313917"/>
            <a:ext cx="4137939" cy="21256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t">
            <a:spAutoFit/>
          </a:bodyPr>
          <a:lstStyle/>
          <a:p>
            <a:pPr marL="0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Compatibilidade</a:t>
            </a:r>
            <a:endParaRPr/>
          </a:p>
          <a:p>
            <a:pPr marL="359977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Entre dispositivos BLE</a:t>
            </a:r>
            <a:endParaRPr/>
          </a:p>
          <a:p>
            <a:pPr marL="359977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s</a:t>
            </a:r>
            <a:r>
              <a:rPr sz="2790" i="1" u="none">
                <a:latin typeface="Liberation Sans"/>
                <a:ea typeface="Noto Sans CJK SC"/>
                <a:cs typeface="FreeSans"/>
              </a:rPr>
              <a:t>ingle mode</a:t>
            </a:r>
            <a:endParaRPr/>
          </a:p>
          <a:p>
            <a:pPr marL="359977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d</a:t>
            </a:r>
            <a:r>
              <a:rPr sz="2790" i="1" u="none">
                <a:latin typeface="Liberation Sans"/>
                <a:ea typeface="Noto Sans CJK SC"/>
                <a:cs typeface="FreeSans"/>
              </a:rPr>
              <a:t>ual mode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="1">
  <p:cSld name="page9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title" idx="4294967295"/>
          </p:nvPr>
        </p:nvSpPr>
        <p:spPr>
          <a:xfrm>
            <a:off x="899583" y="556884"/>
            <a:ext cx="8279478" cy="8265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indent="0" algn="l">
              <a:spcBef>
                <a:spcPts val="1417"/>
              </a:spcBef>
              <a:spcAft>
                <a:spcPts val="1417"/>
              </a:spcAft>
            </a:pPr>
            <a:r>
              <a:rPr sz="3200" b="1" u="none" cap="all">
                <a:latin typeface="Liberation Sans"/>
                <a:ea typeface="Noto Sans CJK SC"/>
                <a:cs typeface="FreeSans"/>
              </a:rPr>
              <a:t>Bluetooth Low Energy</a:t>
            </a:r>
            <a:endParaRPr/>
          </a:p>
        </p:txBody>
      </p:sp>
      <p:sp>
        <p:nvSpPr>
          <p:cNvPr id="3" name=""/>
          <p:cNvSpPr txBox="1"/>
          <p:nvPr>
            <p:ph type="body" idx="4294967295"/>
          </p:nvPr>
        </p:nvSpPr>
        <p:spPr>
          <a:xfrm>
            <a:off x="1099730" y="1259920"/>
            <a:ext cx="5739838" cy="5399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t">
            <a:spAutoFit/>
          </a:bodyPr>
          <a:lstStyle/>
          <a:p>
            <a:pPr marL="0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Protocolos: </a:t>
            </a:r>
            <a:r>
              <a:rPr sz="2790" i="1" u="none">
                <a:latin typeface="Liberation Sans"/>
                <a:ea typeface="Noto Sans CJK SC"/>
                <a:cs typeface="FreeSans"/>
              </a:rPr>
              <a:t>single</a:t>
            </a:r>
            <a:r>
              <a:rPr sz="2790" u="none">
                <a:latin typeface="Liberation Sans"/>
                <a:ea typeface="Noto Sans CJK SC"/>
                <a:cs typeface="FreeSans"/>
              </a:rPr>
              <a:t> vs </a:t>
            </a:r>
            <a:r>
              <a:rPr sz="2790" i="1" u="none">
                <a:latin typeface="Liberation Sans"/>
                <a:ea typeface="Noto Sans CJK SC"/>
                <a:cs typeface="FreeSans"/>
              </a:rPr>
              <a:t>dual mode</a:t>
            </a:r>
            <a:endParaRPr/>
          </a:p>
        </p:txBody>
      </p:sp>
      <p:pic>
        <p:nvPicPr>
          <p:cNvPr id="4" name=""/>
          <p:cNvPicPr/>
          <p:nvPr/>
        </p:nvPicPr>
        <p:blipFill>
          <a:blip r:embed="rId3">
            <a:alphaModFix amt="100000"/>
            <a:lum bright="0" contrast="0"/>
          </a:blip>
          <a:stretch>
            <a:fillRect/>
          </a:stretch>
        </p:blipFill>
        <p:spPr>
          <a:xfrm flipH="0" flipV="0">
            <a:off x="2339852" y="1734730"/>
            <a:ext cx="5395340" cy="3484940"/>
          </a:xfrm>
          <a:prstGeom prst="rect">
            <a:avLst/>
          </a:prstGeom>
          <a:ln>
            <a:noFill/>
          </a:ln>
          <a:effectLst/>
        </p:spPr>
      </p:pic>
      <p:sp>
        <p:nvSpPr>
          <p:cNvPr id="5" name=""/>
          <p:cNvSpPr txBox="1"/>
          <p:nvPr/>
        </p:nvSpPr>
        <p:spPr>
          <a:xfrm>
            <a:off x="2699829" y="5275467"/>
            <a:ext cx="4801017" cy="23218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89994" tIns="44997" rIns="89994" bIns="44997">
            <a:spAutoFit/>
          </a:bodyPr>
          <a:lstStyle/>
          <a:p>
            <a:r>
              <a:rPr sz="1000" strike="noStrike">
                <a:solidFill>
                  <a:srgbClr val="808080"/>
                </a:solidFill>
              </a:rPr>
              <a:t>Fonte: https://www.mathworks.com/help/bluetooth/ug/bluetooth-protocol-stack.html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="1">
  <p:cSld name="page10">
    <p:spTree>
      <p:nvGrpSpPr>
        <p:cNvPr id="1" name="no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>
            <p:ph type="title" idx="4294967295"/>
          </p:nvPr>
        </p:nvSpPr>
        <p:spPr>
          <a:xfrm>
            <a:off x="899583" y="556884"/>
            <a:ext cx="8279478" cy="82650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indent="0" algn="l">
              <a:spcBef>
                <a:spcPts val="1417"/>
              </a:spcBef>
              <a:spcAft>
                <a:spcPts val="1417"/>
              </a:spcAft>
            </a:pPr>
            <a:r>
              <a:rPr sz="3200" b="1" u="none" cap="all">
                <a:latin typeface="Liberation Sans"/>
                <a:ea typeface="Noto Sans CJK SC"/>
                <a:cs typeface="FreeSans"/>
              </a:rPr>
              <a:t>Bluetooth Low Energy</a:t>
            </a:r>
            <a:endParaRPr/>
          </a:p>
        </p:txBody>
      </p:sp>
      <p:sp>
        <p:nvSpPr>
          <p:cNvPr id="3" name=""/>
          <p:cNvSpPr txBox="1"/>
          <p:nvPr>
            <p:ph type="body" idx="4294967295"/>
          </p:nvPr>
        </p:nvSpPr>
        <p:spPr>
          <a:xfrm>
            <a:off x="1079931" y="1313917"/>
            <a:ext cx="3959750" cy="48596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t">
            <a:spAutoFit/>
          </a:bodyPr>
          <a:lstStyle/>
          <a:p>
            <a:pPr marL="0" marR="0" lvl="0" indent="215986" algn="l">
              <a:spcBef>
                <a:spcPts val="1417"/>
              </a:spcBef>
              <a:spcAft>
                <a:spcPts val="1417"/>
              </a:spcAft>
              <a:buSzPct val="45000"/>
              <a:buFont typeface="StarSymbol"/>
              <a:buChar char="●"/>
            </a:pPr>
            <a:r>
              <a:rPr sz="2790" u="none">
                <a:latin typeface="Liberation Sans"/>
                <a:ea typeface="Noto Sans CJK SC"/>
                <a:cs typeface="FreeSans"/>
              </a:rPr>
              <a:t>Dinâmica de conexão</a:t>
            </a:r>
            <a:endParaRPr/>
          </a:p>
        </p:txBody>
      </p:sp>
      <p:pic>
        <p:nvPicPr>
          <p:cNvPr id="4" name=""/>
          <p:cNvPicPr/>
          <p:nvPr/>
        </p:nvPicPr>
        <p:blipFill>
          <a:blip r:embed="rId3">
            <a:alphaModFix amt="100000"/>
            <a:lum bright="0" contrast="0"/>
          </a:blip>
          <a:stretch>
            <a:fillRect/>
          </a:stretch>
        </p:blipFill>
        <p:spPr>
          <a:xfrm flipH="0" flipV="0">
            <a:off x="5399659" y="1656975"/>
            <a:ext cx="3599773" cy="3382706"/>
          </a:xfrm>
          <a:prstGeom prst="rect">
            <a:avLst/>
          </a:prstGeom>
          <a:ln>
            <a:noFill/>
          </a:ln>
          <a:effectLst/>
        </p:spPr>
      </p:pic>
      <p:sp>
        <p:nvSpPr>
          <p:cNvPr id="5" name=""/>
          <p:cNvSpPr txBox="1"/>
          <p:nvPr/>
        </p:nvSpPr>
        <p:spPr>
          <a:xfrm>
            <a:off x="3695527" y="5014844"/>
            <a:ext cx="5663883" cy="204827"/>
          </a:xfrm>
          <a:prstGeom prst="rect">
            <a:avLst/>
          </a:prstGeom>
          <a:noFill/>
          <a:ln>
            <a:noFill/>
          </a:ln>
          <a:effectLst/>
        </p:spPr>
        <p:txBody>
          <a:bodyPr lIns="89994" tIns="44997" rIns="89994" bIns="44997">
            <a:spAutoFit/>
          </a:bodyPr>
          <a:lstStyle/>
          <a:p>
            <a:r>
              <a:rPr sz="800" strike="noStrike">
                <a:solidFill>
                  <a:srgbClr val="808080"/>
                </a:solidFill>
              </a:rPr>
              <a:t>Fonte: https://software-dl.ti.com/lprf/simplelink_cc2640r2_latest/docs/blestack/ble_user_guide/html/ble-stack-3.x/gap.html</a:t>
            </a:r>
            <a:endParaRPr sz="1000"/>
          </a:p>
        </p:txBody>
      </p:sp>
      <p:pic>
        <p:nvPicPr>
          <p:cNvPr id="6" name=""/>
          <p:cNvPicPr/>
          <p:nvPr/>
        </p:nvPicPr>
        <p:blipFill>
          <a:blip r:embed="rId4">
            <a:alphaModFix amt="100000"/>
            <a:lum bright="0" contrast="0"/>
          </a:blip>
          <a:stretch>
            <a:fillRect/>
          </a:stretch>
        </p:blipFill>
        <p:spPr>
          <a:xfrm flipH="0" flipV="0">
            <a:off x="1619897" y="1979875"/>
            <a:ext cx="2852460" cy="2918336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"/>
          <p:cNvSpPr txBox="1"/>
          <p:nvPr/>
        </p:nvSpPr>
        <p:spPr>
          <a:xfrm rot="16199999">
            <a:off x="2940114" y="3179499"/>
            <a:ext cx="3324030" cy="204827"/>
          </a:xfrm>
          <a:prstGeom prst="rect">
            <a:avLst/>
          </a:prstGeom>
          <a:noFill/>
          <a:ln>
            <a:noFill/>
          </a:ln>
          <a:effectLst/>
        </p:spPr>
        <p:txBody>
          <a:bodyPr lIns="89994" tIns="44997" rIns="89994" bIns="44997">
            <a:spAutoFit/>
          </a:bodyPr>
          <a:lstStyle/>
          <a:p>
            <a:r>
              <a:rPr sz="800" strike="noStrike">
                <a:solidFill>
                  <a:srgbClr val="808080"/>
                </a:solidFill>
              </a:rPr>
              <a:t>Fonte: https://novelbits.io/introduction-to-bluetooth-low-energy-book/</a:t>
            </a:r>
            <a:endParaRPr sz="1000"/>
          </a:p>
        </p:txBody>
      </p:sp>
    </p:spTree>
  </p:cSld>
  <p:clrMapOvr>
    <a:masterClrMapping/>
  </p:clrMapOvr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Default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User Theme: 2">
  <a:themeElements>
    <a:clrScheme name="User Theme: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ser Theme: 2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User Theme: 2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ONLYOFFICE/8.3.2.19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</cp:coreProperties>
</file>