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9" r:id="rId4"/>
    <p:sldId id="266" r:id="rId5"/>
    <p:sldId id="260" r:id="rId6"/>
    <p:sldId id="267" r:id="rId7"/>
    <p:sldId id="264" r:id="rId8"/>
    <p:sldId id="270" r:id="rId9"/>
    <p:sldId id="271" r:id="rId10"/>
    <p:sldId id="273" r:id="rId11"/>
    <p:sldId id="274" r:id="rId12"/>
    <p:sldId id="272" r:id="rId13"/>
    <p:sldId id="275" r:id="rId14"/>
    <p:sldId id="261" r:id="rId15"/>
    <p:sldId id="277" r:id="rId16"/>
    <p:sldId id="276" r:id="rId17"/>
    <p:sldId id="280" r:id="rId18"/>
    <p:sldId id="281" r:id="rId19"/>
    <p:sldId id="278" r:id="rId2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ECEC"/>
    <a:srgbClr val="DDDDD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>
        <p:scale>
          <a:sx n="100" d="100"/>
          <a:sy n="100" d="100"/>
        </p:scale>
        <p:origin x="270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0413CA-5783-AF02-F8A0-98D8BAB56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ECD9E1D-5B44-15E9-9383-2A0B611C9B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98E5556-FD8D-8B4E-D124-537119EFD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55988-0721-4BA0-80EF-3E99D62DE5AA}" type="datetimeFigureOut">
              <a:rPr lang="pt-BR" smtClean="0"/>
              <a:t>23/04/2025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D20E5ED-8F5A-B04D-8E52-D3380062C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2D869CE-CD78-25F1-DF1C-66ACFAF38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8EBBB-3A21-4E7B-A47C-0A40EFC0E9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1736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5CAAEA-17A7-3A10-81B3-026273341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33598BC-161C-1825-CEDB-1BF17B6992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3B335E-5BE3-2353-20F2-FEBE93AD1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55988-0721-4BA0-80EF-3E99D62DE5AA}" type="datetimeFigureOut">
              <a:rPr lang="pt-BR" smtClean="0"/>
              <a:t>23/04/2025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5BB25A-C3AF-DE48-E783-54C1CDDE9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AB72F61-5A4A-F562-ED12-541843AAB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8EBBB-3A21-4E7B-A47C-0A40EFC0E9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85896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3EEDEE-4CF7-0909-ADB5-314C0929B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BE4EF90-C045-1CF4-4A9F-0F9BDDC132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D2B3FB5-64D4-D674-4179-284624091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55988-0721-4BA0-80EF-3E99D62DE5AA}" type="datetimeFigureOut">
              <a:rPr lang="pt-BR" smtClean="0"/>
              <a:t>23/04/2025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C3067B2-3678-0AFF-687E-B1A92AC48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73AFF8A-EE5F-1233-161E-7D12BB01E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8EBBB-3A21-4E7B-A47C-0A40EFC0E9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5656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CAD593-0819-2A2E-500E-1D54B1821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83FFFF1-1095-BDAB-E8C9-F6BAF01B4C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7126A3D-AA35-6145-FF9E-82D5CD9454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159A557-9B44-8F69-E719-442F2935D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55988-0721-4BA0-80EF-3E99D62DE5AA}" type="datetimeFigureOut">
              <a:rPr lang="pt-BR" smtClean="0"/>
              <a:t>23/04/2025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4C5CC19-D09C-5BAC-17C7-8149EAF6C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6B47F65-DBBE-6A75-41F8-FF941FAA1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8EBBB-3A21-4E7B-A47C-0A40EFC0E9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99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6A649A-A69C-0CBD-AE8F-CCD3C93DC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127268B-7D15-EB27-F164-D9AC860A8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ECD88EA-4A68-90EA-A49A-F00B581495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D2F04DD-CFD2-3AA9-E424-51DF99BFBD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BB680BB-C868-1DA1-34C2-04EBA3019F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79F0B3D-E9C8-5C18-88CC-5D2643879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55988-0721-4BA0-80EF-3E99D62DE5AA}" type="datetimeFigureOut">
              <a:rPr lang="pt-BR" smtClean="0"/>
              <a:t>23/04/2025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6380FA7F-97AB-A59A-DD68-86084E6FE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66AECC9D-B83E-D056-EB5D-D9D610B0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8EBBB-3A21-4E7B-A47C-0A40EFC0E9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6136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689AD2-5EEC-AF3E-B7E1-83D2A30F6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044486-5520-A33F-121A-B4B73F4B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55988-0721-4BA0-80EF-3E99D62DE5AA}" type="datetimeFigureOut">
              <a:rPr lang="pt-BR" smtClean="0"/>
              <a:t>23/04/2025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A769110-33D9-5F95-7D46-876AB9966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3DD710D7-AE47-ADB8-F869-1FB052E77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8EBBB-3A21-4E7B-A47C-0A40EFC0E9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36725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871C06F-3809-941E-E1BA-CCD3A36D0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55988-0721-4BA0-80EF-3E99D62DE5AA}" type="datetimeFigureOut">
              <a:rPr lang="pt-BR" smtClean="0"/>
              <a:t>23/04/2025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C1BA6C6-AC12-5173-B074-9F9BCE648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54CCA71-9F20-B872-1058-075119A60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8EBBB-3A21-4E7B-A47C-0A40EFC0E9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8029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A7B6EB-22EC-CB73-3651-36A57191E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75787CA-31C7-1D54-7723-4157A9A07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9DBC3E4-BF95-F644-00A7-86D6F136E8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BA37966-5F56-C8BF-EBBA-C87B42146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55988-0721-4BA0-80EF-3E99D62DE5AA}" type="datetimeFigureOut">
              <a:rPr lang="pt-BR" smtClean="0"/>
              <a:t>23/04/2025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ADE6508-C122-DE81-6276-7ED40F413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9C7938F-5FE3-D954-9435-16C6D26CB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8EBBB-3A21-4E7B-A47C-0A40EFC0E9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9012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80FF6F-4660-C920-4398-2F8B101F0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7F3107C2-A1C2-A600-5C75-E5A8E339F4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615E0BB-1005-CC8E-21CD-5B9A0A7430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2ED3A32-C67C-2ADA-D7A2-088A834EF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55988-0721-4BA0-80EF-3E99D62DE5AA}" type="datetimeFigureOut">
              <a:rPr lang="pt-BR" smtClean="0"/>
              <a:t>23/04/2025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D6B70D3-A772-BF8B-C9F9-D4769EB48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5C3F057-CD2A-CAFA-4A64-2244C58BF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8EBBB-3A21-4E7B-A47C-0A40EFC0E9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251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BA7278-8953-4954-E869-E590735EF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2F9E779-4C28-FDCA-CFDE-C9EDEBFA49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F3348E9-097A-A3A5-46C3-81814DEFF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55988-0721-4BA0-80EF-3E99D62DE5AA}" type="datetimeFigureOut">
              <a:rPr lang="pt-BR" smtClean="0"/>
              <a:t>23/04/2025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8739F6-B3AB-FC85-1EA7-4CEE2EFD4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72AAC3F-40F1-E118-8F06-8A01E9951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8EBBB-3A21-4E7B-A47C-0A40EFC0E9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55665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B6E85DF-2A0E-1242-6EC7-75D623B84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1A61DFA-830C-36B6-FFAE-AFA7174483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7218A16-DC83-1BC4-F311-B9F02B63D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55988-0721-4BA0-80EF-3E99D62DE5AA}" type="datetimeFigureOut">
              <a:rPr lang="pt-BR" smtClean="0"/>
              <a:t>23/04/2025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A293FFB-3F58-FFD5-6454-6F33C6093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9C6325-8CB5-9DFB-11A4-A38BE018A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8EBBB-3A21-4E7B-A47C-0A40EFC0E9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4253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9A660CB-41C8-1B16-71A7-6FD8ECBC8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5BC6E1B-5335-FA31-1214-586603ED28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23B3F1D-6492-FA1A-5233-D3F3EDD04B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855988-0721-4BA0-80EF-3E99D62DE5AA}" type="datetimeFigureOut">
              <a:rPr lang="pt-BR" smtClean="0"/>
              <a:t>23/04/2025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4CBE32F-5624-46D9-6E27-76C581F276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C7CF955-9AEE-2935-36D9-FD35EC9315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B8EBBB-3A21-4E7B-A47C-0A40EFC0E9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3907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png"/><Relationship Id="rId18" Type="http://schemas.openxmlformats.org/officeDocument/2006/relationships/image" Target="../media/image31.sv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svg"/><Relationship Id="rId17" Type="http://schemas.openxmlformats.org/officeDocument/2006/relationships/image" Target="../media/image30.png"/><Relationship Id="rId2" Type="http://schemas.openxmlformats.org/officeDocument/2006/relationships/image" Target="../media/image1.png"/><Relationship Id="rId16" Type="http://schemas.openxmlformats.org/officeDocument/2006/relationships/image" Target="../media/image29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png"/><Relationship Id="rId14" Type="http://schemas.openxmlformats.org/officeDocument/2006/relationships/image" Target="../media/image2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svg"/><Relationship Id="rId5" Type="http://schemas.openxmlformats.org/officeDocument/2006/relationships/image" Target="../media/image46.png"/><Relationship Id="rId4" Type="http://schemas.openxmlformats.org/officeDocument/2006/relationships/image" Target="../media/image9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0.png"/><Relationship Id="rId4" Type="http://schemas.openxmlformats.org/officeDocument/2006/relationships/image" Target="../media/image49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sv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svg"/><Relationship Id="rId5" Type="http://schemas.openxmlformats.org/officeDocument/2006/relationships/image" Target="../media/image53.png"/><Relationship Id="rId4" Type="http://schemas.openxmlformats.org/officeDocument/2006/relationships/image" Target="../media/image52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svg"/><Relationship Id="rId5" Type="http://schemas.openxmlformats.org/officeDocument/2006/relationships/image" Target="../media/image59.png"/><Relationship Id="rId10" Type="http://schemas.openxmlformats.org/officeDocument/2006/relationships/image" Target="../media/image64.svg"/><Relationship Id="rId4" Type="http://schemas.openxmlformats.org/officeDocument/2006/relationships/image" Target="../media/image58.svg"/><Relationship Id="rId9" Type="http://schemas.openxmlformats.org/officeDocument/2006/relationships/image" Target="../media/image6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13" Type="http://schemas.openxmlformats.org/officeDocument/2006/relationships/image" Target="../media/image73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12" Type="http://schemas.openxmlformats.org/officeDocument/2006/relationships/image" Target="../media/image49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svg"/><Relationship Id="rId11" Type="http://schemas.openxmlformats.org/officeDocument/2006/relationships/image" Target="../media/image48.png"/><Relationship Id="rId5" Type="http://schemas.openxmlformats.org/officeDocument/2006/relationships/image" Target="../media/image67.png"/><Relationship Id="rId10" Type="http://schemas.openxmlformats.org/officeDocument/2006/relationships/image" Target="../media/image72.svg"/><Relationship Id="rId4" Type="http://schemas.openxmlformats.org/officeDocument/2006/relationships/image" Target="../media/image66.svg"/><Relationship Id="rId9" Type="http://schemas.openxmlformats.org/officeDocument/2006/relationships/image" Target="../media/image71.png"/><Relationship Id="rId14" Type="http://schemas.openxmlformats.org/officeDocument/2006/relationships/image" Target="../media/image74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ítulo 2">
            <a:extLst>
              <a:ext uri="{FF2B5EF4-FFF2-40B4-BE49-F238E27FC236}">
                <a16:creationId xmlns:a16="http://schemas.microsoft.com/office/drawing/2014/main" id="{020AF74C-45AD-8EAD-69E3-4DB263F34BBF}"/>
              </a:ext>
            </a:extLst>
          </p:cNvPr>
          <p:cNvSpPr txBox="1">
            <a:spLocks/>
          </p:cNvSpPr>
          <p:nvPr/>
        </p:nvSpPr>
        <p:spPr>
          <a:xfrm>
            <a:off x="1225124" y="1579087"/>
            <a:ext cx="9741751" cy="36574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BR" sz="3200" b="1" dirty="0">
                <a:solidFill>
                  <a:schemeClr val="bg1"/>
                </a:solidFill>
              </a:rPr>
              <a:t>Pesquisadores</a:t>
            </a:r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B086A2BE-AC84-1C07-0A46-EC011163C0FA}"/>
              </a:ext>
            </a:extLst>
          </p:cNvPr>
          <p:cNvGrpSpPr/>
          <p:nvPr/>
        </p:nvGrpSpPr>
        <p:grpSpPr>
          <a:xfrm>
            <a:off x="8476017" y="2480354"/>
            <a:ext cx="2089200" cy="2605065"/>
            <a:chOff x="8476017" y="2480354"/>
            <a:chExt cx="2089200" cy="2605065"/>
          </a:xfrm>
        </p:grpSpPr>
        <p:sp>
          <p:nvSpPr>
            <p:cNvPr id="7" name="Google Shape;148;p3">
              <a:extLst>
                <a:ext uri="{FF2B5EF4-FFF2-40B4-BE49-F238E27FC236}">
                  <a16:creationId xmlns:a16="http://schemas.microsoft.com/office/drawing/2014/main" id="{338E4823-B2D7-A7BB-3F4F-930A29D55D09}"/>
                </a:ext>
              </a:extLst>
            </p:cNvPr>
            <p:cNvSpPr txBox="1"/>
            <p:nvPr/>
          </p:nvSpPr>
          <p:spPr>
            <a:xfrm>
              <a:off x="8476020" y="4713405"/>
              <a:ext cx="2089197" cy="372014"/>
            </a:xfrm>
            <a:prstGeom prst="rect">
              <a:avLst/>
            </a:prstGeom>
            <a:noFill/>
            <a:ln>
              <a:noFill/>
            </a:ln>
            <a:effectLst>
              <a:outerShdw blurRad="38100" dist="38100" dir="2700000" sx="101000" sy="101000" algn="ctr" rotWithShape="0">
                <a:srgbClr val="000000">
                  <a:alpha val="69411"/>
                </a:srgbClr>
              </a:outerShdw>
            </a:effectLst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Arial Black"/>
                <a:buNone/>
              </a:pPr>
              <a:r>
                <a:rPr lang="pt-BR" sz="2000" b="1" i="0" u="none" strike="noStrike" cap="none" dirty="0">
                  <a:solidFill>
                    <a:schemeClr val="lt1"/>
                  </a:solidFill>
                  <a:latin typeface="Century Gothic" panose="020B0502020202020204" pitchFamily="34" charset="0"/>
                  <a:ea typeface="Arial Black"/>
                  <a:cs typeface="Arial Black"/>
                  <a:sym typeface="Arial Black"/>
                </a:rPr>
                <a:t>Vanderson</a:t>
              </a:r>
              <a:endParaRPr sz="1600" b="0" i="0" u="none" strike="noStrike" cap="none" dirty="0">
                <a:solidFill>
                  <a:schemeClr val="lt1"/>
                </a:solidFill>
                <a:latin typeface="Century Gothic" panose="020B0502020202020204" pitchFamily="34" charset="0"/>
                <a:ea typeface="Arial Black"/>
                <a:cs typeface="Arial Black"/>
                <a:sym typeface="Arial Black"/>
              </a:endParaRPr>
            </a:p>
          </p:txBody>
        </p:sp>
        <p:pic>
          <p:nvPicPr>
            <p:cNvPr id="8" name="Google Shape;149;p3">
              <a:extLst>
                <a:ext uri="{FF2B5EF4-FFF2-40B4-BE49-F238E27FC236}">
                  <a16:creationId xmlns:a16="http://schemas.microsoft.com/office/drawing/2014/main" id="{7CE6FB70-42D5-F3A6-08B7-627F65681520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 l="47342" t="28779" r="15709" b="21982"/>
            <a:stretch/>
          </p:blipFill>
          <p:spPr>
            <a:xfrm>
              <a:off x="8476017" y="2480354"/>
              <a:ext cx="2089196" cy="2089196"/>
            </a:xfrm>
            <a:prstGeom prst="ellipse">
              <a:avLst/>
            </a:prstGeom>
            <a:solidFill>
              <a:srgbClr val="008B96"/>
            </a:solidFill>
            <a:ln w="63500" cap="rnd" cmpd="sng">
              <a:solidFill>
                <a:srgbClr val="008B9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81000" dist="292100" dir="5400000" sx="-80000" sy="-18000" rotWithShape="0">
                <a:srgbClr val="000000">
                  <a:alpha val="21176"/>
                </a:srgbClr>
              </a:outerShdw>
            </a:effectLst>
          </p:spPr>
        </p:pic>
      </p:grpSp>
      <p:grpSp>
        <p:nvGrpSpPr>
          <p:cNvPr id="3" name="Agrupar 2">
            <a:extLst>
              <a:ext uri="{FF2B5EF4-FFF2-40B4-BE49-F238E27FC236}">
                <a16:creationId xmlns:a16="http://schemas.microsoft.com/office/drawing/2014/main" id="{E5439B00-4488-D2E6-5201-0698FD9CCFC7}"/>
              </a:ext>
            </a:extLst>
          </p:cNvPr>
          <p:cNvGrpSpPr/>
          <p:nvPr/>
        </p:nvGrpSpPr>
        <p:grpSpPr>
          <a:xfrm>
            <a:off x="5037114" y="2480354"/>
            <a:ext cx="2103484" cy="2605065"/>
            <a:chOff x="5037114" y="2480354"/>
            <a:chExt cx="2103484" cy="2605065"/>
          </a:xfrm>
        </p:grpSpPr>
        <p:pic>
          <p:nvPicPr>
            <p:cNvPr id="11" name="Google Shape;149;p3">
              <a:extLst>
                <a:ext uri="{FF2B5EF4-FFF2-40B4-BE49-F238E27FC236}">
                  <a16:creationId xmlns:a16="http://schemas.microsoft.com/office/drawing/2014/main" id="{24770465-EE84-0840-E928-1C968BA8C40E}"/>
                </a:ext>
              </a:extLst>
            </p:cNvPr>
            <p:cNvPicPr preferRelativeResize="0"/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84" t="6039" r="15884" b="31457"/>
            <a:stretch/>
          </p:blipFill>
          <p:spPr>
            <a:xfrm>
              <a:off x="5051403" y="2480354"/>
              <a:ext cx="2089195" cy="2089197"/>
            </a:xfrm>
            <a:prstGeom prst="ellipse">
              <a:avLst/>
            </a:prstGeom>
            <a:noFill/>
            <a:ln w="63500" cap="rnd" cmpd="sng">
              <a:solidFill>
                <a:srgbClr val="008B9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81000" dist="292100" dir="5400000" sx="-80000" sy="-18000" rotWithShape="0">
                <a:srgbClr val="000000">
                  <a:alpha val="21176"/>
                </a:srgbClr>
              </a:outerShdw>
            </a:effectLst>
          </p:spPr>
        </p:pic>
        <p:sp>
          <p:nvSpPr>
            <p:cNvPr id="10" name="Google Shape;148;p3">
              <a:extLst>
                <a:ext uri="{FF2B5EF4-FFF2-40B4-BE49-F238E27FC236}">
                  <a16:creationId xmlns:a16="http://schemas.microsoft.com/office/drawing/2014/main" id="{F0F90DF4-9CE8-D994-C6E8-6AAD9FFFF71B}"/>
                </a:ext>
              </a:extLst>
            </p:cNvPr>
            <p:cNvSpPr txBox="1"/>
            <p:nvPr/>
          </p:nvSpPr>
          <p:spPr>
            <a:xfrm>
              <a:off x="5037114" y="4713405"/>
              <a:ext cx="2089197" cy="372014"/>
            </a:xfrm>
            <a:prstGeom prst="rect">
              <a:avLst/>
            </a:prstGeom>
            <a:noFill/>
            <a:ln>
              <a:noFill/>
            </a:ln>
            <a:effectLst>
              <a:outerShdw blurRad="38100" dist="38100" dir="2700000" sx="101000" sy="101000" algn="ctr" rotWithShape="0">
                <a:srgbClr val="000000">
                  <a:alpha val="69411"/>
                </a:srgbClr>
              </a:outerShdw>
            </a:effectLst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Arial Black"/>
                <a:buNone/>
              </a:pPr>
              <a:r>
                <a:rPr lang="pt-BR" sz="2000" b="1" i="0" u="none" strike="noStrike" cap="none" dirty="0">
                  <a:solidFill>
                    <a:schemeClr val="lt1"/>
                  </a:solidFill>
                  <a:latin typeface="Century Gothic" panose="020B0502020202020204" pitchFamily="34" charset="0"/>
                  <a:ea typeface="Arial Black"/>
                  <a:cs typeface="Arial Black"/>
                  <a:sym typeface="Arial Black"/>
                </a:rPr>
                <a:t>Thiago</a:t>
              </a:r>
              <a:endParaRPr sz="1600" b="0" i="0" u="none" strike="noStrike" cap="none" dirty="0">
                <a:solidFill>
                  <a:schemeClr val="lt1"/>
                </a:solidFill>
                <a:latin typeface="Century Gothic" panose="020B0502020202020204" pitchFamily="34" charset="0"/>
                <a:ea typeface="Arial Black"/>
                <a:cs typeface="Arial Black"/>
                <a:sym typeface="Arial Black"/>
              </a:endParaRPr>
            </a:p>
          </p:txBody>
        </p:sp>
      </p:grp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925FD879-998B-F0D2-595E-A7B899E18E55}"/>
              </a:ext>
            </a:extLst>
          </p:cNvPr>
          <p:cNvGrpSpPr/>
          <p:nvPr/>
        </p:nvGrpSpPr>
        <p:grpSpPr>
          <a:xfrm>
            <a:off x="1612493" y="2480354"/>
            <a:ext cx="2089203" cy="2605065"/>
            <a:chOff x="1612493" y="2480354"/>
            <a:chExt cx="2089203" cy="2605065"/>
          </a:xfrm>
        </p:grpSpPr>
        <p:sp>
          <p:nvSpPr>
            <p:cNvPr id="20" name="Google Shape;148;p3">
              <a:extLst>
                <a:ext uri="{FF2B5EF4-FFF2-40B4-BE49-F238E27FC236}">
                  <a16:creationId xmlns:a16="http://schemas.microsoft.com/office/drawing/2014/main" id="{65922340-0B60-2975-45D7-D22C6CE02583}"/>
                </a:ext>
              </a:extLst>
            </p:cNvPr>
            <p:cNvSpPr txBox="1"/>
            <p:nvPr/>
          </p:nvSpPr>
          <p:spPr>
            <a:xfrm>
              <a:off x="1612499" y="4713405"/>
              <a:ext cx="2089197" cy="372014"/>
            </a:xfrm>
            <a:prstGeom prst="rect">
              <a:avLst/>
            </a:prstGeom>
            <a:noFill/>
            <a:ln>
              <a:noFill/>
            </a:ln>
            <a:effectLst>
              <a:outerShdw blurRad="38100" dist="38100" dir="2700000" sx="101000" sy="101000" algn="ctr" rotWithShape="0">
                <a:srgbClr val="000000">
                  <a:alpha val="69411"/>
                </a:srgbClr>
              </a:outerShdw>
            </a:effectLst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Arial Black"/>
                <a:buNone/>
              </a:pPr>
              <a:r>
                <a:rPr lang="pt-BR" sz="2000" b="1" i="0" u="none" strike="noStrike" cap="none" dirty="0">
                  <a:solidFill>
                    <a:schemeClr val="lt1"/>
                  </a:solidFill>
                  <a:latin typeface="Century Gothic" panose="020B0502020202020204" pitchFamily="34" charset="0"/>
                  <a:ea typeface="Arial Black"/>
                  <a:cs typeface="Arial Black"/>
                  <a:sym typeface="Arial Black"/>
                </a:rPr>
                <a:t>Kleiton</a:t>
              </a:r>
              <a:endParaRPr sz="1600" b="0" i="0" u="none" strike="noStrike" cap="none" dirty="0">
                <a:solidFill>
                  <a:schemeClr val="lt1"/>
                </a:solidFill>
                <a:latin typeface="Century Gothic" panose="020B0502020202020204" pitchFamily="34" charset="0"/>
                <a:ea typeface="Arial Black"/>
                <a:cs typeface="Arial Black"/>
                <a:sym typeface="Arial Black"/>
              </a:endParaRPr>
            </a:p>
          </p:txBody>
        </p:sp>
        <p:pic>
          <p:nvPicPr>
            <p:cNvPr id="21" name="Google Shape;149;p3">
              <a:extLst>
                <a:ext uri="{FF2B5EF4-FFF2-40B4-BE49-F238E27FC236}">
                  <a16:creationId xmlns:a16="http://schemas.microsoft.com/office/drawing/2014/main" id="{562A06F6-1348-100F-6581-8705CC091AF7}"/>
                </a:ext>
              </a:extLst>
            </p:cNvPr>
            <p:cNvPicPr preferRelativeResize="0"/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488" t="-976" r="1154" b="37707"/>
            <a:stretch/>
          </p:blipFill>
          <p:spPr>
            <a:xfrm>
              <a:off x="1612493" y="2480354"/>
              <a:ext cx="2089196" cy="2089196"/>
            </a:xfrm>
            <a:prstGeom prst="ellipse">
              <a:avLst/>
            </a:prstGeom>
            <a:noFill/>
            <a:ln w="63500" cap="rnd" cmpd="sng">
              <a:solidFill>
                <a:srgbClr val="008B96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81000" dist="292100" dir="5400000" sx="-80000" sy="-18000" rotWithShape="0">
                <a:srgbClr val="000000">
                  <a:alpha val="21176"/>
                </a:srgbClr>
              </a:outerShdw>
            </a:effectLst>
          </p:spPr>
        </p:pic>
      </p:grpSp>
      <p:cxnSp>
        <p:nvCxnSpPr>
          <p:cNvPr id="4" name="Google Shape;140;p3">
            <a:extLst>
              <a:ext uri="{FF2B5EF4-FFF2-40B4-BE49-F238E27FC236}">
                <a16:creationId xmlns:a16="http://schemas.microsoft.com/office/drawing/2014/main" id="{39678F11-C910-89E4-7A5D-A3B1D0E4A631}"/>
              </a:ext>
            </a:extLst>
          </p:cNvPr>
          <p:cNvCxnSpPr>
            <a:cxnSpLocks/>
          </p:cNvCxnSpPr>
          <p:nvPr/>
        </p:nvCxnSpPr>
        <p:spPr>
          <a:xfrm>
            <a:off x="1225124" y="2065867"/>
            <a:ext cx="974175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928679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16247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30000" r="-14000" b="-3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7BC126-5A74-BA17-4FED-F269CC23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EAEA4276-2306-4169-5851-CB74CE67BD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5124" y="1159987"/>
            <a:ext cx="9741600" cy="365748"/>
          </a:xfrm>
        </p:spPr>
        <p:txBody>
          <a:bodyPr>
            <a:noAutofit/>
          </a:bodyPr>
          <a:lstStyle/>
          <a:p>
            <a:pPr algn="l"/>
            <a:r>
              <a:rPr lang="pt-BR" sz="3200" b="1" dirty="0">
                <a:solidFill>
                  <a:schemeClr val="bg1"/>
                </a:solidFill>
              </a:rPr>
              <a:t>HISTÓRIA </a:t>
            </a:r>
          </a:p>
        </p:txBody>
      </p:sp>
      <p:cxnSp>
        <p:nvCxnSpPr>
          <p:cNvPr id="4" name="Google Shape;140;p3">
            <a:extLst>
              <a:ext uri="{FF2B5EF4-FFF2-40B4-BE49-F238E27FC236}">
                <a16:creationId xmlns:a16="http://schemas.microsoft.com/office/drawing/2014/main" id="{22E3870E-5FF1-B4AB-4710-0145796283F5}"/>
              </a:ext>
            </a:extLst>
          </p:cNvPr>
          <p:cNvCxnSpPr>
            <a:cxnSpLocks/>
          </p:cNvCxnSpPr>
          <p:nvPr/>
        </p:nvCxnSpPr>
        <p:spPr>
          <a:xfrm>
            <a:off x="1206074" y="1675343"/>
            <a:ext cx="974175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7" name="Imagem 16">
            <a:extLst>
              <a:ext uri="{FF2B5EF4-FFF2-40B4-BE49-F238E27FC236}">
                <a16:creationId xmlns:a16="http://schemas.microsoft.com/office/drawing/2014/main" id="{611FEF83-6228-1787-5157-6AD5AC366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5640" y="2259997"/>
            <a:ext cx="5677421" cy="321527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8" name="Subtítulo 2">
            <a:extLst>
              <a:ext uri="{FF2B5EF4-FFF2-40B4-BE49-F238E27FC236}">
                <a16:creationId xmlns:a16="http://schemas.microsoft.com/office/drawing/2014/main" id="{3AD3170B-EF9A-A004-72D9-B5C0FF72C17B}"/>
              </a:ext>
            </a:extLst>
          </p:cNvPr>
          <p:cNvSpPr txBox="1">
            <a:spLocks/>
          </p:cNvSpPr>
          <p:nvPr/>
        </p:nvSpPr>
        <p:spPr>
          <a:xfrm>
            <a:off x="1225124" y="2077123"/>
            <a:ext cx="3842175" cy="17328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BR" sz="2800" b="1" dirty="0">
                <a:solidFill>
                  <a:schemeClr val="bg1"/>
                </a:solidFill>
              </a:rPr>
              <a:t>Bluetooth recebeu o nome do rei viking </a:t>
            </a:r>
            <a:r>
              <a:rPr lang="pt-BR" sz="2800" b="1" u="sng" dirty="0">
                <a:solidFill>
                  <a:schemeClr val="bg1"/>
                </a:solidFill>
              </a:rPr>
              <a:t>H</a:t>
            </a:r>
            <a:r>
              <a:rPr lang="pt-BR" sz="2800" b="1" dirty="0">
                <a:solidFill>
                  <a:schemeClr val="bg1"/>
                </a:solidFill>
              </a:rPr>
              <a:t>arald "</a:t>
            </a:r>
            <a:r>
              <a:rPr lang="pt-BR" sz="2800" b="1" u="sng" dirty="0">
                <a:solidFill>
                  <a:schemeClr val="bg1"/>
                </a:solidFill>
              </a:rPr>
              <a:t>B</a:t>
            </a:r>
            <a:r>
              <a:rPr lang="pt-BR" sz="2800" b="1" dirty="0">
                <a:solidFill>
                  <a:schemeClr val="bg1"/>
                </a:solidFill>
              </a:rPr>
              <a:t>luetooth" </a:t>
            </a:r>
            <a:r>
              <a:rPr lang="pt-BR" sz="2800" b="1" dirty="0" err="1">
                <a:solidFill>
                  <a:schemeClr val="bg1"/>
                </a:solidFill>
              </a:rPr>
              <a:t>Gorms</a:t>
            </a:r>
            <a:endParaRPr lang="pt-BR" sz="2800" b="1" dirty="0">
              <a:solidFill>
                <a:schemeClr val="bg1"/>
              </a:solidFill>
            </a:endParaRPr>
          </a:p>
        </p:txBody>
      </p:sp>
      <p:sp>
        <p:nvSpPr>
          <p:cNvPr id="22" name="Subtítulo 2">
            <a:extLst>
              <a:ext uri="{FF2B5EF4-FFF2-40B4-BE49-F238E27FC236}">
                <a16:creationId xmlns:a16="http://schemas.microsoft.com/office/drawing/2014/main" id="{0982911B-310E-A1F5-C391-FF541160630F}"/>
              </a:ext>
            </a:extLst>
          </p:cNvPr>
          <p:cNvSpPr txBox="1">
            <a:spLocks/>
          </p:cNvSpPr>
          <p:nvPr/>
        </p:nvSpPr>
        <p:spPr>
          <a:xfrm>
            <a:off x="1225124" y="3867634"/>
            <a:ext cx="3842175" cy="17328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BR" sz="2800" b="1" dirty="0">
                <a:solidFill>
                  <a:schemeClr val="bg1"/>
                </a:solidFill>
              </a:rPr>
              <a:t>Surgiu em 1994. inicialmente para substituir cabos RS-232.</a:t>
            </a:r>
          </a:p>
          <a:p>
            <a:pPr algn="l"/>
            <a:endParaRPr lang="pt-BR" sz="2800" b="1" dirty="0">
              <a:solidFill>
                <a:schemeClr val="bg1"/>
              </a:solidFill>
            </a:endParaRPr>
          </a:p>
          <a:p>
            <a:pPr algn="l"/>
            <a:endParaRPr lang="pt-BR" sz="28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52643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30000" r="-14000" b="-3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921BEF-8691-6418-0162-F8CA025A0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aixaDeTexto 81">
            <a:extLst>
              <a:ext uri="{FF2B5EF4-FFF2-40B4-BE49-F238E27FC236}">
                <a16:creationId xmlns:a16="http://schemas.microsoft.com/office/drawing/2014/main" id="{329D0100-122C-93A4-2808-778E3E56466F}"/>
              </a:ext>
            </a:extLst>
          </p:cNvPr>
          <p:cNvSpPr txBox="1"/>
          <p:nvPr/>
        </p:nvSpPr>
        <p:spPr>
          <a:xfrm>
            <a:off x="3919742" y="2605429"/>
            <a:ext cx="557494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1"/>
                </a:solidFill>
              </a:rPr>
              <a:t>Bluetooth 4.0: destaque para o Bluetooth </a:t>
            </a:r>
            <a:r>
              <a:rPr lang="pt-BR" sz="2400" b="1" dirty="0" err="1">
                <a:solidFill>
                  <a:schemeClr val="bg1"/>
                </a:solidFill>
              </a:rPr>
              <a:t>Low</a:t>
            </a:r>
            <a:r>
              <a:rPr lang="pt-BR" sz="2400" b="1" dirty="0">
                <a:solidFill>
                  <a:schemeClr val="bg1"/>
                </a:solidFill>
              </a:rPr>
              <a:t> Energy (BLE), essencial para IoT;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11F3913-5DA1-BEC1-79F7-06CA1C780F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5124" y="1083787"/>
            <a:ext cx="9741600" cy="365748"/>
          </a:xfrm>
        </p:spPr>
        <p:txBody>
          <a:bodyPr>
            <a:noAutofit/>
          </a:bodyPr>
          <a:lstStyle/>
          <a:p>
            <a:pPr algn="l"/>
            <a:r>
              <a:rPr lang="pt-BR" sz="3200" b="1" dirty="0">
                <a:solidFill>
                  <a:schemeClr val="bg1"/>
                </a:solidFill>
              </a:rPr>
              <a:t>EVOLUÇÃO</a:t>
            </a:r>
          </a:p>
        </p:txBody>
      </p:sp>
      <p:cxnSp>
        <p:nvCxnSpPr>
          <p:cNvPr id="4" name="Google Shape;140;p3">
            <a:extLst>
              <a:ext uri="{FF2B5EF4-FFF2-40B4-BE49-F238E27FC236}">
                <a16:creationId xmlns:a16="http://schemas.microsoft.com/office/drawing/2014/main" id="{A75AF05D-02D7-B30A-645A-D010EEBC74DD}"/>
              </a:ext>
            </a:extLst>
          </p:cNvPr>
          <p:cNvCxnSpPr>
            <a:cxnSpLocks/>
          </p:cNvCxnSpPr>
          <p:nvPr/>
        </p:nvCxnSpPr>
        <p:spPr>
          <a:xfrm>
            <a:off x="1206074" y="1599143"/>
            <a:ext cx="974175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0" name="CaixaDeTexto 79">
            <a:extLst>
              <a:ext uri="{FF2B5EF4-FFF2-40B4-BE49-F238E27FC236}">
                <a16:creationId xmlns:a16="http://schemas.microsoft.com/office/drawing/2014/main" id="{7797426B-A308-A261-95D6-5B2C81007DA9}"/>
              </a:ext>
            </a:extLst>
          </p:cNvPr>
          <p:cNvSpPr txBox="1"/>
          <p:nvPr/>
        </p:nvSpPr>
        <p:spPr>
          <a:xfrm>
            <a:off x="1128877" y="1774432"/>
            <a:ext cx="38511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1"/>
                </a:solidFill>
              </a:rPr>
              <a:t>Bluetooth 2.0: introdução do EDR (Enhanced Data Rate);</a:t>
            </a:r>
          </a:p>
        </p:txBody>
      </p: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256687FA-0FE1-CCD8-997E-96DCD88DD186}"/>
              </a:ext>
            </a:extLst>
          </p:cNvPr>
          <p:cNvSpPr txBox="1"/>
          <p:nvPr/>
        </p:nvSpPr>
        <p:spPr>
          <a:xfrm>
            <a:off x="3481165" y="4617642"/>
            <a:ext cx="488000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1"/>
                </a:solidFill>
              </a:rPr>
              <a:t>Bluetooth 5.0: melhorias em alcance, velocidade e eficiência energética;</a:t>
            </a:r>
          </a:p>
        </p:txBody>
      </p:sp>
      <p:sp>
        <p:nvSpPr>
          <p:cNvPr id="86" name="CaixaDeTexto 85">
            <a:extLst>
              <a:ext uri="{FF2B5EF4-FFF2-40B4-BE49-F238E27FC236}">
                <a16:creationId xmlns:a16="http://schemas.microsoft.com/office/drawing/2014/main" id="{F2ECE0B2-CEA5-B9D3-DECA-2A4EB88EA961}"/>
              </a:ext>
            </a:extLst>
          </p:cNvPr>
          <p:cNvSpPr txBox="1"/>
          <p:nvPr/>
        </p:nvSpPr>
        <p:spPr>
          <a:xfrm>
            <a:off x="4900637" y="5508997"/>
            <a:ext cx="629441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1"/>
                </a:solidFill>
              </a:rPr>
              <a:t>Bluetooth 6.0: melhorias em transmissão de áudio e adição de novos serviços de localização.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2416E8A-AB2C-0940-068F-307C4442B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0627" y="3533040"/>
            <a:ext cx="457200" cy="4572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BE2D42B8-CFBB-D2CE-2526-620E60FE4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702" y="3533040"/>
            <a:ext cx="457200" cy="457200"/>
          </a:xfrm>
          <a:prstGeom prst="rect">
            <a:avLst/>
          </a:prstGeom>
        </p:spPr>
      </p:pic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0E73309E-B2B1-11FA-D37B-E25F67A0C0FF}"/>
              </a:ext>
            </a:extLst>
          </p:cNvPr>
          <p:cNvCxnSpPr>
            <a:cxnSpLocks/>
          </p:cNvCxnSpPr>
          <p:nvPr/>
        </p:nvCxnSpPr>
        <p:spPr>
          <a:xfrm>
            <a:off x="9321673" y="3761640"/>
            <a:ext cx="1626152" cy="0"/>
          </a:xfrm>
          <a:prstGeom prst="straightConnector1">
            <a:avLst/>
          </a:prstGeom>
          <a:ln w="38100">
            <a:solidFill>
              <a:srgbClr val="ECECEC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68179AB9-38AF-BCB9-7C4B-A261424CA829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1619377" y="3761640"/>
            <a:ext cx="1554175" cy="0"/>
          </a:xfrm>
          <a:prstGeom prst="line">
            <a:avLst/>
          </a:prstGeom>
          <a:ln w="38100">
            <a:solidFill>
              <a:srgbClr val="DDDD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m 8">
            <a:extLst>
              <a:ext uri="{FF2B5EF4-FFF2-40B4-BE49-F238E27FC236}">
                <a16:creationId xmlns:a16="http://schemas.microsoft.com/office/drawing/2014/main" id="{1E57F9E6-1281-89BD-E945-F848DA84DF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4777" y="3533040"/>
            <a:ext cx="457200" cy="457200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9F892CDE-5DFF-7BDB-FB04-9655EDC5B8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552" y="3533040"/>
            <a:ext cx="457200" cy="457200"/>
          </a:xfrm>
          <a:prstGeom prst="rect">
            <a:avLst/>
          </a:prstGeom>
        </p:spPr>
      </p:pic>
      <p:pic>
        <p:nvPicPr>
          <p:cNvPr id="19" name="Gráfico 18">
            <a:extLst>
              <a:ext uri="{FF2B5EF4-FFF2-40B4-BE49-F238E27FC236}">
                <a16:creationId xmlns:a16="http://schemas.microsoft.com/office/drawing/2014/main" id="{BD82C290-D82B-29DA-E71A-A2DB00BD19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877" y="3459240"/>
            <a:ext cx="604800" cy="604800"/>
          </a:xfrm>
          <a:prstGeom prst="rect">
            <a:avLst/>
          </a:prstGeom>
        </p:spPr>
      </p:pic>
      <p:cxnSp>
        <p:nvCxnSpPr>
          <p:cNvPr id="21" name="Conector reto 20">
            <a:extLst>
              <a:ext uri="{FF2B5EF4-FFF2-40B4-BE49-F238E27FC236}">
                <a16:creationId xmlns:a16="http://schemas.microsoft.com/office/drawing/2014/main" id="{163884D4-8EB4-7BD7-9DD4-98632572EDDE}"/>
              </a:ext>
            </a:extLst>
          </p:cNvPr>
          <p:cNvCxnSpPr>
            <a:cxnSpLocks/>
            <a:stCxn id="18" idx="3"/>
            <a:endCxn id="7" idx="1"/>
          </p:cNvCxnSpPr>
          <p:nvPr/>
        </p:nvCxnSpPr>
        <p:spPr>
          <a:xfrm>
            <a:off x="3630752" y="3761640"/>
            <a:ext cx="1439875" cy="0"/>
          </a:xfrm>
          <a:prstGeom prst="line">
            <a:avLst/>
          </a:prstGeom>
          <a:ln w="38100">
            <a:solidFill>
              <a:srgbClr val="DDDD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to 21">
            <a:extLst>
              <a:ext uri="{FF2B5EF4-FFF2-40B4-BE49-F238E27FC236}">
                <a16:creationId xmlns:a16="http://schemas.microsoft.com/office/drawing/2014/main" id="{1B877B8F-A628-B907-7AC0-2EC2D5CF0DD3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5527827" y="3761640"/>
            <a:ext cx="1439875" cy="0"/>
          </a:xfrm>
          <a:prstGeom prst="line">
            <a:avLst/>
          </a:prstGeom>
          <a:ln w="38100">
            <a:solidFill>
              <a:srgbClr val="DDDD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AD639ACB-8E0F-A5BC-0DF2-3BE740AE3D57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424902" y="3761640"/>
            <a:ext cx="1420367" cy="0"/>
          </a:xfrm>
          <a:prstGeom prst="line">
            <a:avLst/>
          </a:prstGeom>
          <a:ln w="38100">
            <a:solidFill>
              <a:srgbClr val="DDDD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2DDCC8A4-A342-8678-A471-1042C582E403}"/>
              </a:ext>
            </a:extLst>
          </p:cNvPr>
          <p:cNvSpPr txBox="1"/>
          <p:nvPr/>
        </p:nvSpPr>
        <p:spPr>
          <a:xfrm>
            <a:off x="1038653" y="3941220"/>
            <a:ext cx="88357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1"/>
                </a:solidFill>
              </a:rPr>
              <a:t>1994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C8F69B9F-A686-D026-8EC0-A4CFBFA8820E}"/>
              </a:ext>
            </a:extLst>
          </p:cNvPr>
          <p:cNvSpPr txBox="1"/>
          <p:nvPr/>
        </p:nvSpPr>
        <p:spPr>
          <a:xfrm>
            <a:off x="2987963" y="3941220"/>
            <a:ext cx="802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1"/>
                </a:solidFill>
              </a:rPr>
              <a:t>2004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D314E329-A470-7CDD-5703-8930876649D2}"/>
              </a:ext>
            </a:extLst>
          </p:cNvPr>
          <p:cNvSpPr txBox="1"/>
          <p:nvPr/>
        </p:nvSpPr>
        <p:spPr>
          <a:xfrm>
            <a:off x="4900637" y="3941220"/>
            <a:ext cx="802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1"/>
                </a:solidFill>
              </a:rPr>
              <a:t>2010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AFE6512C-24B8-4FC2-4A4E-38BA333445AA}"/>
              </a:ext>
            </a:extLst>
          </p:cNvPr>
          <p:cNvSpPr txBox="1"/>
          <p:nvPr/>
        </p:nvSpPr>
        <p:spPr>
          <a:xfrm>
            <a:off x="6781304" y="3941220"/>
            <a:ext cx="802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1"/>
                </a:solidFill>
              </a:rPr>
              <a:t>2016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B4788052-C96C-2D85-305E-E4F6539F0898}"/>
              </a:ext>
            </a:extLst>
          </p:cNvPr>
          <p:cNvSpPr txBox="1"/>
          <p:nvPr/>
        </p:nvSpPr>
        <p:spPr>
          <a:xfrm>
            <a:off x="8692065" y="3941220"/>
            <a:ext cx="802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1"/>
                </a:solidFill>
              </a:rPr>
              <a:t>2024</a:t>
            </a:r>
          </a:p>
        </p:txBody>
      </p:sp>
      <p:cxnSp>
        <p:nvCxnSpPr>
          <p:cNvPr id="39" name="Conector reto 38">
            <a:extLst>
              <a:ext uri="{FF2B5EF4-FFF2-40B4-BE49-F238E27FC236}">
                <a16:creationId xmlns:a16="http://schemas.microsoft.com/office/drawing/2014/main" id="{4F752DB3-614B-DD47-0344-790A72097964}"/>
              </a:ext>
            </a:extLst>
          </p:cNvPr>
          <p:cNvCxnSpPr>
            <a:cxnSpLocks/>
          </p:cNvCxnSpPr>
          <p:nvPr/>
        </p:nvCxnSpPr>
        <p:spPr>
          <a:xfrm>
            <a:off x="3402152" y="2495351"/>
            <a:ext cx="0" cy="1051152"/>
          </a:xfrm>
          <a:prstGeom prst="line">
            <a:avLst/>
          </a:prstGeom>
          <a:ln w="38100">
            <a:solidFill>
              <a:srgbClr val="DDDD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ector reto 40">
            <a:extLst>
              <a:ext uri="{FF2B5EF4-FFF2-40B4-BE49-F238E27FC236}">
                <a16:creationId xmlns:a16="http://schemas.microsoft.com/office/drawing/2014/main" id="{FA926377-91C7-8C64-BE54-C30CED8EA793}"/>
              </a:ext>
            </a:extLst>
          </p:cNvPr>
          <p:cNvCxnSpPr>
            <a:cxnSpLocks/>
          </p:cNvCxnSpPr>
          <p:nvPr/>
        </p:nvCxnSpPr>
        <p:spPr>
          <a:xfrm flipV="1">
            <a:off x="5299227" y="3355848"/>
            <a:ext cx="0" cy="190655"/>
          </a:xfrm>
          <a:prstGeom prst="line">
            <a:avLst/>
          </a:prstGeom>
          <a:ln w="38100">
            <a:solidFill>
              <a:srgbClr val="DDDD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ector reto 43">
            <a:extLst>
              <a:ext uri="{FF2B5EF4-FFF2-40B4-BE49-F238E27FC236}">
                <a16:creationId xmlns:a16="http://schemas.microsoft.com/office/drawing/2014/main" id="{6B571B6A-B441-666D-1670-193ACBD7DB6D}"/>
              </a:ext>
            </a:extLst>
          </p:cNvPr>
          <p:cNvCxnSpPr>
            <a:cxnSpLocks/>
          </p:cNvCxnSpPr>
          <p:nvPr/>
        </p:nvCxnSpPr>
        <p:spPr>
          <a:xfrm>
            <a:off x="7196302" y="4305894"/>
            <a:ext cx="0" cy="422565"/>
          </a:xfrm>
          <a:prstGeom prst="line">
            <a:avLst/>
          </a:prstGeom>
          <a:ln w="38100">
            <a:solidFill>
              <a:srgbClr val="DDDD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ector reto 46">
            <a:extLst>
              <a:ext uri="{FF2B5EF4-FFF2-40B4-BE49-F238E27FC236}">
                <a16:creationId xmlns:a16="http://schemas.microsoft.com/office/drawing/2014/main" id="{00C6D8D4-FC1A-5CCC-1BB0-0276B10864C6}"/>
              </a:ext>
            </a:extLst>
          </p:cNvPr>
          <p:cNvCxnSpPr>
            <a:cxnSpLocks/>
          </p:cNvCxnSpPr>
          <p:nvPr/>
        </p:nvCxnSpPr>
        <p:spPr>
          <a:xfrm>
            <a:off x="9093377" y="4305894"/>
            <a:ext cx="0" cy="1285281"/>
          </a:xfrm>
          <a:prstGeom prst="line">
            <a:avLst/>
          </a:prstGeom>
          <a:ln w="38100">
            <a:solidFill>
              <a:srgbClr val="DDDDD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547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5000" t="-53000" r="-1000" b="-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966412-2B73-C92C-1596-EF2896CE2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ítulo 2">
            <a:extLst>
              <a:ext uri="{FF2B5EF4-FFF2-40B4-BE49-F238E27FC236}">
                <a16:creationId xmlns:a16="http://schemas.microsoft.com/office/drawing/2014/main" id="{811572A4-C91B-6615-754E-BEB1D9B99810}"/>
              </a:ext>
            </a:extLst>
          </p:cNvPr>
          <p:cNvSpPr txBox="1">
            <a:spLocks/>
          </p:cNvSpPr>
          <p:nvPr/>
        </p:nvSpPr>
        <p:spPr>
          <a:xfrm>
            <a:off x="1225124" y="1579087"/>
            <a:ext cx="9741600" cy="36574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BR" sz="3200" b="1" dirty="0">
                <a:solidFill>
                  <a:schemeClr val="bg1"/>
                </a:solidFill>
              </a:rPr>
              <a:t>PROPÓSITO </a:t>
            </a:r>
          </a:p>
        </p:txBody>
      </p:sp>
      <p:cxnSp>
        <p:nvCxnSpPr>
          <p:cNvPr id="4" name="Google Shape;140;p3">
            <a:extLst>
              <a:ext uri="{FF2B5EF4-FFF2-40B4-BE49-F238E27FC236}">
                <a16:creationId xmlns:a16="http://schemas.microsoft.com/office/drawing/2014/main" id="{0F5A1810-9C51-019E-1232-86E24FE84377}"/>
              </a:ext>
            </a:extLst>
          </p:cNvPr>
          <p:cNvCxnSpPr>
            <a:cxnSpLocks/>
          </p:cNvCxnSpPr>
          <p:nvPr/>
        </p:nvCxnSpPr>
        <p:spPr>
          <a:xfrm>
            <a:off x="1225124" y="2065867"/>
            <a:ext cx="974175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" name="Subtítulo 5">
            <a:extLst>
              <a:ext uri="{FF2B5EF4-FFF2-40B4-BE49-F238E27FC236}">
                <a16:creationId xmlns:a16="http://schemas.microsoft.com/office/drawing/2014/main" id="{33264038-6340-41A6-BA38-9277796A80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73941" y="2747397"/>
            <a:ext cx="8577943" cy="495298"/>
          </a:xfrm>
        </p:spPr>
        <p:txBody>
          <a:bodyPr/>
          <a:lstStyle/>
          <a:p>
            <a:pPr algn="l"/>
            <a:r>
              <a:rPr lang="pt-BR" dirty="0">
                <a:solidFill>
                  <a:schemeClr val="bg1"/>
                </a:solidFill>
              </a:rPr>
              <a:t>Conectar dispositivos sem a necessidade de fios a curta distância</a:t>
            </a:r>
          </a:p>
        </p:txBody>
      </p:sp>
      <p:pic>
        <p:nvPicPr>
          <p:cNvPr id="87" name="Gráfico 86">
            <a:extLst>
              <a:ext uri="{FF2B5EF4-FFF2-40B4-BE49-F238E27FC236}">
                <a16:creationId xmlns:a16="http://schemas.microsoft.com/office/drawing/2014/main" id="{316AA69C-7520-000F-2DA8-BB87C45EF6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76350" y="2747396"/>
            <a:ext cx="495300" cy="495300"/>
          </a:xfrm>
          <a:prstGeom prst="rect">
            <a:avLst/>
          </a:prstGeom>
        </p:spPr>
      </p:pic>
      <p:pic>
        <p:nvPicPr>
          <p:cNvPr id="10" name="Gráfico 9">
            <a:extLst>
              <a:ext uri="{FF2B5EF4-FFF2-40B4-BE49-F238E27FC236}">
                <a16:creationId xmlns:a16="http://schemas.microsoft.com/office/drawing/2014/main" id="{1775047F-EC36-8792-F6AB-8C2D1BEF3B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76350" y="3615305"/>
            <a:ext cx="496800" cy="496800"/>
          </a:xfrm>
          <a:prstGeom prst="rect">
            <a:avLst/>
          </a:prstGeom>
        </p:spPr>
      </p:pic>
      <p:sp>
        <p:nvSpPr>
          <p:cNvPr id="11" name="Subtítulo 5">
            <a:extLst>
              <a:ext uri="{FF2B5EF4-FFF2-40B4-BE49-F238E27FC236}">
                <a16:creationId xmlns:a16="http://schemas.microsoft.com/office/drawing/2014/main" id="{C61A069D-EEA4-C49D-2875-01D9ADE616E0}"/>
              </a:ext>
            </a:extLst>
          </p:cNvPr>
          <p:cNvSpPr txBox="1">
            <a:spLocks/>
          </p:cNvSpPr>
          <p:nvPr/>
        </p:nvSpPr>
        <p:spPr>
          <a:xfrm>
            <a:off x="1973941" y="3616056"/>
            <a:ext cx="8577943" cy="4952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BR" dirty="0">
                <a:solidFill>
                  <a:schemeClr val="bg1"/>
                </a:solidFill>
              </a:rPr>
              <a:t>Baixo consumo de energia </a:t>
            </a:r>
          </a:p>
        </p:txBody>
      </p:sp>
      <p:pic>
        <p:nvPicPr>
          <p:cNvPr id="13" name="Gráfico 12">
            <a:extLst>
              <a:ext uri="{FF2B5EF4-FFF2-40B4-BE49-F238E27FC236}">
                <a16:creationId xmlns:a16="http://schemas.microsoft.com/office/drawing/2014/main" id="{D0A31CB8-46E9-1E63-E6CD-AF2DAEA7BC5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76350" y="4489733"/>
            <a:ext cx="604800" cy="604800"/>
          </a:xfrm>
          <a:prstGeom prst="rect">
            <a:avLst/>
          </a:prstGeom>
        </p:spPr>
      </p:pic>
      <p:sp>
        <p:nvSpPr>
          <p:cNvPr id="14" name="Subtítulo 5">
            <a:extLst>
              <a:ext uri="{FF2B5EF4-FFF2-40B4-BE49-F238E27FC236}">
                <a16:creationId xmlns:a16="http://schemas.microsoft.com/office/drawing/2014/main" id="{133A5946-8379-59EE-4051-2F93EA91D186}"/>
              </a:ext>
            </a:extLst>
          </p:cNvPr>
          <p:cNvSpPr txBox="1">
            <a:spLocks/>
          </p:cNvSpPr>
          <p:nvPr/>
        </p:nvSpPr>
        <p:spPr>
          <a:xfrm>
            <a:off x="1973941" y="4544484"/>
            <a:ext cx="8341634" cy="4952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BR" dirty="0">
                <a:solidFill>
                  <a:schemeClr val="bg1"/>
                </a:solidFill>
              </a:rPr>
              <a:t>Baixo custo e simples.</a:t>
            </a:r>
          </a:p>
        </p:txBody>
      </p:sp>
    </p:spTree>
    <p:extLst>
      <p:ext uri="{BB962C8B-B14F-4D97-AF65-F5344CB8AC3E}">
        <p14:creationId xmlns:p14="http://schemas.microsoft.com/office/powerpoint/2010/main" val="14776522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5000" t="-53000" r="-1000" b="-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5D1229-3C9B-EC5C-B70C-16A06D684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ítulo 2">
            <a:extLst>
              <a:ext uri="{FF2B5EF4-FFF2-40B4-BE49-F238E27FC236}">
                <a16:creationId xmlns:a16="http://schemas.microsoft.com/office/drawing/2014/main" id="{1C7EBD55-388C-F31D-7BEE-2CC101A5CA61}"/>
              </a:ext>
            </a:extLst>
          </p:cNvPr>
          <p:cNvSpPr txBox="1">
            <a:spLocks/>
          </p:cNvSpPr>
          <p:nvPr/>
        </p:nvSpPr>
        <p:spPr>
          <a:xfrm>
            <a:off x="1225124" y="1321912"/>
            <a:ext cx="9741600" cy="36574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BR" sz="3200" b="1" dirty="0">
                <a:solidFill>
                  <a:schemeClr val="bg1"/>
                </a:solidFill>
              </a:rPr>
              <a:t>APLICAÇÕES </a:t>
            </a:r>
          </a:p>
        </p:txBody>
      </p:sp>
      <p:cxnSp>
        <p:nvCxnSpPr>
          <p:cNvPr id="4" name="Google Shape;140;p3">
            <a:extLst>
              <a:ext uri="{FF2B5EF4-FFF2-40B4-BE49-F238E27FC236}">
                <a16:creationId xmlns:a16="http://schemas.microsoft.com/office/drawing/2014/main" id="{F29FC244-6247-48FA-BE2E-668C27807247}"/>
              </a:ext>
            </a:extLst>
          </p:cNvPr>
          <p:cNvCxnSpPr>
            <a:cxnSpLocks/>
          </p:cNvCxnSpPr>
          <p:nvPr/>
        </p:nvCxnSpPr>
        <p:spPr>
          <a:xfrm>
            <a:off x="1225124" y="1808692"/>
            <a:ext cx="974175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38" name="Agrupar 37">
            <a:extLst>
              <a:ext uri="{FF2B5EF4-FFF2-40B4-BE49-F238E27FC236}">
                <a16:creationId xmlns:a16="http://schemas.microsoft.com/office/drawing/2014/main" id="{E68DBE23-D7F3-1482-96BD-26CB7D0EB006}"/>
              </a:ext>
            </a:extLst>
          </p:cNvPr>
          <p:cNvGrpSpPr/>
          <p:nvPr/>
        </p:nvGrpSpPr>
        <p:grpSpPr>
          <a:xfrm>
            <a:off x="4268849" y="3733105"/>
            <a:ext cx="1815607" cy="1009573"/>
            <a:chOff x="5954998" y="5226050"/>
            <a:chExt cx="1815607" cy="1009573"/>
          </a:xfrm>
        </p:grpSpPr>
        <p:pic>
          <p:nvPicPr>
            <p:cNvPr id="12" name="Gráfico 11">
              <a:extLst>
                <a:ext uri="{FF2B5EF4-FFF2-40B4-BE49-F238E27FC236}">
                  <a16:creationId xmlns:a16="http://schemas.microsoft.com/office/drawing/2014/main" id="{37FC1AFD-50FC-333E-9486-341B9EE08B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60401" y="5226050"/>
              <a:ext cx="604800" cy="604800"/>
            </a:xfrm>
            <a:prstGeom prst="rect">
              <a:avLst/>
            </a:prstGeom>
          </p:spPr>
        </p:pic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9694A521-8C37-3C8B-E5EE-4779140E397C}"/>
                </a:ext>
              </a:extLst>
            </p:cNvPr>
            <p:cNvSpPr txBox="1"/>
            <p:nvPr/>
          </p:nvSpPr>
          <p:spPr>
            <a:xfrm>
              <a:off x="5954998" y="5773958"/>
              <a:ext cx="181560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sz="2400" b="1" dirty="0">
                  <a:solidFill>
                    <a:schemeClr val="bg1"/>
                  </a:solidFill>
                </a:rPr>
                <a:t>Teclados</a:t>
              </a:r>
              <a:endParaRPr lang="pt-BR" sz="2400" b="1" dirty="0"/>
            </a:p>
          </p:txBody>
        </p:sp>
      </p:grpSp>
      <p:grpSp>
        <p:nvGrpSpPr>
          <p:cNvPr id="40" name="Agrupar 39">
            <a:extLst>
              <a:ext uri="{FF2B5EF4-FFF2-40B4-BE49-F238E27FC236}">
                <a16:creationId xmlns:a16="http://schemas.microsoft.com/office/drawing/2014/main" id="{69EAA850-8727-ED64-83B4-D1401370E4BF}"/>
              </a:ext>
            </a:extLst>
          </p:cNvPr>
          <p:cNvGrpSpPr/>
          <p:nvPr/>
        </p:nvGrpSpPr>
        <p:grpSpPr>
          <a:xfrm>
            <a:off x="872621" y="3731625"/>
            <a:ext cx="1815607" cy="1378905"/>
            <a:chOff x="1829991" y="5226050"/>
            <a:chExt cx="1815607" cy="1378905"/>
          </a:xfrm>
        </p:grpSpPr>
        <p:pic>
          <p:nvPicPr>
            <p:cNvPr id="7" name="Gráfico 6">
              <a:extLst>
                <a:ext uri="{FF2B5EF4-FFF2-40B4-BE49-F238E27FC236}">
                  <a16:creationId xmlns:a16="http://schemas.microsoft.com/office/drawing/2014/main" id="{B5DA3C01-025D-D7E8-B664-2A159382B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35394" y="5226050"/>
              <a:ext cx="604800" cy="604800"/>
            </a:xfrm>
            <a:prstGeom prst="rect">
              <a:avLst/>
            </a:prstGeom>
          </p:spPr>
        </p:pic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717514B9-C733-9B13-B073-8E9F93F5ACBE}"/>
                </a:ext>
              </a:extLst>
            </p:cNvPr>
            <p:cNvSpPr txBox="1"/>
            <p:nvPr/>
          </p:nvSpPr>
          <p:spPr>
            <a:xfrm>
              <a:off x="1829991" y="5773958"/>
              <a:ext cx="1815607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sz="2400" b="1" dirty="0">
                  <a:solidFill>
                    <a:schemeClr val="bg1"/>
                  </a:solidFill>
                </a:rPr>
                <a:t>Fones de ouvido</a:t>
              </a:r>
              <a:endParaRPr lang="pt-BR" sz="2400" b="1" dirty="0"/>
            </a:p>
          </p:txBody>
        </p:sp>
      </p:grpSp>
      <p:grpSp>
        <p:nvGrpSpPr>
          <p:cNvPr id="39" name="Agrupar 38">
            <a:extLst>
              <a:ext uri="{FF2B5EF4-FFF2-40B4-BE49-F238E27FC236}">
                <a16:creationId xmlns:a16="http://schemas.microsoft.com/office/drawing/2014/main" id="{60B65907-DED6-9D9E-F699-BED48EE96E43}"/>
              </a:ext>
            </a:extLst>
          </p:cNvPr>
          <p:cNvGrpSpPr/>
          <p:nvPr/>
        </p:nvGrpSpPr>
        <p:grpSpPr>
          <a:xfrm>
            <a:off x="2570735" y="4332285"/>
            <a:ext cx="1815607" cy="1378905"/>
            <a:chOff x="4271396" y="5226050"/>
            <a:chExt cx="1815607" cy="1378905"/>
          </a:xfrm>
        </p:grpSpPr>
        <p:pic>
          <p:nvPicPr>
            <p:cNvPr id="9" name="Gráfico 8">
              <a:extLst>
                <a:ext uri="{FF2B5EF4-FFF2-40B4-BE49-F238E27FC236}">
                  <a16:creationId xmlns:a16="http://schemas.microsoft.com/office/drawing/2014/main" id="{A15EF47C-31B8-902B-8B3B-92410BCBD3E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876799" y="5226050"/>
              <a:ext cx="604800" cy="604800"/>
            </a:xfrm>
            <a:prstGeom prst="rect">
              <a:avLst/>
            </a:prstGeom>
          </p:spPr>
        </p:pic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F382F542-82ED-8A1E-6AB4-14DB18BFA5F1}"/>
                </a:ext>
              </a:extLst>
            </p:cNvPr>
            <p:cNvSpPr txBox="1"/>
            <p:nvPr/>
          </p:nvSpPr>
          <p:spPr>
            <a:xfrm>
              <a:off x="4271396" y="5773958"/>
              <a:ext cx="1815607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sz="2400" b="1" dirty="0">
                  <a:solidFill>
                    <a:schemeClr val="bg1"/>
                  </a:solidFill>
                </a:rPr>
                <a:t>Caixas de som</a:t>
              </a:r>
              <a:endParaRPr lang="pt-BR" sz="2400" b="1" dirty="0"/>
            </a:p>
          </p:txBody>
        </p:sp>
      </p:grpSp>
      <p:grpSp>
        <p:nvGrpSpPr>
          <p:cNvPr id="37" name="Agrupar 36">
            <a:extLst>
              <a:ext uri="{FF2B5EF4-FFF2-40B4-BE49-F238E27FC236}">
                <a16:creationId xmlns:a16="http://schemas.microsoft.com/office/drawing/2014/main" id="{D1FFDB0E-0A05-EFE9-3114-519EA87EFB82}"/>
              </a:ext>
            </a:extLst>
          </p:cNvPr>
          <p:cNvGrpSpPr/>
          <p:nvPr/>
        </p:nvGrpSpPr>
        <p:grpSpPr>
          <a:xfrm>
            <a:off x="5966963" y="4332285"/>
            <a:ext cx="1815607" cy="1378905"/>
            <a:chOff x="8295786" y="5226050"/>
            <a:chExt cx="1815607" cy="1378905"/>
          </a:xfrm>
        </p:grpSpPr>
        <p:pic>
          <p:nvPicPr>
            <p:cNvPr id="15" name="Gráfico 14">
              <a:extLst>
                <a:ext uri="{FF2B5EF4-FFF2-40B4-BE49-F238E27FC236}">
                  <a16:creationId xmlns:a16="http://schemas.microsoft.com/office/drawing/2014/main" id="{D2F399FE-0661-48EA-0489-FD0FD1F94A2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901189" y="5226050"/>
              <a:ext cx="604800" cy="604800"/>
            </a:xfrm>
            <a:prstGeom prst="rect">
              <a:avLst/>
            </a:prstGeom>
          </p:spPr>
        </p:pic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1F523A3C-04CB-308D-E249-B6172EB27D80}"/>
                </a:ext>
              </a:extLst>
            </p:cNvPr>
            <p:cNvSpPr txBox="1"/>
            <p:nvPr/>
          </p:nvSpPr>
          <p:spPr>
            <a:xfrm>
              <a:off x="8295786" y="5773958"/>
              <a:ext cx="1815607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sz="2400" b="1" dirty="0">
                  <a:solidFill>
                    <a:schemeClr val="bg1"/>
                  </a:solidFill>
                </a:rPr>
                <a:t>mouses </a:t>
              </a:r>
            </a:p>
            <a:p>
              <a:pPr algn="ctr"/>
              <a:r>
                <a:rPr lang="pt-BR" sz="2400" b="1" dirty="0">
                  <a:solidFill>
                    <a:schemeClr val="bg1"/>
                  </a:solidFill>
                </a:rPr>
                <a:t>sem fio</a:t>
              </a:r>
              <a:endParaRPr lang="pt-BR" sz="2400" b="1" dirty="0"/>
            </a:p>
          </p:txBody>
        </p:sp>
      </p:grpSp>
      <p:grpSp>
        <p:nvGrpSpPr>
          <p:cNvPr id="42" name="Agrupar 41">
            <a:extLst>
              <a:ext uri="{FF2B5EF4-FFF2-40B4-BE49-F238E27FC236}">
                <a16:creationId xmlns:a16="http://schemas.microsoft.com/office/drawing/2014/main" id="{D8FFE937-291C-2579-1D1E-A18B71333BC5}"/>
              </a:ext>
            </a:extLst>
          </p:cNvPr>
          <p:cNvGrpSpPr/>
          <p:nvPr/>
        </p:nvGrpSpPr>
        <p:grpSpPr>
          <a:xfrm>
            <a:off x="1579436" y="2442825"/>
            <a:ext cx="9033127" cy="604800"/>
            <a:chOff x="1278000" y="2690950"/>
            <a:chExt cx="8839443" cy="604800"/>
          </a:xfrm>
        </p:grpSpPr>
        <p:sp>
          <p:nvSpPr>
            <p:cNvPr id="11" name="Subtítulo 5">
              <a:extLst>
                <a:ext uri="{FF2B5EF4-FFF2-40B4-BE49-F238E27FC236}">
                  <a16:creationId xmlns:a16="http://schemas.microsoft.com/office/drawing/2014/main" id="{BAD29CCC-03B4-7016-EBBD-DD79B040F9DB}"/>
                </a:ext>
              </a:extLst>
            </p:cNvPr>
            <p:cNvSpPr txBox="1">
              <a:spLocks/>
            </p:cNvSpPr>
            <p:nvPr/>
          </p:nvSpPr>
          <p:spPr>
            <a:xfrm>
              <a:off x="2585394" y="2745701"/>
              <a:ext cx="7532049" cy="495298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pt-BR" b="1" dirty="0">
                  <a:solidFill>
                    <a:schemeClr val="bg1"/>
                  </a:solidFill>
                </a:rPr>
                <a:t>Comunicação entre dispositivos em casas inteligentes (IoT).</a:t>
              </a:r>
            </a:p>
          </p:txBody>
        </p:sp>
        <p:pic>
          <p:nvPicPr>
            <p:cNvPr id="28" name="Gráfico 27">
              <a:extLst>
                <a:ext uri="{FF2B5EF4-FFF2-40B4-BE49-F238E27FC236}">
                  <a16:creationId xmlns:a16="http://schemas.microsoft.com/office/drawing/2014/main" id="{29D69E11-5862-D02D-5EB5-468C50999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278000" y="2690950"/>
              <a:ext cx="604800" cy="604800"/>
            </a:xfrm>
            <a:prstGeom prst="rect">
              <a:avLst/>
            </a:prstGeom>
          </p:spPr>
        </p:pic>
        <p:pic>
          <p:nvPicPr>
            <p:cNvPr id="30" name="Gráfico 29">
              <a:extLst>
                <a:ext uri="{FF2B5EF4-FFF2-40B4-BE49-F238E27FC236}">
                  <a16:creationId xmlns:a16="http://schemas.microsoft.com/office/drawing/2014/main" id="{F5EE0847-D6BF-1F01-6063-80D01705E9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829991" y="2690950"/>
              <a:ext cx="604800" cy="604800"/>
            </a:xfrm>
            <a:prstGeom prst="rect">
              <a:avLst/>
            </a:prstGeom>
          </p:spPr>
        </p:pic>
      </p:grpSp>
      <p:grpSp>
        <p:nvGrpSpPr>
          <p:cNvPr id="36" name="Agrupar 35">
            <a:extLst>
              <a:ext uri="{FF2B5EF4-FFF2-40B4-BE49-F238E27FC236}">
                <a16:creationId xmlns:a16="http://schemas.microsoft.com/office/drawing/2014/main" id="{B5F060BE-7292-F710-048F-C706BEDACDBD}"/>
              </a:ext>
            </a:extLst>
          </p:cNvPr>
          <p:cNvGrpSpPr/>
          <p:nvPr/>
        </p:nvGrpSpPr>
        <p:grpSpPr>
          <a:xfrm>
            <a:off x="7665077" y="3733105"/>
            <a:ext cx="1815607" cy="1303312"/>
            <a:chOff x="9959577" y="5226050"/>
            <a:chExt cx="1815607" cy="1303312"/>
          </a:xfrm>
        </p:grpSpPr>
        <p:pic>
          <p:nvPicPr>
            <p:cNvPr id="17" name="Gráfico 16">
              <a:extLst>
                <a:ext uri="{FF2B5EF4-FFF2-40B4-BE49-F238E27FC236}">
                  <a16:creationId xmlns:a16="http://schemas.microsoft.com/office/drawing/2014/main" id="{CB72CDBA-754C-4AD0-346F-96C6950DE7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10564980" y="5226050"/>
              <a:ext cx="604800" cy="604800"/>
            </a:xfrm>
            <a:prstGeom prst="rect">
              <a:avLst/>
            </a:prstGeom>
          </p:spPr>
        </p:pic>
        <p:sp>
          <p:nvSpPr>
            <p:cNvPr id="31" name="CaixaDeTexto 30">
              <a:extLst>
                <a:ext uri="{FF2B5EF4-FFF2-40B4-BE49-F238E27FC236}">
                  <a16:creationId xmlns:a16="http://schemas.microsoft.com/office/drawing/2014/main" id="{9B6C6623-24F1-C3AB-1DDC-EE6466350482}"/>
                </a:ext>
              </a:extLst>
            </p:cNvPr>
            <p:cNvSpPr txBox="1"/>
            <p:nvPr/>
          </p:nvSpPr>
          <p:spPr>
            <a:xfrm>
              <a:off x="9959577" y="5698365"/>
              <a:ext cx="1815607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sz="2400" b="1" dirty="0">
                  <a:solidFill>
                    <a:schemeClr val="bg1"/>
                  </a:solidFill>
                </a:rPr>
                <a:t>Dispositivos médicos</a:t>
              </a:r>
              <a:endParaRPr lang="pt-BR" sz="2400" b="1" dirty="0"/>
            </a:p>
          </p:txBody>
        </p:sp>
      </p:grpSp>
      <p:grpSp>
        <p:nvGrpSpPr>
          <p:cNvPr id="35" name="Agrupar 34">
            <a:extLst>
              <a:ext uri="{FF2B5EF4-FFF2-40B4-BE49-F238E27FC236}">
                <a16:creationId xmlns:a16="http://schemas.microsoft.com/office/drawing/2014/main" id="{7033DEC4-5363-F857-D776-DAEFBBC81925}"/>
              </a:ext>
            </a:extLst>
          </p:cNvPr>
          <p:cNvGrpSpPr/>
          <p:nvPr/>
        </p:nvGrpSpPr>
        <p:grpSpPr>
          <a:xfrm>
            <a:off x="9363193" y="4332825"/>
            <a:ext cx="1815607" cy="1009573"/>
            <a:chOff x="81118" y="5226050"/>
            <a:chExt cx="1815607" cy="1009573"/>
          </a:xfrm>
        </p:grpSpPr>
        <p:pic>
          <p:nvPicPr>
            <p:cNvPr id="33" name="Gráfico 32">
              <a:extLst>
                <a:ext uri="{FF2B5EF4-FFF2-40B4-BE49-F238E27FC236}">
                  <a16:creationId xmlns:a16="http://schemas.microsoft.com/office/drawing/2014/main" id="{B3D0449D-076E-19DF-44B2-2D7C9B59B5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686522" y="5226050"/>
              <a:ext cx="604800" cy="604800"/>
            </a:xfrm>
            <a:prstGeom prst="rect">
              <a:avLst/>
            </a:prstGeom>
          </p:spPr>
        </p:pic>
        <p:sp>
          <p:nvSpPr>
            <p:cNvPr id="34" name="CaixaDeTexto 33">
              <a:extLst>
                <a:ext uri="{FF2B5EF4-FFF2-40B4-BE49-F238E27FC236}">
                  <a16:creationId xmlns:a16="http://schemas.microsoft.com/office/drawing/2014/main" id="{2A94301C-4177-49C6-1993-ECECC842C297}"/>
                </a:ext>
              </a:extLst>
            </p:cNvPr>
            <p:cNvSpPr txBox="1"/>
            <p:nvPr/>
          </p:nvSpPr>
          <p:spPr>
            <a:xfrm>
              <a:off x="81118" y="5773958"/>
              <a:ext cx="181560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sz="2400" b="1" dirty="0">
                  <a:solidFill>
                    <a:schemeClr val="bg1"/>
                  </a:solidFill>
                </a:rPr>
                <a:t>Smartbands</a:t>
              </a:r>
              <a:endParaRPr lang="pt-BR" sz="2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4678609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000" t="-1000" r="-10000" b="-34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CD51F8-266E-1692-55E1-511BD52D6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459075D4-282A-CDD3-EFD1-C21F01D74E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5124" y="1580400"/>
            <a:ext cx="9741751" cy="365748"/>
          </a:xfrm>
        </p:spPr>
        <p:txBody>
          <a:bodyPr>
            <a:noAutofit/>
          </a:bodyPr>
          <a:lstStyle/>
          <a:p>
            <a:pPr algn="l"/>
            <a:r>
              <a:rPr lang="pt-BR" sz="3200" b="1" dirty="0">
                <a:solidFill>
                  <a:schemeClr val="bg1"/>
                </a:solidFill>
              </a:rPr>
              <a:t>PROTOCOLO E DINÂMICA DE COMUNICAÇÃO</a:t>
            </a:r>
          </a:p>
        </p:txBody>
      </p:sp>
      <p:cxnSp>
        <p:nvCxnSpPr>
          <p:cNvPr id="4" name="Google Shape;140;p3">
            <a:extLst>
              <a:ext uri="{FF2B5EF4-FFF2-40B4-BE49-F238E27FC236}">
                <a16:creationId xmlns:a16="http://schemas.microsoft.com/office/drawing/2014/main" id="{57578539-0BF2-AE84-8A14-851FC4712780}"/>
              </a:ext>
            </a:extLst>
          </p:cNvPr>
          <p:cNvCxnSpPr>
            <a:cxnSpLocks/>
          </p:cNvCxnSpPr>
          <p:nvPr/>
        </p:nvCxnSpPr>
        <p:spPr>
          <a:xfrm>
            <a:off x="1225124" y="2065867"/>
            <a:ext cx="974175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CaixaDeTexto 1">
            <a:extLst>
              <a:ext uri="{FF2B5EF4-FFF2-40B4-BE49-F238E27FC236}">
                <a16:creationId xmlns:a16="http://schemas.microsoft.com/office/drawing/2014/main" id="{4D610E73-D52F-B790-AF6C-6D203B576C49}"/>
              </a:ext>
            </a:extLst>
          </p:cNvPr>
          <p:cNvSpPr txBox="1"/>
          <p:nvPr/>
        </p:nvSpPr>
        <p:spPr>
          <a:xfrm>
            <a:off x="1829924" y="2470034"/>
            <a:ext cx="913695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1"/>
                </a:solidFill>
              </a:rPr>
              <a:t>O Bluetooth opera na faixa de frequência de 2,4 GHz, utilizando a técnica de espalhamento espectral por salto de frequência (</a:t>
            </a:r>
            <a:r>
              <a:rPr lang="pt-BR" sz="2400" b="1" dirty="0" err="1">
                <a:solidFill>
                  <a:schemeClr val="bg1"/>
                </a:solidFill>
              </a:rPr>
              <a:t>frequency-hopping</a:t>
            </a:r>
            <a:r>
              <a:rPr lang="pt-BR" sz="2400" b="1" dirty="0">
                <a:solidFill>
                  <a:schemeClr val="bg1"/>
                </a:solidFill>
              </a:rPr>
              <a:t> spread </a:t>
            </a:r>
            <a:r>
              <a:rPr lang="pt-BR" sz="2400" b="1" dirty="0" err="1">
                <a:solidFill>
                  <a:schemeClr val="bg1"/>
                </a:solidFill>
              </a:rPr>
              <a:t>spectrum</a:t>
            </a:r>
            <a:r>
              <a:rPr lang="pt-BR" sz="2400" b="1" dirty="0">
                <a:solidFill>
                  <a:schemeClr val="bg1"/>
                </a:solidFill>
              </a:rPr>
              <a:t>). Essa técnica divide a faixa de 2,4 GHz em 79 canais de 1 MHz cada e alterna rapidamente entre eles durante a transmissão, reduzindo a interferência e melhorando a confiabilidade da comunicação. Além disso, o Bluetooth suporta diferentes taxas de transmissão de dados, dependendo da versão e do modo de operação, como a taxa de dados melhorada (EDR) introduzida no Bluetooth 2.0.</a:t>
            </a:r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A29BCABD-EE6C-D232-E4D0-59A4EC837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25124" y="2599925"/>
            <a:ext cx="604800" cy="6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59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000" t="-1000" r="-10000" b="-34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A877ED-896F-5C5D-2F69-7F7E1B985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FF1A732F-D891-1388-E28A-C351D867B1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5124" y="1580400"/>
            <a:ext cx="9741751" cy="365748"/>
          </a:xfrm>
        </p:spPr>
        <p:txBody>
          <a:bodyPr>
            <a:noAutofit/>
          </a:bodyPr>
          <a:lstStyle/>
          <a:p>
            <a:pPr algn="l"/>
            <a:r>
              <a:rPr lang="pt-BR" sz="3200" b="1" dirty="0">
                <a:solidFill>
                  <a:schemeClr val="bg1"/>
                </a:solidFill>
              </a:rPr>
              <a:t>PROTOCOLO E DINÂMICA DE COMUNICAÇÃO</a:t>
            </a:r>
          </a:p>
        </p:txBody>
      </p:sp>
      <p:cxnSp>
        <p:nvCxnSpPr>
          <p:cNvPr id="4" name="Google Shape;140;p3">
            <a:extLst>
              <a:ext uri="{FF2B5EF4-FFF2-40B4-BE49-F238E27FC236}">
                <a16:creationId xmlns:a16="http://schemas.microsoft.com/office/drawing/2014/main" id="{E5D0F422-1872-C746-418F-F2F204CFBC60}"/>
              </a:ext>
            </a:extLst>
          </p:cNvPr>
          <p:cNvCxnSpPr>
            <a:cxnSpLocks/>
          </p:cNvCxnSpPr>
          <p:nvPr/>
        </p:nvCxnSpPr>
        <p:spPr>
          <a:xfrm>
            <a:off x="1225124" y="2065867"/>
            <a:ext cx="974175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CaixaDeTexto 1">
            <a:extLst>
              <a:ext uri="{FF2B5EF4-FFF2-40B4-BE49-F238E27FC236}">
                <a16:creationId xmlns:a16="http://schemas.microsoft.com/office/drawing/2014/main" id="{95934CDD-DE20-3246-1C23-7B9D24DE0FCD}"/>
              </a:ext>
            </a:extLst>
          </p:cNvPr>
          <p:cNvSpPr txBox="1"/>
          <p:nvPr/>
        </p:nvSpPr>
        <p:spPr>
          <a:xfrm>
            <a:off x="1829924" y="2470034"/>
            <a:ext cx="913695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1"/>
                </a:solidFill>
              </a:rPr>
              <a:t>A comunicação Bluetooth é iniciada por meio de um processo de emparelhamento entre dispositivos. Um dispositivo emite uma solicitação de descoberta, e os dispositivos disponíveis respondem com informações sobre seus serviços. Uma vez que os dispositivos se identificam e concordam em estabelecer uma conexão, eles trocam chaves de segurança e configuram os parâmetros de comunicação. A comunicação é finalizada quando os dispositivos encerram a sessão de forma voluntária ou quando a conexão é perdida devido a fatores como perda de sinal ou desligamento de um dos dispositivos.</a:t>
            </a:r>
          </a:p>
        </p:txBody>
      </p:sp>
      <p:pic>
        <p:nvPicPr>
          <p:cNvPr id="7" name="Gráfico 6">
            <a:extLst>
              <a:ext uri="{FF2B5EF4-FFF2-40B4-BE49-F238E27FC236}">
                <a16:creationId xmlns:a16="http://schemas.microsoft.com/office/drawing/2014/main" id="{4EA9A76E-43C4-772F-29C7-B0DD8CC82C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25124" y="2447525"/>
            <a:ext cx="604800" cy="6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2344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1000" t="-1000" r="-10000" b="-34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824055-1773-E500-8A2D-4FC89DF05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aixaDeTexto 9">
            <a:extLst>
              <a:ext uri="{FF2B5EF4-FFF2-40B4-BE49-F238E27FC236}">
                <a16:creationId xmlns:a16="http://schemas.microsoft.com/office/drawing/2014/main" id="{EB7D93FF-7815-C1E6-37B6-2A918F46D981}"/>
              </a:ext>
            </a:extLst>
          </p:cNvPr>
          <p:cNvSpPr txBox="1"/>
          <p:nvPr/>
        </p:nvSpPr>
        <p:spPr>
          <a:xfrm>
            <a:off x="1829924" y="3480767"/>
            <a:ext cx="913695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1"/>
                </a:solidFill>
              </a:rPr>
              <a:t>Taxa de transmissão de dados: Embora tenha evoluído, a taxa de transmissão do Bluetooth é inferior à de outras tecnologias sem fio.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F5DF865-B419-83C0-432E-A390B12D2E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5124" y="1580400"/>
            <a:ext cx="9741751" cy="365748"/>
          </a:xfrm>
        </p:spPr>
        <p:txBody>
          <a:bodyPr>
            <a:noAutofit/>
          </a:bodyPr>
          <a:lstStyle/>
          <a:p>
            <a:pPr algn="l"/>
            <a:r>
              <a:rPr lang="pt-BR" sz="3200" b="1" dirty="0">
                <a:solidFill>
                  <a:schemeClr val="bg1"/>
                </a:solidFill>
              </a:rPr>
              <a:t>LIMITAÇÕES</a:t>
            </a:r>
          </a:p>
        </p:txBody>
      </p:sp>
      <p:cxnSp>
        <p:nvCxnSpPr>
          <p:cNvPr id="4" name="Google Shape;140;p3">
            <a:extLst>
              <a:ext uri="{FF2B5EF4-FFF2-40B4-BE49-F238E27FC236}">
                <a16:creationId xmlns:a16="http://schemas.microsoft.com/office/drawing/2014/main" id="{6C84B8AA-863F-89C5-ACF4-8F419590C6DC}"/>
              </a:ext>
            </a:extLst>
          </p:cNvPr>
          <p:cNvCxnSpPr>
            <a:cxnSpLocks/>
          </p:cNvCxnSpPr>
          <p:nvPr/>
        </p:nvCxnSpPr>
        <p:spPr>
          <a:xfrm>
            <a:off x="1225124" y="2065867"/>
            <a:ext cx="974175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CaixaDeTexto 1">
            <a:extLst>
              <a:ext uri="{FF2B5EF4-FFF2-40B4-BE49-F238E27FC236}">
                <a16:creationId xmlns:a16="http://schemas.microsoft.com/office/drawing/2014/main" id="{889FAABA-5C84-D0A0-A92D-0C5583433F35}"/>
              </a:ext>
            </a:extLst>
          </p:cNvPr>
          <p:cNvSpPr txBox="1"/>
          <p:nvPr/>
        </p:nvSpPr>
        <p:spPr>
          <a:xfrm>
            <a:off x="1829924" y="2470034"/>
            <a:ext cx="913695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1"/>
                </a:solidFill>
              </a:rPr>
              <a:t>Alcance limitado: Os dispositivos Bluetooth tem um alcance operacional de até 100 metros.</a:t>
            </a:r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9A275F9E-3D59-2C73-B3F8-16C64629BD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25124" y="2470034"/>
            <a:ext cx="604800" cy="6048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B261ED72-4026-9252-EA3A-F54A934F13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25124" y="3480767"/>
            <a:ext cx="604800" cy="6048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0287D34D-8E9A-371E-14CD-893F691A70C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25137" y="4491500"/>
            <a:ext cx="504000" cy="504000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B20EC894-49DE-6E00-3298-8E01089312DB}"/>
              </a:ext>
            </a:extLst>
          </p:cNvPr>
          <p:cNvSpPr txBox="1"/>
          <p:nvPr/>
        </p:nvSpPr>
        <p:spPr>
          <a:xfrm>
            <a:off x="1829924" y="4376634"/>
            <a:ext cx="913695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1"/>
                </a:solidFill>
              </a:rPr>
              <a:t>Interferência: Devido ao compartilhamento da faixa de 2,4 GHz com outras tecnologias, pode sofrer interferências que afetam a qualidade da comunicação.</a:t>
            </a:r>
          </a:p>
        </p:txBody>
      </p:sp>
    </p:spTree>
    <p:extLst>
      <p:ext uri="{BB962C8B-B14F-4D97-AF65-F5344CB8AC3E}">
        <p14:creationId xmlns:p14="http://schemas.microsoft.com/office/powerpoint/2010/main" val="25706106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27000" r="-10000" b="-450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C74D40-C60F-1711-83C0-31216BB3C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E18114D5-2321-16CC-0CD1-1F8516232C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32368" y="710889"/>
            <a:ext cx="9741751" cy="365748"/>
          </a:xfrm>
        </p:spPr>
        <p:txBody>
          <a:bodyPr>
            <a:noAutofit/>
          </a:bodyPr>
          <a:lstStyle/>
          <a:p>
            <a:pPr algn="l"/>
            <a:r>
              <a:rPr lang="pt-BR" sz="3200" b="1" dirty="0">
                <a:solidFill>
                  <a:schemeClr val="bg1"/>
                </a:solidFill>
              </a:rPr>
              <a:t>COMPONENTES PRINCIPAIS DO PROTOCOLO</a:t>
            </a:r>
          </a:p>
        </p:txBody>
      </p:sp>
      <p:cxnSp>
        <p:nvCxnSpPr>
          <p:cNvPr id="4" name="Google Shape;140;p3">
            <a:extLst>
              <a:ext uri="{FF2B5EF4-FFF2-40B4-BE49-F238E27FC236}">
                <a16:creationId xmlns:a16="http://schemas.microsoft.com/office/drawing/2014/main" id="{96C7E227-3FEE-D1E5-42A4-FA077FDC6D51}"/>
              </a:ext>
            </a:extLst>
          </p:cNvPr>
          <p:cNvCxnSpPr>
            <a:cxnSpLocks/>
          </p:cNvCxnSpPr>
          <p:nvPr/>
        </p:nvCxnSpPr>
        <p:spPr>
          <a:xfrm>
            <a:off x="1132368" y="1196356"/>
            <a:ext cx="974175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7" name="Agrupar 6">
            <a:extLst>
              <a:ext uri="{FF2B5EF4-FFF2-40B4-BE49-F238E27FC236}">
                <a16:creationId xmlns:a16="http://schemas.microsoft.com/office/drawing/2014/main" id="{9C274977-31CD-7FE1-0719-17514E72D62E}"/>
              </a:ext>
            </a:extLst>
          </p:cNvPr>
          <p:cNvGrpSpPr/>
          <p:nvPr/>
        </p:nvGrpSpPr>
        <p:grpSpPr>
          <a:xfrm>
            <a:off x="1132368" y="1556981"/>
            <a:ext cx="9741751" cy="830997"/>
            <a:chOff x="1132368" y="1604606"/>
            <a:chExt cx="9741751" cy="830997"/>
          </a:xfrm>
        </p:grpSpPr>
        <p:sp>
          <p:nvSpPr>
            <p:cNvPr id="2" name="CaixaDeTexto 1">
              <a:extLst>
                <a:ext uri="{FF2B5EF4-FFF2-40B4-BE49-F238E27FC236}">
                  <a16:creationId xmlns:a16="http://schemas.microsoft.com/office/drawing/2014/main" id="{C19660A3-362F-5D0F-47C8-84120D8AA7F8}"/>
                </a:ext>
              </a:extLst>
            </p:cNvPr>
            <p:cNvSpPr txBox="1"/>
            <p:nvPr/>
          </p:nvSpPr>
          <p:spPr>
            <a:xfrm>
              <a:off x="1737168" y="1604606"/>
              <a:ext cx="9136951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400" b="1" dirty="0">
                  <a:solidFill>
                    <a:schemeClr val="bg1"/>
                  </a:solidFill>
                </a:rPr>
                <a:t>Radio: Opera na faixa de 2,4 GHz, utilizando espalhamento espectral por salto de frequência para minimizar interferências.</a:t>
              </a:r>
            </a:p>
          </p:txBody>
        </p:sp>
        <p:pic>
          <p:nvPicPr>
            <p:cNvPr id="15" name="Gráfico 14">
              <a:extLst>
                <a:ext uri="{FF2B5EF4-FFF2-40B4-BE49-F238E27FC236}">
                  <a16:creationId xmlns:a16="http://schemas.microsoft.com/office/drawing/2014/main" id="{1B59DDDF-74E5-6CEF-B12D-0FF5F3CA02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2368" y="1610118"/>
              <a:ext cx="604800" cy="604800"/>
            </a:xfrm>
            <a:prstGeom prst="rect">
              <a:avLst/>
            </a:prstGeom>
          </p:spPr>
        </p:pic>
      </p:grpSp>
      <p:grpSp>
        <p:nvGrpSpPr>
          <p:cNvPr id="8" name="Agrupar 7">
            <a:extLst>
              <a:ext uri="{FF2B5EF4-FFF2-40B4-BE49-F238E27FC236}">
                <a16:creationId xmlns:a16="http://schemas.microsoft.com/office/drawing/2014/main" id="{73695669-E004-B20A-E56A-09192416A36E}"/>
              </a:ext>
            </a:extLst>
          </p:cNvPr>
          <p:cNvGrpSpPr/>
          <p:nvPr/>
        </p:nvGrpSpPr>
        <p:grpSpPr>
          <a:xfrm>
            <a:off x="1132368" y="2490223"/>
            <a:ext cx="9741751" cy="1203501"/>
            <a:chOff x="1132368" y="2605528"/>
            <a:chExt cx="9741751" cy="1203501"/>
          </a:xfrm>
        </p:grpSpPr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71195FD6-6029-8B49-BD8C-F521E9333308}"/>
                </a:ext>
              </a:extLst>
            </p:cNvPr>
            <p:cNvSpPr txBox="1"/>
            <p:nvPr/>
          </p:nvSpPr>
          <p:spPr>
            <a:xfrm>
              <a:off x="1737168" y="2608700"/>
              <a:ext cx="9136951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400" b="1" dirty="0" err="1">
                  <a:solidFill>
                    <a:schemeClr val="bg1"/>
                  </a:solidFill>
                </a:rPr>
                <a:t>Baseband</a:t>
              </a:r>
              <a:r>
                <a:rPr lang="pt-BR" sz="2400" b="1" dirty="0">
                  <a:solidFill>
                    <a:schemeClr val="bg1"/>
                  </a:solidFill>
                </a:rPr>
                <a:t> e LMP: Gerencia a comunicação, detecção e correção de erros. O LMP controla o estabelecimento, manutenção, finalização de conexões, gerenciar aspectos de segurança e criptografia.</a:t>
              </a:r>
            </a:p>
          </p:txBody>
        </p:sp>
        <p:pic>
          <p:nvPicPr>
            <p:cNvPr id="16" name="Gráfico 15">
              <a:extLst>
                <a:ext uri="{FF2B5EF4-FFF2-40B4-BE49-F238E27FC236}">
                  <a16:creationId xmlns:a16="http://schemas.microsoft.com/office/drawing/2014/main" id="{A1FE03D8-2792-C4D8-4F37-4811D64BEB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2368" y="2605528"/>
              <a:ext cx="604800" cy="604800"/>
            </a:xfrm>
            <a:prstGeom prst="rect">
              <a:avLst/>
            </a:prstGeom>
          </p:spPr>
        </p:pic>
      </p:grpSp>
      <p:grpSp>
        <p:nvGrpSpPr>
          <p:cNvPr id="9" name="Agrupar 8">
            <a:extLst>
              <a:ext uri="{FF2B5EF4-FFF2-40B4-BE49-F238E27FC236}">
                <a16:creationId xmlns:a16="http://schemas.microsoft.com/office/drawing/2014/main" id="{F797E1B5-EE2D-D206-B8C9-CD58528CF434}"/>
              </a:ext>
            </a:extLst>
          </p:cNvPr>
          <p:cNvGrpSpPr/>
          <p:nvPr/>
        </p:nvGrpSpPr>
        <p:grpSpPr>
          <a:xfrm>
            <a:off x="1132368" y="3795969"/>
            <a:ext cx="9927264" cy="1200329"/>
            <a:chOff x="1132368" y="3880484"/>
            <a:chExt cx="9927264" cy="1200329"/>
          </a:xfrm>
        </p:grpSpPr>
        <p:sp>
          <p:nvSpPr>
            <p:cNvPr id="10" name="CaixaDeTexto 9">
              <a:extLst>
                <a:ext uri="{FF2B5EF4-FFF2-40B4-BE49-F238E27FC236}">
                  <a16:creationId xmlns:a16="http://schemas.microsoft.com/office/drawing/2014/main" id="{2AC70CB1-3805-8776-1CD6-A593456D5606}"/>
                </a:ext>
              </a:extLst>
            </p:cNvPr>
            <p:cNvSpPr txBox="1"/>
            <p:nvPr/>
          </p:nvSpPr>
          <p:spPr>
            <a:xfrm>
              <a:off x="1737169" y="3880484"/>
              <a:ext cx="9322463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bg1"/>
                  </a:solidFill>
                </a:rPr>
                <a:t>Logical Link Control and </a:t>
              </a:r>
              <a:r>
                <a:rPr lang="en-US" sz="2400" b="1" dirty="0" err="1">
                  <a:solidFill>
                    <a:schemeClr val="bg1"/>
                  </a:solidFill>
                </a:rPr>
                <a:t>Adp</a:t>
              </a:r>
              <a:r>
                <a:rPr lang="en-US" sz="2400" b="1" dirty="0">
                  <a:solidFill>
                    <a:schemeClr val="bg1"/>
                  </a:solidFill>
                </a:rPr>
                <a:t>. Protocol (L2CAP)</a:t>
              </a:r>
            </a:p>
            <a:p>
              <a:r>
                <a:rPr lang="pt-BR" sz="2400" b="1" dirty="0">
                  <a:solidFill>
                    <a:schemeClr val="bg1"/>
                  </a:solidFill>
                </a:rPr>
                <a:t>Fornece multiplexação de múltiplas conexões lógicas entre dispositivos, segmentando e remontando pacotes de dados.</a:t>
              </a:r>
            </a:p>
          </p:txBody>
        </p:sp>
        <p:pic>
          <p:nvPicPr>
            <p:cNvPr id="17" name="Gráfico 16">
              <a:extLst>
                <a:ext uri="{FF2B5EF4-FFF2-40B4-BE49-F238E27FC236}">
                  <a16:creationId xmlns:a16="http://schemas.microsoft.com/office/drawing/2014/main" id="{2D88158B-955A-1AB8-7D62-9196FB9EBE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2368" y="3880484"/>
              <a:ext cx="604800" cy="604800"/>
            </a:xfrm>
            <a:prstGeom prst="rect">
              <a:avLst/>
            </a:prstGeom>
          </p:spPr>
        </p:pic>
      </p:grp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F65EFA1D-511B-9DB1-3F73-02B8E9B8AD3E}"/>
              </a:ext>
            </a:extLst>
          </p:cNvPr>
          <p:cNvGrpSpPr/>
          <p:nvPr/>
        </p:nvGrpSpPr>
        <p:grpSpPr>
          <a:xfrm>
            <a:off x="1132368" y="5098544"/>
            <a:ext cx="9927264" cy="1200329"/>
            <a:chOff x="1132368" y="5146169"/>
            <a:chExt cx="9927264" cy="1200329"/>
          </a:xfrm>
        </p:grpSpPr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4FCF3069-80A5-2FE8-729F-9B9DD15464B1}"/>
                </a:ext>
              </a:extLst>
            </p:cNvPr>
            <p:cNvSpPr txBox="1"/>
            <p:nvPr/>
          </p:nvSpPr>
          <p:spPr>
            <a:xfrm>
              <a:off x="1737169" y="5146169"/>
              <a:ext cx="9322463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400" b="1" dirty="0">
                  <a:solidFill>
                    <a:schemeClr val="bg1"/>
                  </a:solidFill>
                </a:rPr>
                <a:t>Service Disc. </a:t>
              </a:r>
              <a:r>
                <a:rPr lang="pt-BR" sz="2400" b="1" dirty="0" err="1">
                  <a:solidFill>
                    <a:schemeClr val="bg1"/>
                  </a:solidFill>
                </a:rPr>
                <a:t>Protocol</a:t>
              </a:r>
              <a:r>
                <a:rPr lang="pt-BR" sz="2400" b="1" dirty="0">
                  <a:solidFill>
                    <a:schemeClr val="bg1"/>
                  </a:solidFill>
                </a:rPr>
                <a:t> (SDP)</a:t>
              </a:r>
            </a:p>
            <a:p>
              <a:r>
                <a:rPr lang="pt-BR" sz="2400" b="1" dirty="0">
                  <a:solidFill>
                    <a:schemeClr val="bg1"/>
                  </a:solidFill>
                </a:rPr>
                <a:t>Permite que dispositivos descubram serviços oferecidos por outros dispositivos Bluetooth e obtenham informações sobre como utilizá-los.</a:t>
              </a:r>
            </a:p>
          </p:txBody>
        </p:sp>
        <p:pic>
          <p:nvPicPr>
            <p:cNvPr id="6" name="Gráfico 5">
              <a:extLst>
                <a:ext uri="{FF2B5EF4-FFF2-40B4-BE49-F238E27FC236}">
                  <a16:creationId xmlns:a16="http://schemas.microsoft.com/office/drawing/2014/main" id="{70A6B02E-61B9-E0B1-4375-53CEB838F9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2368" y="5146169"/>
              <a:ext cx="604800" cy="604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541951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27000" r="-10000" b="-450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06211F-A56F-116B-7B0A-54766F00F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792AD022-0536-98B8-F95A-82A9130D68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34000" y="758514"/>
            <a:ext cx="9741751" cy="365748"/>
          </a:xfrm>
        </p:spPr>
        <p:txBody>
          <a:bodyPr>
            <a:noAutofit/>
          </a:bodyPr>
          <a:lstStyle/>
          <a:p>
            <a:pPr algn="l"/>
            <a:r>
              <a:rPr lang="pt-BR" sz="3200" b="1" dirty="0">
                <a:solidFill>
                  <a:schemeClr val="bg1"/>
                </a:solidFill>
              </a:rPr>
              <a:t>COMPONENTES PRINCIPAIS DO PROTOCOLO</a:t>
            </a:r>
          </a:p>
        </p:txBody>
      </p:sp>
      <p:cxnSp>
        <p:nvCxnSpPr>
          <p:cNvPr id="4" name="Google Shape;140;p3">
            <a:extLst>
              <a:ext uri="{FF2B5EF4-FFF2-40B4-BE49-F238E27FC236}">
                <a16:creationId xmlns:a16="http://schemas.microsoft.com/office/drawing/2014/main" id="{955A2C43-2C7D-3FF7-B86E-B851E1D7DEC0}"/>
              </a:ext>
            </a:extLst>
          </p:cNvPr>
          <p:cNvCxnSpPr>
            <a:cxnSpLocks/>
          </p:cNvCxnSpPr>
          <p:nvPr/>
        </p:nvCxnSpPr>
        <p:spPr>
          <a:xfrm>
            <a:off x="1134000" y="1243981"/>
            <a:ext cx="974175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7" name="Agrupar 6">
            <a:extLst>
              <a:ext uri="{FF2B5EF4-FFF2-40B4-BE49-F238E27FC236}">
                <a16:creationId xmlns:a16="http://schemas.microsoft.com/office/drawing/2014/main" id="{FDF6CC89-3CD9-CC43-822F-CCA10661C224}"/>
              </a:ext>
            </a:extLst>
          </p:cNvPr>
          <p:cNvGrpSpPr/>
          <p:nvPr/>
        </p:nvGrpSpPr>
        <p:grpSpPr>
          <a:xfrm>
            <a:off x="1134000" y="1605600"/>
            <a:ext cx="9816319" cy="1569660"/>
            <a:chOff x="1132368" y="1604606"/>
            <a:chExt cx="9741751" cy="1569660"/>
          </a:xfrm>
        </p:grpSpPr>
        <p:sp>
          <p:nvSpPr>
            <p:cNvPr id="2" name="CaixaDeTexto 1">
              <a:extLst>
                <a:ext uri="{FF2B5EF4-FFF2-40B4-BE49-F238E27FC236}">
                  <a16:creationId xmlns:a16="http://schemas.microsoft.com/office/drawing/2014/main" id="{F7822EF8-B8C4-2105-BB04-FF5678944C84}"/>
                </a:ext>
              </a:extLst>
            </p:cNvPr>
            <p:cNvSpPr txBox="1"/>
            <p:nvPr/>
          </p:nvSpPr>
          <p:spPr>
            <a:xfrm>
              <a:off x="1737168" y="1604606"/>
              <a:ext cx="9136951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400" b="1" dirty="0">
                  <a:solidFill>
                    <a:schemeClr val="bg1"/>
                  </a:solidFill>
                </a:rPr>
                <a:t>Host </a:t>
              </a:r>
              <a:r>
                <a:rPr lang="pt-BR" sz="2400" b="1" dirty="0" err="1">
                  <a:solidFill>
                    <a:schemeClr val="bg1"/>
                  </a:solidFill>
                </a:rPr>
                <a:t>Controller</a:t>
              </a:r>
              <a:r>
                <a:rPr lang="pt-BR" sz="2400" b="1" dirty="0">
                  <a:solidFill>
                    <a:schemeClr val="bg1"/>
                  </a:solidFill>
                </a:rPr>
                <a:t> Interface (HCI): Fornece uma interface de comando entre o controlador Bluetooth e o host, permitindo a comunicação entre o software do host e o hardware Bluetooth. Facilita a troca de comandos e dados, abstraindo detalhes específicos do hardware.</a:t>
              </a:r>
            </a:p>
          </p:txBody>
        </p:sp>
        <p:pic>
          <p:nvPicPr>
            <p:cNvPr id="15" name="Gráfico 14">
              <a:extLst>
                <a:ext uri="{FF2B5EF4-FFF2-40B4-BE49-F238E27FC236}">
                  <a16:creationId xmlns:a16="http://schemas.microsoft.com/office/drawing/2014/main" id="{B6972133-5D94-6D14-8737-CEB828BE75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2368" y="1610118"/>
              <a:ext cx="604800" cy="604800"/>
            </a:xfrm>
            <a:prstGeom prst="rect">
              <a:avLst/>
            </a:prstGeom>
          </p:spPr>
        </p:pic>
      </p:grpSp>
      <p:grpSp>
        <p:nvGrpSpPr>
          <p:cNvPr id="8" name="Agrupar 7">
            <a:extLst>
              <a:ext uri="{FF2B5EF4-FFF2-40B4-BE49-F238E27FC236}">
                <a16:creationId xmlns:a16="http://schemas.microsoft.com/office/drawing/2014/main" id="{8F530D5E-3447-AB00-9132-A55F24F5B2B0}"/>
              </a:ext>
            </a:extLst>
          </p:cNvPr>
          <p:cNvGrpSpPr/>
          <p:nvPr/>
        </p:nvGrpSpPr>
        <p:grpSpPr>
          <a:xfrm>
            <a:off x="1134000" y="3528448"/>
            <a:ext cx="9816319" cy="2680828"/>
            <a:chOff x="1132368" y="2605528"/>
            <a:chExt cx="9741751" cy="2680828"/>
          </a:xfrm>
        </p:grpSpPr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EF91C8A3-0769-EFE7-BF4A-8AA93FB6AC19}"/>
                </a:ext>
              </a:extLst>
            </p:cNvPr>
            <p:cNvSpPr txBox="1"/>
            <p:nvPr/>
          </p:nvSpPr>
          <p:spPr>
            <a:xfrm>
              <a:off x="1737168" y="2608700"/>
              <a:ext cx="9136951" cy="26776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400" b="1" dirty="0">
                  <a:solidFill>
                    <a:schemeClr val="bg1"/>
                  </a:solidFill>
                </a:rPr>
                <a:t>RFCOMM (Radio Frequency Communications): Emula uma porta serial, permitindo que aplicativos utilizem comunicações seriais sobre o Bluetooth.</a:t>
              </a:r>
            </a:p>
            <a:p>
              <a:r>
                <a:rPr lang="pt-BR" sz="2400" b="1" dirty="0">
                  <a:solidFill>
                    <a:schemeClr val="bg1"/>
                  </a:solidFill>
                </a:rPr>
                <a:t>Esses componentes trabalham em conjunto para garantir que os dispositivos Bluetooth possam se comunicar de forma eficiente, segura e interoperável, atendendo a uma variedade de aplicações e serviços.</a:t>
              </a:r>
            </a:p>
          </p:txBody>
        </p:sp>
        <p:pic>
          <p:nvPicPr>
            <p:cNvPr id="16" name="Gráfico 15">
              <a:extLst>
                <a:ext uri="{FF2B5EF4-FFF2-40B4-BE49-F238E27FC236}">
                  <a16:creationId xmlns:a16="http://schemas.microsoft.com/office/drawing/2014/main" id="{A56788FE-BA7C-9966-4D90-2E5DCC2332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2368" y="2605528"/>
              <a:ext cx="604800" cy="604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13550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27000" r="-10000" b="-23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30FDC1-878F-AB59-0600-3B8A41527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áfico 20">
            <a:extLst>
              <a:ext uri="{FF2B5EF4-FFF2-40B4-BE49-F238E27FC236}">
                <a16:creationId xmlns:a16="http://schemas.microsoft.com/office/drawing/2014/main" id="{0A34D5F1-00FC-EB4D-59AA-824676299A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25124" y="2407093"/>
            <a:ext cx="604800" cy="604800"/>
          </a:xfrm>
          <a:prstGeom prst="rect">
            <a:avLst/>
          </a:prstGeom>
        </p:spPr>
      </p:pic>
      <p:sp>
        <p:nvSpPr>
          <p:cNvPr id="3" name="Subtítulo 2">
            <a:extLst>
              <a:ext uri="{FF2B5EF4-FFF2-40B4-BE49-F238E27FC236}">
                <a16:creationId xmlns:a16="http://schemas.microsoft.com/office/drawing/2014/main" id="{FAA39ED6-8B60-2B2C-3D1E-BE1542BB35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5124" y="1409439"/>
            <a:ext cx="9741751" cy="365748"/>
          </a:xfrm>
        </p:spPr>
        <p:txBody>
          <a:bodyPr>
            <a:noAutofit/>
          </a:bodyPr>
          <a:lstStyle/>
          <a:p>
            <a:pPr algn="l"/>
            <a:r>
              <a:rPr lang="pt-BR" sz="3200" b="1" dirty="0">
                <a:solidFill>
                  <a:schemeClr val="bg1"/>
                </a:solidFill>
              </a:rPr>
              <a:t>COMUNICAÇÃO ENTRE DISPOSITIVOS</a:t>
            </a:r>
          </a:p>
        </p:txBody>
      </p:sp>
      <p:cxnSp>
        <p:nvCxnSpPr>
          <p:cNvPr id="4" name="Google Shape;140;p3">
            <a:extLst>
              <a:ext uri="{FF2B5EF4-FFF2-40B4-BE49-F238E27FC236}">
                <a16:creationId xmlns:a16="http://schemas.microsoft.com/office/drawing/2014/main" id="{598B87D4-1E99-3810-273A-DACF6D3D6D36}"/>
              </a:ext>
            </a:extLst>
          </p:cNvPr>
          <p:cNvCxnSpPr>
            <a:cxnSpLocks/>
          </p:cNvCxnSpPr>
          <p:nvPr/>
        </p:nvCxnSpPr>
        <p:spPr>
          <a:xfrm>
            <a:off x="1225124" y="1894906"/>
            <a:ext cx="974175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CaixaDeTexto 1">
            <a:extLst>
              <a:ext uri="{FF2B5EF4-FFF2-40B4-BE49-F238E27FC236}">
                <a16:creationId xmlns:a16="http://schemas.microsoft.com/office/drawing/2014/main" id="{B7DF5C82-26B6-D85E-2954-A5CD0E2C7B6F}"/>
              </a:ext>
            </a:extLst>
          </p:cNvPr>
          <p:cNvSpPr txBox="1"/>
          <p:nvPr/>
        </p:nvSpPr>
        <p:spPr>
          <a:xfrm>
            <a:off x="1829924" y="2255531"/>
            <a:ext cx="9136951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1"/>
                </a:solidFill>
              </a:rPr>
              <a:t>Um dispositivo mestre pode se comunicar com até sete dispositivos escravos simultaneamente, ele controla o tráfego de dados, atribui slots de tempo para transmissão e mantém a sincronização dos dispositivos escravos.</a:t>
            </a:r>
          </a:p>
          <a:p>
            <a:endParaRPr lang="pt-BR" sz="2400" b="1" dirty="0">
              <a:solidFill>
                <a:schemeClr val="bg1"/>
              </a:solidFill>
            </a:endParaRPr>
          </a:p>
          <a:p>
            <a:r>
              <a:rPr lang="pt-BR" sz="2400" b="1" dirty="0">
                <a:solidFill>
                  <a:schemeClr val="bg1"/>
                </a:solidFill>
              </a:rPr>
              <a:t>A troca de dados ocorre por meio de pacotes transmitidos na faixa de 2,4 GHz, utilizando técnicas de salto de frequência para minimizar interferências e garantir a integridade dos dados.</a:t>
            </a:r>
          </a:p>
          <a:p>
            <a:endParaRPr lang="pt-BR" sz="2400" b="1" dirty="0">
              <a:solidFill>
                <a:schemeClr val="bg1"/>
              </a:solidFill>
            </a:endParaRPr>
          </a:p>
          <a:p>
            <a:r>
              <a:rPr lang="pt-BR" sz="2400" b="1" dirty="0">
                <a:solidFill>
                  <a:schemeClr val="bg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778447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27000" r="-10000" b="-450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09E3D6-9FAD-4B93-2254-A4C32E903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B6A554EB-E750-2E8D-72C2-8FA3E1281B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3847" y="650025"/>
            <a:ext cx="9741751" cy="365748"/>
          </a:xfrm>
        </p:spPr>
        <p:txBody>
          <a:bodyPr>
            <a:noAutofit/>
          </a:bodyPr>
          <a:lstStyle/>
          <a:p>
            <a:pPr algn="l"/>
            <a:r>
              <a:rPr lang="pt-BR" sz="3200" b="1" dirty="0">
                <a:solidFill>
                  <a:schemeClr val="bg1"/>
                </a:solidFill>
              </a:rPr>
              <a:t>DADOS COMPARTILHADOS</a:t>
            </a:r>
          </a:p>
        </p:txBody>
      </p:sp>
      <p:cxnSp>
        <p:nvCxnSpPr>
          <p:cNvPr id="4" name="Google Shape;140;p3">
            <a:extLst>
              <a:ext uri="{FF2B5EF4-FFF2-40B4-BE49-F238E27FC236}">
                <a16:creationId xmlns:a16="http://schemas.microsoft.com/office/drawing/2014/main" id="{FCC75F2B-CBF7-0496-6627-BEBF084612C2}"/>
              </a:ext>
            </a:extLst>
          </p:cNvPr>
          <p:cNvCxnSpPr>
            <a:cxnSpLocks/>
          </p:cNvCxnSpPr>
          <p:nvPr/>
        </p:nvCxnSpPr>
        <p:spPr>
          <a:xfrm>
            <a:off x="1333847" y="1135492"/>
            <a:ext cx="974175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24" name="Gráfico 23">
            <a:extLst>
              <a:ext uri="{FF2B5EF4-FFF2-40B4-BE49-F238E27FC236}">
                <a16:creationId xmlns:a16="http://schemas.microsoft.com/office/drawing/2014/main" id="{1115055F-6111-0115-674F-DF395B63DE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4867" y="1646547"/>
            <a:ext cx="604800" cy="604800"/>
          </a:xfrm>
          <a:prstGeom prst="rect">
            <a:avLst/>
          </a:prstGeom>
        </p:spPr>
      </p:pic>
      <p:sp>
        <p:nvSpPr>
          <p:cNvPr id="25" name="CaixaDeTexto 24">
            <a:extLst>
              <a:ext uri="{FF2B5EF4-FFF2-40B4-BE49-F238E27FC236}">
                <a16:creationId xmlns:a16="http://schemas.microsoft.com/office/drawing/2014/main" id="{B0954C7C-8B81-E6FD-E942-9CCF397A4B19}"/>
              </a:ext>
            </a:extLst>
          </p:cNvPr>
          <p:cNvSpPr txBox="1"/>
          <p:nvPr/>
        </p:nvSpPr>
        <p:spPr>
          <a:xfrm>
            <a:off x="1939667" y="1495347"/>
            <a:ext cx="9136951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1"/>
                </a:solidFill>
              </a:rPr>
              <a:t>Durante a comunicação via Bluetooth, os dispositivos compartilham diversos tipos de dados, dependendo dos perfis e serviços implementados. Abaixo, apresento uma descrição detalhada dos principais dados compartilhados, com base em protocolos confiáveis:</a:t>
            </a:r>
          </a:p>
          <a:p>
            <a:endParaRPr lang="pt-BR" sz="2400" b="1" dirty="0">
              <a:solidFill>
                <a:schemeClr val="bg1"/>
              </a:solidFill>
            </a:endParaRPr>
          </a:p>
          <a:p>
            <a:r>
              <a:rPr lang="pt-BR" sz="2400" b="1" dirty="0">
                <a:solidFill>
                  <a:schemeClr val="bg1"/>
                </a:solidFill>
              </a:rPr>
              <a:t>A2DP (</a:t>
            </a:r>
            <a:r>
              <a:rPr lang="pt-BR" sz="2400" b="1" dirty="0" err="1">
                <a:solidFill>
                  <a:schemeClr val="bg1"/>
                </a:solidFill>
              </a:rPr>
              <a:t>Advanced</a:t>
            </a:r>
            <a:r>
              <a:rPr lang="pt-BR" sz="2400" b="1" dirty="0">
                <a:solidFill>
                  <a:schemeClr val="bg1"/>
                </a:solidFill>
              </a:rPr>
              <a:t> </a:t>
            </a:r>
            <a:r>
              <a:rPr lang="pt-BR" sz="2400" b="1" dirty="0" err="1">
                <a:solidFill>
                  <a:schemeClr val="bg1"/>
                </a:solidFill>
              </a:rPr>
              <a:t>Audio</a:t>
            </a:r>
            <a:r>
              <a:rPr lang="pt-BR" sz="2400" b="1" dirty="0">
                <a:solidFill>
                  <a:schemeClr val="bg1"/>
                </a:solidFill>
              </a:rPr>
              <a:t> </a:t>
            </a:r>
            <a:r>
              <a:rPr lang="pt-BR" sz="2400" b="1" dirty="0" err="1">
                <a:solidFill>
                  <a:schemeClr val="bg1"/>
                </a:solidFill>
              </a:rPr>
              <a:t>Distribution</a:t>
            </a:r>
            <a:r>
              <a:rPr lang="pt-BR" sz="2400" b="1" dirty="0">
                <a:solidFill>
                  <a:schemeClr val="bg1"/>
                </a:solidFill>
              </a:rPr>
              <a:t> Profile)  </a:t>
            </a:r>
          </a:p>
          <a:p>
            <a:r>
              <a:rPr lang="pt-BR" sz="2400" b="1" dirty="0">
                <a:solidFill>
                  <a:schemeClr val="bg1"/>
                </a:solidFill>
              </a:rPr>
              <a:t>HSP (Headset Profile)</a:t>
            </a:r>
          </a:p>
          <a:p>
            <a:r>
              <a:rPr lang="pt-BR" sz="2400" b="1" dirty="0">
                <a:solidFill>
                  <a:schemeClr val="bg1"/>
                </a:solidFill>
              </a:rPr>
              <a:t>VDP (</a:t>
            </a:r>
            <a:r>
              <a:rPr lang="pt-BR" sz="2400" b="1" dirty="0" err="1">
                <a:solidFill>
                  <a:schemeClr val="bg1"/>
                </a:solidFill>
              </a:rPr>
              <a:t>Video</a:t>
            </a:r>
            <a:r>
              <a:rPr lang="pt-BR" sz="2400" b="1" dirty="0">
                <a:solidFill>
                  <a:schemeClr val="bg1"/>
                </a:solidFill>
              </a:rPr>
              <a:t> </a:t>
            </a:r>
            <a:r>
              <a:rPr lang="pt-BR" sz="2400" b="1" dirty="0" err="1">
                <a:solidFill>
                  <a:schemeClr val="bg1"/>
                </a:solidFill>
              </a:rPr>
              <a:t>Distribution</a:t>
            </a:r>
            <a:r>
              <a:rPr lang="pt-BR" sz="2400" b="1" dirty="0">
                <a:solidFill>
                  <a:schemeClr val="bg1"/>
                </a:solidFill>
              </a:rPr>
              <a:t> Profile)</a:t>
            </a:r>
          </a:p>
          <a:p>
            <a:r>
              <a:rPr lang="pt-BR" sz="2400" b="1" dirty="0">
                <a:solidFill>
                  <a:schemeClr val="bg1"/>
                </a:solidFill>
              </a:rPr>
              <a:t>AVRCP (</a:t>
            </a:r>
            <a:r>
              <a:rPr lang="pt-BR" sz="2400" b="1" dirty="0" err="1">
                <a:solidFill>
                  <a:schemeClr val="bg1"/>
                </a:solidFill>
              </a:rPr>
              <a:t>Audio</a:t>
            </a:r>
            <a:r>
              <a:rPr lang="pt-BR" sz="2400" b="1" dirty="0">
                <a:solidFill>
                  <a:schemeClr val="bg1"/>
                </a:solidFill>
              </a:rPr>
              <a:t>/</a:t>
            </a:r>
            <a:r>
              <a:rPr lang="pt-BR" sz="2400" b="1" dirty="0" err="1">
                <a:solidFill>
                  <a:schemeClr val="bg1"/>
                </a:solidFill>
              </a:rPr>
              <a:t>Video</a:t>
            </a:r>
            <a:r>
              <a:rPr lang="pt-BR" sz="2400" b="1" dirty="0">
                <a:solidFill>
                  <a:schemeClr val="bg1"/>
                </a:solidFill>
              </a:rPr>
              <a:t> Remote </a:t>
            </a:r>
            <a:r>
              <a:rPr lang="pt-BR" sz="2400" b="1" dirty="0" err="1">
                <a:solidFill>
                  <a:schemeClr val="bg1"/>
                </a:solidFill>
              </a:rPr>
              <a:t>Control</a:t>
            </a:r>
            <a:r>
              <a:rPr lang="pt-BR" sz="2400" b="1" dirty="0">
                <a:solidFill>
                  <a:schemeClr val="bg1"/>
                </a:solidFill>
              </a:rPr>
              <a:t> Profile) </a:t>
            </a:r>
          </a:p>
          <a:p>
            <a:r>
              <a:rPr lang="pt-BR" sz="2400" b="1" dirty="0">
                <a:solidFill>
                  <a:schemeClr val="bg1"/>
                </a:solidFill>
              </a:rPr>
              <a:t>OPP (</a:t>
            </a:r>
            <a:r>
              <a:rPr lang="pt-BR" sz="2400" b="1" dirty="0" err="1">
                <a:solidFill>
                  <a:schemeClr val="bg1"/>
                </a:solidFill>
              </a:rPr>
              <a:t>Object</a:t>
            </a:r>
            <a:r>
              <a:rPr lang="pt-BR" sz="2400" b="1" dirty="0">
                <a:solidFill>
                  <a:schemeClr val="bg1"/>
                </a:solidFill>
              </a:rPr>
              <a:t> </a:t>
            </a:r>
            <a:r>
              <a:rPr lang="pt-BR" sz="2400" b="1" dirty="0" err="1">
                <a:solidFill>
                  <a:schemeClr val="bg1"/>
                </a:solidFill>
              </a:rPr>
              <a:t>Push</a:t>
            </a:r>
            <a:r>
              <a:rPr lang="pt-BR" sz="2400" b="1" dirty="0">
                <a:solidFill>
                  <a:schemeClr val="bg1"/>
                </a:solidFill>
              </a:rPr>
              <a:t> Profile) e FTP (File </a:t>
            </a:r>
            <a:r>
              <a:rPr lang="pt-BR" sz="2400" b="1" dirty="0" err="1">
                <a:solidFill>
                  <a:schemeClr val="bg1"/>
                </a:solidFill>
              </a:rPr>
              <a:t>Transfer</a:t>
            </a:r>
            <a:r>
              <a:rPr lang="pt-BR" sz="2400" b="1" dirty="0">
                <a:solidFill>
                  <a:schemeClr val="bg1"/>
                </a:solidFill>
              </a:rPr>
              <a:t> Profile)</a:t>
            </a:r>
          </a:p>
          <a:p>
            <a:r>
              <a:rPr lang="en-US" sz="2400" b="1" dirty="0">
                <a:solidFill>
                  <a:schemeClr val="bg1"/>
                </a:solidFill>
              </a:rPr>
              <a:t>HID (Human Interface Device Profile) </a:t>
            </a:r>
            <a:endParaRPr lang="pt-BR" sz="2400" b="1" dirty="0">
              <a:solidFill>
                <a:schemeClr val="bg1"/>
              </a:solidFill>
            </a:endParaRPr>
          </a:p>
          <a:p>
            <a:r>
              <a:rPr lang="en-US" sz="2400" b="1" dirty="0">
                <a:solidFill>
                  <a:schemeClr val="bg1"/>
                </a:solidFill>
              </a:rPr>
              <a:t>PBAP (Phone Book Access Profile) </a:t>
            </a:r>
            <a:endParaRPr lang="pt-BR" sz="2400" b="1" dirty="0">
              <a:solidFill>
                <a:schemeClr val="bg1"/>
              </a:solidFill>
            </a:endParaRPr>
          </a:p>
          <a:p>
            <a:r>
              <a:rPr lang="pt-BR" sz="2400" b="1" dirty="0">
                <a:solidFill>
                  <a:schemeClr val="bg1"/>
                </a:solidFill>
              </a:rPr>
              <a:t>HDP (Health Device Profile) </a:t>
            </a:r>
          </a:p>
        </p:txBody>
      </p:sp>
    </p:spTree>
    <p:extLst>
      <p:ext uri="{BB962C8B-B14F-4D97-AF65-F5344CB8AC3E}">
        <p14:creationId xmlns:p14="http://schemas.microsoft.com/office/powerpoint/2010/main" val="22237001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8E9F-ABAC-1621-9816-15247BBD9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ubtítulo 2">
            <a:extLst>
              <a:ext uri="{FF2B5EF4-FFF2-40B4-BE49-F238E27FC236}">
                <a16:creationId xmlns:a16="http://schemas.microsoft.com/office/drawing/2014/main" id="{A1ADE879-1C3A-FE85-31A1-9D427950BA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3847" y="935775"/>
            <a:ext cx="9741751" cy="365748"/>
          </a:xfrm>
        </p:spPr>
        <p:txBody>
          <a:bodyPr>
            <a:noAutofit/>
          </a:bodyPr>
          <a:lstStyle/>
          <a:p>
            <a:pPr algn="l"/>
            <a:r>
              <a:rPr lang="pt-BR" sz="3200" b="1" dirty="0">
                <a:solidFill>
                  <a:schemeClr val="bg1"/>
                </a:solidFill>
              </a:rPr>
              <a:t>PADRÕES EVOLVIDOS</a:t>
            </a:r>
          </a:p>
        </p:txBody>
      </p:sp>
      <p:cxnSp>
        <p:nvCxnSpPr>
          <p:cNvPr id="17" name="Google Shape;140;p3">
            <a:extLst>
              <a:ext uri="{FF2B5EF4-FFF2-40B4-BE49-F238E27FC236}">
                <a16:creationId xmlns:a16="http://schemas.microsoft.com/office/drawing/2014/main" id="{A3FB3D16-0008-6DE3-8DA8-5E645A29D1AB}"/>
              </a:ext>
            </a:extLst>
          </p:cNvPr>
          <p:cNvCxnSpPr>
            <a:cxnSpLocks/>
          </p:cNvCxnSpPr>
          <p:nvPr/>
        </p:nvCxnSpPr>
        <p:spPr>
          <a:xfrm>
            <a:off x="1333847" y="1421242"/>
            <a:ext cx="974175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AB3F36EC-D7B2-4307-E351-E3F59C8A0CC0}"/>
              </a:ext>
            </a:extLst>
          </p:cNvPr>
          <p:cNvSpPr txBox="1"/>
          <p:nvPr/>
        </p:nvSpPr>
        <p:spPr>
          <a:xfrm>
            <a:off x="1939667" y="1781097"/>
            <a:ext cx="913695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1"/>
                </a:solidFill>
              </a:rPr>
              <a:t>O Bluetooth contém vários protocolos que foram criados especificamente para atender seus propósitos de transmissão de dados, mas também faz uso de protocolos oriundos de outras especificações técnicas e padrões. O próprio Bluetooth foi utilizado como base para a especificação do padrão IEEE 802.15.1.</a:t>
            </a:r>
          </a:p>
        </p:txBody>
      </p:sp>
      <p:pic>
        <p:nvPicPr>
          <p:cNvPr id="20" name="Gráfico 19">
            <a:extLst>
              <a:ext uri="{FF2B5EF4-FFF2-40B4-BE49-F238E27FC236}">
                <a16:creationId xmlns:a16="http://schemas.microsoft.com/office/drawing/2014/main" id="{3E3CB69A-FBF2-EF21-9DA4-DFAFF8D0B6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3847" y="1856940"/>
            <a:ext cx="604800" cy="604800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33D8C953-090C-03B1-D5CD-5EBE1F0138BB}"/>
              </a:ext>
            </a:extLst>
          </p:cNvPr>
          <p:cNvSpPr txBox="1"/>
          <p:nvPr/>
        </p:nvSpPr>
        <p:spPr>
          <a:xfrm>
            <a:off x="1939666" y="3894077"/>
            <a:ext cx="913593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1"/>
                </a:solidFill>
              </a:rPr>
              <a:t>O protocolo RFCOMM, baseado no padrão ETSI 07.10, atua na camada de transporte com a função de prover compatibilidade com o protocolo RS-232. Criando uma interface entre as comunicações baseadas em pacote (naturais do Bluetooth) com dispositivos que operem por meio de conexões seriais.</a:t>
            </a:r>
          </a:p>
        </p:txBody>
      </p:sp>
      <p:pic>
        <p:nvPicPr>
          <p:cNvPr id="24" name="Gráfico 23">
            <a:extLst>
              <a:ext uri="{FF2B5EF4-FFF2-40B4-BE49-F238E27FC236}">
                <a16:creationId xmlns:a16="http://schemas.microsoft.com/office/drawing/2014/main" id="{435A1170-8E6A-AF2F-0C39-58A2F14086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3847" y="3972889"/>
            <a:ext cx="604800" cy="6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6601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55A63F-A37C-5BFA-8450-1BDC3F7D5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ubtítulo 2">
            <a:extLst>
              <a:ext uri="{FF2B5EF4-FFF2-40B4-BE49-F238E27FC236}">
                <a16:creationId xmlns:a16="http://schemas.microsoft.com/office/drawing/2014/main" id="{6633F8A9-4E88-5918-97E3-C2B9A17010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3847" y="558405"/>
            <a:ext cx="9741751" cy="365748"/>
          </a:xfrm>
        </p:spPr>
        <p:txBody>
          <a:bodyPr>
            <a:noAutofit/>
          </a:bodyPr>
          <a:lstStyle/>
          <a:p>
            <a:pPr algn="l"/>
            <a:r>
              <a:rPr lang="pt-BR" sz="3200" b="1" dirty="0">
                <a:solidFill>
                  <a:schemeClr val="bg1"/>
                </a:solidFill>
              </a:rPr>
              <a:t>PADRÕES EVOLVIDOS</a:t>
            </a:r>
          </a:p>
        </p:txBody>
      </p:sp>
      <p:cxnSp>
        <p:nvCxnSpPr>
          <p:cNvPr id="17" name="Google Shape;140;p3">
            <a:extLst>
              <a:ext uri="{FF2B5EF4-FFF2-40B4-BE49-F238E27FC236}">
                <a16:creationId xmlns:a16="http://schemas.microsoft.com/office/drawing/2014/main" id="{4C5FB502-35E4-BAFD-255C-5B0E58DFAE15}"/>
              </a:ext>
            </a:extLst>
          </p:cNvPr>
          <p:cNvCxnSpPr>
            <a:cxnSpLocks/>
          </p:cNvCxnSpPr>
          <p:nvPr/>
        </p:nvCxnSpPr>
        <p:spPr>
          <a:xfrm>
            <a:off x="1333847" y="1043872"/>
            <a:ext cx="974175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8774D79B-D737-CC70-8CE8-223E9E178480}"/>
              </a:ext>
            </a:extLst>
          </p:cNvPr>
          <p:cNvSpPr txBox="1"/>
          <p:nvPr/>
        </p:nvSpPr>
        <p:spPr>
          <a:xfrm>
            <a:off x="1939667" y="1403727"/>
            <a:ext cx="913695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1"/>
                </a:solidFill>
              </a:rPr>
              <a:t>Sobre  o protocolo RFCOMM, dispositivos Bluetooth utilizam o protocolo PPP, definido pelo IETF RFC 1621, para permitir a transferência dos datagramas entre pares conectados dentro da </a:t>
            </a:r>
            <a:r>
              <a:rPr lang="pt-BR" sz="2400" b="1" dirty="0" err="1">
                <a:solidFill>
                  <a:schemeClr val="bg1"/>
                </a:solidFill>
              </a:rPr>
              <a:t>piconet</a:t>
            </a:r>
            <a:r>
              <a:rPr lang="pt-BR" sz="2400" b="1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E7BC4676-D192-5278-715F-B761D32759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3847" y="1480230"/>
            <a:ext cx="604800" cy="604800"/>
          </a:xfrm>
          <a:prstGeom prst="rect">
            <a:avLst/>
          </a:prstGeom>
        </p:spPr>
      </p:pic>
      <p:grpSp>
        <p:nvGrpSpPr>
          <p:cNvPr id="6" name="Agrupar 5">
            <a:extLst>
              <a:ext uri="{FF2B5EF4-FFF2-40B4-BE49-F238E27FC236}">
                <a16:creationId xmlns:a16="http://schemas.microsoft.com/office/drawing/2014/main" id="{946125B8-F5E6-DE41-BC74-2FE22ACEC1F1}"/>
              </a:ext>
            </a:extLst>
          </p:cNvPr>
          <p:cNvGrpSpPr/>
          <p:nvPr/>
        </p:nvGrpSpPr>
        <p:grpSpPr>
          <a:xfrm>
            <a:off x="1651682" y="2859317"/>
            <a:ext cx="8888637" cy="3770482"/>
            <a:chOff x="1333847" y="2973387"/>
            <a:chExt cx="8619723" cy="3656411"/>
          </a:xfrm>
        </p:grpSpPr>
        <p:grpSp>
          <p:nvGrpSpPr>
            <p:cNvPr id="7" name="Agrupar 6">
              <a:extLst>
                <a:ext uri="{FF2B5EF4-FFF2-40B4-BE49-F238E27FC236}">
                  <a16:creationId xmlns:a16="http://schemas.microsoft.com/office/drawing/2014/main" id="{62BF925A-6118-72CC-2640-0173939D3270}"/>
                </a:ext>
              </a:extLst>
            </p:cNvPr>
            <p:cNvGrpSpPr/>
            <p:nvPr/>
          </p:nvGrpSpPr>
          <p:grpSpPr>
            <a:xfrm>
              <a:off x="5121114" y="2973387"/>
              <a:ext cx="4832456" cy="3656411"/>
              <a:chOff x="3679772" y="2973387"/>
              <a:chExt cx="4832456" cy="3656411"/>
            </a:xfrm>
          </p:grpSpPr>
          <p:pic>
            <p:nvPicPr>
              <p:cNvPr id="9" name="Imagem 8">
                <a:extLst>
                  <a:ext uri="{FF2B5EF4-FFF2-40B4-BE49-F238E27FC236}">
                    <a16:creationId xmlns:a16="http://schemas.microsoft.com/office/drawing/2014/main" id="{8916C56B-238B-2E53-B5E0-9BDD8AA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 r="19659"/>
              <a:stretch>
                <a:fillRect/>
              </a:stretch>
            </p:blipFill>
            <p:spPr>
              <a:xfrm>
                <a:off x="3679772" y="2973387"/>
                <a:ext cx="4832456" cy="3656411"/>
              </a:xfrm>
              <a:prstGeom prst="rect">
                <a:avLst/>
              </a:prstGeom>
              <a:noFill/>
              <a:ln>
                <a:noFill/>
              </a:ln>
              <a:effectLst>
                <a:glow rad="12700">
                  <a:schemeClr val="bg1">
                    <a:alpha val="40000"/>
                  </a:schemeClr>
                </a:glow>
              </a:effectLst>
            </p:spPr>
          </p:pic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16F5C030-5D5E-71F9-9246-B4CC61FD3D82}"/>
                  </a:ext>
                </a:extLst>
              </p:cNvPr>
              <p:cNvSpPr txBox="1"/>
              <p:nvPr/>
            </p:nvSpPr>
            <p:spPr>
              <a:xfrm>
                <a:off x="3800217" y="5177274"/>
                <a:ext cx="2613283" cy="276999"/>
              </a:xfrm>
              <a:prstGeom prst="rect">
                <a:avLst/>
              </a:prstGeom>
              <a:noFill/>
              <a:effectLst>
                <a:outerShdw blurRad="101600" dir="4140000" algn="tl" rotWithShape="0">
                  <a:prstClr val="black"/>
                </a:outerShdw>
              </a:effectLst>
            </p:spPr>
            <p:txBody>
              <a:bodyPr wrap="square">
                <a:spAutoFit/>
              </a:bodyPr>
              <a:lstStyle/>
              <a:p>
                <a:r>
                  <a:rPr lang="pt-BR" sz="1200" b="1" dirty="0">
                    <a:solidFill>
                      <a:schemeClr val="bg1"/>
                    </a:solidFill>
                  </a:rPr>
                  <a:t>HOST CONTROLLER INTERFACE (HCI)</a:t>
                </a:r>
              </a:p>
            </p:txBody>
          </p:sp>
        </p:grp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A108556F-D7F4-BA5A-E207-A224F6600F83}"/>
                </a:ext>
              </a:extLst>
            </p:cNvPr>
            <p:cNvSpPr txBox="1"/>
            <p:nvPr/>
          </p:nvSpPr>
          <p:spPr>
            <a:xfrm>
              <a:off x="1333847" y="4201427"/>
              <a:ext cx="3185711" cy="11640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400" b="1" dirty="0">
                  <a:solidFill>
                    <a:schemeClr val="bg1"/>
                  </a:solidFill>
                </a:rPr>
                <a:t>IEEE 802.15.1 (PAN)</a:t>
              </a:r>
            </a:p>
            <a:p>
              <a:r>
                <a:rPr lang="pt-BR" sz="2400" b="1" dirty="0">
                  <a:solidFill>
                    <a:schemeClr val="bg1"/>
                  </a:solidFill>
                </a:rPr>
                <a:t>ETSI 07.10 (RFCOMM)</a:t>
              </a:r>
            </a:p>
            <a:p>
              <a:r>
                <a:rPr lang="pt-BR" sz="2400" b="1" dirty="0">
                  <a:solidFill>
                    <a:schemeClr val="bg1"/>
                  </a:solidFill>
                </a:rPr>
                <a:t>IETF 1621 (PPP)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235155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569D19-C852-D3BC-C09B-6F072592C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ubtítulo 2">
            <a:extLst>
              <a:ext uri="{FF2B5EF4-FFF2-40B4-BE49-F238E27FC236}">
                <a16:creationId xmlns:a16="http://schemas.microsoft.com/office/drawing/2014/main" id="{093A0A14-1F10-B5ED-B35D-567E328147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3847" y="1472802"/>
            <a:ext cx="9741751" cy="365748"/>
          </a:xfrm>
        </p:spPr>
        <p:txBody>
          <a:bodyPr>
            <a:noAutofit/>
          </a:bodyPr>
          <a:lstStyle/>
          <a:p>
            <a:pPr algn="l"/>
            <a:r>
              <a:rPr lang="pt-BR" sz="3200" b="1" dirty="0">
                <a:solidFill>
                  <a:schemeClr val="bg1"/>
                </a:solidFill>
              </a:rPr>
              <a:t>BLUETOOTH LOW ENERGY</a:t>
            </a:r>
          </a:p>
        </p:txBody>
      </p:sp>
      <p:cxnSp>
        <p:nvCxnSpPr>
          <p:cNvPr id="17" name="Google Shape;140;p3">
            <a:extLst>
              <a:ext uri="{FF2B5EF4-FFF2-40B4-BE49-F238E27FC236}">
                <a16:creationId xmlns:a16="http://schemas.microsoft.com/office/drawing/2014/main" id="{99028955-574A-82B7-6A34-2B99E4431B79}"/>
              </a:ext>
            </a:extLst>
          </p:cNvPr>
          <p:cNvCxnSpPr>
            <a:cxnSpLocks/>
          </p:cNvCxnSpPr>
          <p:nvPr/>
        </p:nvCxnSpPr>
        <p:spPr>
          <a:xfrm>
            <a:off x="1333847" y="1958269"/>
            <a:ext cx="974175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40" name="Agrupar 39">
            <a:extLst>
              <a:ext uri="{FF2B5EF4-FFF2-40B4-BE49-F238E27FC236}">
                <a16:creationId xmlns:a16="http://schemas.microsoft.com/office/drawing/2014/main" id="{B2635BD2-2971-304F-D57C-AFCC9D88BAB0}"/>
              </a:ext>
            </a:extLst>
          </p:cNvPr>
          <p:cNvGrpSpPr/>
          <p:nvPr/>
        </p:nvGrpSpPr>
        <p:grpSpPr>
          <a:xfrm>
            <a:off x="1333847" y="2698017"/>
            <a:ext cx="5468124" cy="2687181"/>
            <a:chOff x="3361938" y="2568170"/>
            <a:chExt cx="5468124" cy="2687181"/>
          </a:xfrm>
        </p:grpSpPr>
        <p:grpSp>
          <p:nvGrpSpPr>
            <p:cNvPr id="37" name="Agrupar 36">
              <a:extLst>
                <a:ext uri="{FF2B5EF4-FFF2-40B4-BE49-F238E27FC236}">
                  <a16:creationId xmlns:a16="http://schemas.microsoft.com/office/drawing/2014/main" id="{EF72F286-C8E9-978D-4F2D-9FC67ED32BEB}"/>
                </a:ext>
              </a:extLst>
            </p:cNvPr>
            <p:cNvGrpSpPr/>
            <p:nvPr/>
          </p:nvGrpSpPr>
          <p:grpSpPr>
            <a:xfrm>
              <a:off x="3361938" y="4650551"/>
              <a:ext cx="5468124" cy="604800"/>
              <a:chOff x="1335600" y="3997410"/>
              <a:chExt cx="5468124" cy="604800"/>
            </a:xfrm>
          </p:grpSpPr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D9A1A143-647A-8655-11AD-6134B9E49CDD}"/>
                  </a:ext>
                </a:extLst>
              </p:cNvPr>
              <p:cNvSpPr txBox="1"/>
              <p:nvPr/>
            </p:nvSpPr>
            <p:spPr>
              <a:xfrm>
                <a:off x="1941437" y="4068978"/>
                <a:ext cx="48622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2400" b="1" dirty="0">
                    <a:solidFill>
                      <a:schemeClr val="bg1"/>
                    </a:solidFill>
                  </a:rPr>
                  <a:t>Diferenças com o Bluetooth clássico</a:t>
                </a:r>
              </a:p>
            </p:txBody>
          </p:sp>
          <p:pic>
            <p:nvPicPr>
              <p:cNvPr id="25" name="Gráfico 24">
                <a:extLst>
                  <a:ext uri="{FF2B5EF4-FFF2-40B4-BE49-F238E27FC236}">
                    <a16:creationId xmlns:a16="http://schemas.microsoft.com/office/drawing/2014/main" id="{CDCA600B-8588-44DE-7D40-ED1CDA1963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335600" y="3997410"/>
                <a:ext cx="604800" cy="604800"/>
              </a:xfrm>
              <a:prstGeom prst="rect">
                <a:avLst/>
              </a:prstGeom>
            </p:spPr>
          </p:pic>
        </p:grpSp>
        <p:grpSp>
          <p:nvGrpSpPr>
            <p:cNvPr id="39" name="Agrupar 38">
              <a:extLst>
                <a:ext uri="{FF2B5EF4-FFF2-40B4-BE49-F238E27FC236}">
                  <a16:creationId xmlns:a16="http://schemas.microsoft.com/office/drawing/2014/main" id="{A21E5CB6-46D5-469E-7653-85C1CF1385E7}"/>
                </a:ext>
              </a:extLst>
            </p:cNvPr>
            <p:cNvGrpSpPr/>
            <p:nvPr/>
          </p:nvGrpSpPr>
          <p:grpSpPr>
            <a:xfrm>
              <a:off x="3361938" y="2568170"/>
              <a:ext cx="2302971" cy="604800"/>
              <a:chOff x="1335600" y="2437542"/>
              <a:chExt cx="2302971" cy="604800"/>
            </a:xfrm>
          </p:grpSpPr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DA2C61F9-E071-9066-3312-20399FB29446}"/>
                  </a:ext>
                </a:extLst>
              </p:cNvPr>
              <p:cNvSpPr txBox="1"/>
              <p:nvPr/>
            </p:nvSpPr>
            <p:spPr>
              <a:xfrm>
                <a:off x="1940400" y="2437542"/>
                <a:ext cx="169817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2400" b="1" dirty="0">
                    <a:solidFill>
                      <a:schemeClr val="bg1"/>
                    </a:solidFill>
                  </a:rPr>
                  <a:t>Origem</a:t>
                </a:r>
              </a:p>
            </p:txBody>
          </p:sp>
          <p:pic>
            <p:nvPicPr>
              <p:cNvPr id="27" name="Gráfico 26">
                <a:extLst>
                  <a:ext uri="{FF2B5EF4-FFF2-40B4-BE49-F238E27FC236}">
                    <a16:creationId xmlns:a16="http://schemas.microsoft.com/office/drawing/2014/main" id="{3C5E7062-BFE5-AAEB-BFF7-B3BDA4BFF4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335600" y="2437542"/>
                <a:ext cx="604800" cy="604800"/>
              </a:xfrm>
              <a:prstGeom prst="rect">
                <a:avLst/>
              </a:prstGeom>
            </p:spPr>
          </p:pic>
        </p:grpSp>
        <p:grpSp>
          <p:nvGrpSpPr>
            <p:cNvPr id="38" name="Agrupar 37">
              <a:extLst>
                <a:ext uri="{FF2B5EF4-FFF2-40B4-BE49-F238E27FC236}">
                  <a16:creationId xmlns:a16="http://schemas.microsoft.com/office/drawing/2014/main" id="{9E0F975A-4F6E-10FC-B608-B1572A83DD40}"/>
                </a:ext>
              </a:extLst>
            </p:cNvPr>
            <p:cNvGrpSpPr/>
            <p:nvPr/>
          </p:nvGrpSpPr>
          <p:grpSpPr>
            <a:xfrm>
              <a:off x="3361938" y="3609360"/>
              <a:ext cx="2302971" cy="604800"/>
              <a:chOff x="1335600" y="3257911"/>
              <a:chExt cx="2302971" cy="604800"/>
            </a:xfrm>
          </p:grpSpPr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2733AD23-B077-E2DC-5301-03EDFC3B568D}"/>
                  </a:ext>
                </a:extLst>
              </p:cNvPr>
              <p:cNvSpPr txBox="1"/>
              <p:nvPr/>
            </p:nvSpPr>
            <p:spPr>
              <a:xfrm>
                <a:off x="1940400" y="3329479"/>
                <a:ext cx="169817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2400" b="1" dirty="0">
                    <a:solidFill>
                      <a:schemeClr val="bg1"/>
                    </a:solidFill>
                  </a:rPr>
                  <a:t>Proposta</a:t>
                </a:r>
              </a:p>
            </p:txBody>
          </p:sp>
          <p:pic>
            <p:nvPicPr>
              <p:cNvPr id="29" name="Gráfico 28">
                <a:extLst>
                  <a:ext uri="{FF2B5EF4-FFF2-40B4-BE49-F238E27FC236}">
                    <a16:creationId xmlns:a16="http://schemas.microsoft.com/office/drawing/2014/main" id="{FCF9C8E8-A35A-6FF8-E2CD-0442E715E3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335600" y="3257911"/>
                <a:ext cx="604800" cy="6048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0251926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FEA824-1328-EDCA-B478-9D9CC4694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ubtítulo 2">
            <a:extLst>
              <a:ext uri="{FF2B5EF4-FFF2-40B4-BE49-F238E27FC236}">
                <a16:creationId xmlns:a16="http://schemas.microsoft.com/office/drawing/2014/main" id="{1BB6C190-26F2-D7E7-F35A-9BC5DD44E2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3847" y="1472802"/>
            <a:ext cx="9741751" cy="365748"/>
          </a:xfrm>
        </p:spPr>
        <p:txBody>
          <a:bodyPr>
            <a:noAutofit/>
          </a:bodyPr>
          <a:lstStyle/>
          <a:p>
            <a:pPr algn="l"/>
            <a:r>
              <a:rPr lang="pt-BR" sz="3200" b="1" dirty="0">
                <a:solidFill>
                  <a:schemeClr val="bg1"/>
                </a:solidFill>
              </a:rPr>
              <a:t>BLUETOOTH LOW ENERGY</a:t>
            </a:r>
          </a:p>
        </p:txBody>
      </p:sp>
      <p:cxnSp>
        <p:nvCxnSpPr>
          <p:cNvPr id="17" name="Google Shape;140;p3">
            <a:extLst>
              <a:ext uri="{FF2B5EF4-FFF2-40B4-BE49-F238E27FC236}">
                <a16:creationId xmlns:a16="http://schemas.microsoft.com/office/drawing/2014/main" id="{2F15AA2B-0E4F-4DE4-BC74-761419E88596}"/>
              </a:ext>
            </a:extLst>
          </p:cNvPr>
          <p:cNvCxnSpPr>
            <a:cxnSpLocks/>
          </p:cNvCxnSpPr>
          <p:nvPr/>
        </p:nvCxnSpPr>
        <p:spPr>
          <a:xfrm>
            <a:off x="1333847" y="1958269"/>
            <a:ext cx="974175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2" name="Agrupar 1">
            <a:extLst>
              <a:ext uri="{FF2B5EF4-FFF2-40B4-BE49-F238E27FC236}">
                <a16:creationId xmlns:a16="http://schemas.microsoft.com/office/drawing/2014/main" id="{A29D1C03-9766-E923-AB7F-21C93AD63F3D}"/>
              </a:ext>
            </a:extLst>
          </p:cNvPr>
          <p:cNvGrpSpPr/>
          <p:nvPr/>
        </p:nvGrpSpPr>
        <p:grpSpPr>
          <a:xfrm>
            <a:off x="1333847" y="2559975"/>
            <a:ext cx="7556593" cy="2686385"/>
            <a:chOff x="2685428" y="2852225"/>
            <a:chExt cx="7556593" cy="2686385"/>
          </a:xfrm>
        </p:grpSpPr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D7099E79-578B-C368-B1DD-313E702B582D}"/>
                </a:ext>
              </a:extLst>
            </p:cNvPr>
            <p:cNvSpPr txBox="1"/>
            <p:nvPr/>
          </p:nvSpPr>
          <p:spPr>
            <a:xfrm>
              <a:off x="3290228" y="2967335"/>
              <a:ext cx="169817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400" dirty="0">
                  <a:solidFill>
                    <a:schemeClr val="bg1"/>
                  </a:solidFill>
                </a:rPr>
                <a:t>Vantagens</a:t>
              </a:r>
            </a:p>
          </p:txBody>
        </p:sp>
        <p:grpSp>
          <p:nvGrpSpPr>
            <p:cNvPr id="36" name="Agrupar 35">
              <a:extLst>
                <a:ext uri="{FF2B5EF4-FFF2-40B4-BE49-F238E27FC236}">
                  <a16:creationId xmlns:a16="http://schemas.microsoft.com/office/drawing/2014/main" id="{1AAFA645-D8E4-C73A-D07C-BFB6D601394B}"/>
                </a:ext>
              </a:extLst>
            </p:cNvPr>
            <p:cNvGrpSpPr/>
            <p:nvPr/>
          </p:nvGrpSpPr>
          <p:grpSpPr>
            <a:xfrm>
              <a:off x="4988399" y="3389086"/>
              <a:ext cx="5253622" cy="604800"/>
              <a:chOff x="3027353" y="6088845"/>
              <a:chExt cx="5253622" cy="604800"/>
            </a:xfrm>
          </p:grpSpPr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A9BA61C0-F5C8-F987-1C13-DEBA267E0280}"/>
                  </a:ext>
                </a:extLst>
              </p:cNvPr>
              <p:cNvSpPr txBox="1"/>
              <p:nvPr/>
            </p:nvSpPr>
            <p:spPr>
              <a:xfrm>
                <a:off x="3418689" y="6145184"/>
                <a:ext cx="4862286" cy="4921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60000" lvl="0" rtl="0">
                  <a:lnSpc>
                    <a:spcPct val="115000"/>
                  </a:lnSpc>
                  <a:spcBef>
                    <a:spcPts val="850"/>
                  </a:spcBef>
                  <a:spcAft>
                    <a:spcPts val="850"/>
                  </a:spcAft>
                  <a:buSzPct val="45000"/>
                </a:pPr>
                <a:r>
                  <a:rPr lang="zxx-none" sz="2400" dirty="0">
                    <a:solidFill>
                      <a:schemeClr val="bg1"/>
                    </a:solidFill>
                  </a:rPr>
                  <a:t>Consumo de energia</a:t>
                </a:r>
              </a:p>
            </p:txBody>
          </p:sp>
          <p:pic>
            <p:nvPicPr>
              <p:cNvPr id="23" name="Gráfico 22">
                <a:extLst>
                  <a:ext uri="{FF2B5EF4-FFF2-40B4-BE49-F238E27FC236}">
                    <a16:creationId xmlns:a16="http://schemas.microsoft.com/office/drawing/2014/main" id="{06CF7EB9-A160-F757-6FF3-40DE74953D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3027353" y="6088845"/>
                <a:ext cx="604800" cy="604800"/>
              </a:xfrm>
              <a:prstGeom prst="rect">
                <a:avLst/>
              </a:prstGeom>
            </p:spPr>
          </p:pic>
        </p:grpSp>
        <p:pic>
          <p:nvPicPr>
            <p:cNvPr id="31" name="Gráfico 30">
              <a:extLst>
                <a:ext uri="{FF2B5EF4-FFF2-40B4-BE49-F238E27FC236}">
                  <a16:creationId xmlns:a16="http://schemas.microsoft.com/office/drawing/2014/main" id="{FA5F798B-BE37-354E-EDE4-912B63125E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685428" y="2852225"/>
              <a:ext cx="612000" cy="736430"/>
            </a:xfrm>
            <a:prstGeom prst="rect">
              <a:avLst/>
            </a:prstGeom>
          </p:spPr>
        </p:pic>
        <p:grpSp>
          <p:nvGrpSpPr>
            <p:cNvPr id="34" name="Agrupar 33">
              <a:extLst>
                <a:ext uri="{FF2B5EF4-FFF2-40B4-BE49-F238E27FC236}">
                  <a16:creationId xmlns:a16="http://schemas.microsoft.com/office/drawing/2014/main" id="{BD7B80CA-96DA-44F1-4B45-7BECF7325A65}"/>
                </a:ext>
              </a:extLst>
            </p:cNvPr>
            <p:cNvGrpSpPr/>
            <p:nvPr/>
          </p:nvGrpSpPr>
          <p:grpSpPr>
            <a:xfrm>
              <a:off x="5026499" y="4161448"/>
              <a:ext cx="5202687" cy="604800"/>
              <a:chOff x="3027353" y="4519731"/>
              <a:chExt cx="5202687" cy="604800"/>
            </a:xfrm>
          </p:grpSpPr>
          <p:pic>
            <p:nvPicPr>
              <p:cNvPr id="21" name="Gráfico 20">
                <a:extLst>
                  <a:ext uri="{FF2B5EF4-FFF2-40B4-BE49-F238E27FC236}">
                    <a16:creationId xmlns:a16="http://schemas.microsoft.com/office/drawing/2014/main" id="{1A09D39E-571F-D4FF-5422-1E4DFE73F3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3027353" y="4519731"/>
                <a:ext cx="604800" cy="604800"/>
              </a:xfrm>
              <a:prstGeom prst="rect">
                <a:avLst/>
              </a:prstGeom>
            </p:spPr>
          </p:pic>
          <p:sp>
            <p:nvSpPr>
              <p:cNvPr id="32" name="CaixaDeTexto 31">
                <a:extLst>
                  <a:ext uri="{FF2B5EF4-FFF2-40B4-BE49-F238E27FC236}">
                    <a16:creationId xmlns:a16="http://schemas.microsoft.com/office/drawing/2014/main" id="{0EE3753F-C86A-31A4-54B7-F6D8CC63C13A}"/>
                  </a:ext>
                </a:extLst>
              </p:cNvPr>
              <p:cNvSpPr txBox="1"/>
              <p:nvPr/>
            </p:nvSpPr>
            <p:spPr>
              <a:xfrm>
                <a:off x="3367754" y="4576070"/>
                <a:ext cx="4862286" cy="4921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60000" lvl="0" rtl="0">
                  <a:lnSpc>
                    <a:spcPct val="115000"/>
                  </a:lnSpc>
                  <a:spcBef>
                    <a:spcPts val="850"/>
                  </a:spcBef>
                  <a:spcAft>
                    <a:spcPts val="850"/>
                  </a:spcAft>
                  <a:buSzPct val="45000"/>
                </a:pPr>
                <a:r>
                  <a:rPr lang="zxx-none" sz="2400" dirty="0">
                    <a:solidFill>
                      <a:schemeClr val="bg1"/>
                    </a:solidFill>
                  </a:rPr>
                  <a:t>Velocidade de conexã</a:t>
                </a:r>
                <a:r>
                  <a:rPr lang="pt-BR" sz="2400" dirty="0">
                    <a:solidFill>
                      <a:schemeClr val="bg1"/>
                    </a:solidFill>
                  </a:rPr>
                  <a:t>o</a:t>
                </a:r>
                <a:endParaRPr lang="zxx-none" sz="2400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35" name="Agrupar 34">
              <a:extLst>
                <a:ext uri="{FF2B5EF4-FFF2-40B4-BE49-F238E27FC236}">
                  <a16:creationId xmlns:a16="http://schemas.microsoft.com/office/drawing/2014/main" id="{5358AF37-48A6-AE45-81AA-D7A74570079A}"/>
                </a:ext>
              </a:extLst>
            </p:cNvPr>
            <p:cNvGrpSpPr/>
            <p:nvPr/>
          </p:nvGrpSpPr>
          <p:grpSpPr>
            <a:xfrm>
              <a:off x="5026499" y="4933810"/>
              <a:ext cx="5202687" cy="604800"/>
              <a:chOff x="3027353" y="5413168"/>
              <a:chExt cx="5202687" cy="604800"/>
            </a:xfrm>
          </p:grpSpPr>
          <p:pic>
            <p:nvPicPr>
              <p:cNvPr id="19" name="Gráfico 18">
                <a:extLst>
                  <a:ext uri="{FF2B5EF4-FFF2-40B4-BE49-F238E27FC236}">
                    <a16:creationId xmlns:a16="http://schemas.microsoft.com/office/drawing/2014/main" id="{86EFB67C-3CCA-B8BC-F8BE-7272606A09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3027353" y="5413168"/>
                <a:ext cx="604800" cy="604800"/>
              </a:xfrm>
              <a:prstGeom prst="rect">
                <a:avLst/>
              </a:prstGeom>
            </p:spPr>
          </p:pic>
          <p:sp>
            <p:nvSpPr>
              <p:cNvPr id="33" name="CaixaDeTexto 32">
                <a:extLst>
                  <a:ext uri="{FF2B5EF4-FFF2-40B4-BE49-F238E27FC236}">
                    <a16:creationId xmlns:a16="http://schemas.microsoft.com/office/drawing/2014/main" id="{B3712CDB-A209-EDAF-B300-21056AB050F9}"/>
                  </a:ext>
                </a:extLst>
              </p:cNvPr>
              <p:cNvSpPr txBox="1"/>
              <p:nvPr/>
            </p:nvSpPr>
            <p:spPr>
              <a:xfrm>
                <a:off x="3367754" y="5469507"/>
                <a:ext cx="4862286" cy="4921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60000" lvl="0" rtl="0">
                  <a:lnSpc>
                    <a:spcPct val="115000"/>
                  </a:lnSpc>
                  <a:spcBef>
                    <a:spcPts val="850"/>
                  </a:spcBef>
                  <a:spcAft>
                    <a:spcPts val="850"/>
                  </a:spcAft>
                  <a:buSzPct val="45000"/>
                </a:pPr>
                <a:r>
                  <a:rPr lang="zxx-none" sz="2400" dirty="0">
                    <a:solidFill>
                      <a:schemeClr val="bg1"/>
                    </a:solidFill>
                  </a:rPr>
                  <a:t>Maior número de participantes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107276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722924-E4CD-F1EA-D899-7268C9A4D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ubtítulo 2">
            <a:extLst>
              <a:ext uri="{FF2B5EF4-FFF2-40B4-BE49-F238E27FC236}">
                <a16:creationId xmlns:a16="http://schemas.microsoft.com/office/drawing/2014/main" id="{2DFFAFCE-8519-038A-5CE8-A1CAA69F47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3847" y="1007856"/>
            <a:ext cx="9741751" cy="365748"/>
          </a:xfrm>
        </p:spPr>
        <p:txBody>
          <a:bodyPr>
            <a:noAutofit/>
          </a:bodyPr>
          <a:lstStyle/>
          <a:p>
            <a:pPr algn="l"/>
            <a:r>
              <a:rPr lang="pt-BR" sz="3200" b="1" dirty="0">
                <a:solidFill>
                  <a:schemeClr val="bg1"/>
                </a:solidFill>
              </a:rPr>
              <a:t>BLUETOOTH LOW ENERGY</a:t>
            </a:r>
          </a:p>
        </p:txBody>
      </p:sp>
      <p:cxnSp>
        <p:nvCxnSpPr>
          <p:cNvPr id="17" name="Google Shape;140;p3">
            <a:extLst>
              <a:ext uri="{FF2B5EF4-FFF2-40B4-BE49-F238E27FC236}">
                <a16:creationId xmlns:a16="http://schemas.microsoft.com/office/drawing/2014/main" id="{9BCFCDB4-1B34-25FB-C0EB-4697D65529A1}"/>
              </a:ext>
            </a:extLst>
          </p:cNvPr>
          <p:cNvCxnSpPr>
            <a:cxnSpLocks/>
          </p:cNvCxnSpPr>
          <p:nvPr/>
        </p:nvCxnSpPr>
        <p:spPr>
          <a:xfrm>
            <a:off x="1333847" y="1493323"/>
            <a:ext cx="974175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38" name="Agrupar 37">
            <a:extLst>
              <a:ext uri="{FF2B5EF4-FFF2-40B4-BE49-F238E27FC236}">
                <a16:creationId xmlns:a16="http://schemas.microsoft.com/office/drawing/2014/main" id="{FBA4D89F-3AB9-BEE2-B3FF-BCFA97675801}"/>
              </a:ext>
            </a:extLst>
          </p:cNvPr>
          <p:cNvGrpSpPr/>
          <p:nvPr/>
        </p:nvGrpSpPr>
        <p:grpSpPr>
          <a:xfrm>
            <a:off x="1333847" y="1933099"/>
            <a:ext cx="6778506" cy="4128598"/>
            <a:chOff x="2316337" y="2398045"/>
            <a:chExt cx="6778506" cy="4128598"/>
          </a:xfrm>
        </p:grpSpPr>
        <p:grpSp>
          <p:nvGrpSpPr>
            <p:cNvPr id="29" name="Agrupar 28">
              <a:extLst>
                <a:ext uri="{FF2B5EF4-FFF2-40B4-BE49-F238E27FC236}">
                  <a16:creationId xmlns:a16="http://schemas.microsoft.com/office/drawing/2014/main" id="{AF600545-A53A-98EC-053C-7C84FA686B25}"/>
                </a:ext>
              </a:extLst>
            </p:cNvPr>
            <p:cNvGrpSpPr/>
            <p:nvPr/>
          </p:nvGrpSpPr>
          <p:grpSpPr>
            <a:xfrm>
              <a:off x="5421167" y="2978821"/>
              <a:ext cx="3673676" cy="604800"/>
              <a:chOff x="5421167" y="2771333"/>
              <a:chExt cx="3673676" cy="604800"/>
            </a:xfrm>
          </p:grpSpPr>
          <p:sp>
            <p:nvSpPr>
              <p:cNvPr id="15" name="CaixaDeTexto 14">
                <a:extLst>
                  <a:ext uri="{FF2B5EF4-FFF2-40B4-BE49-F238E27FC236}">
                    <a16:creationId xmlns:a16="http://schemas.microsoft.com/office/drawing/2014/main" id="{CA9E07CA-88A2-6265-5185-8FFE45702883}"/>
                  </a:ext>
                </a:extLst>
              </p:cNvPr>
              <p:cNvSpPr txBox="1"/>
              <p:nvPr/>
            </p:nvSpPr>
            <p:spPr>
              <a:xfrm>
                <a:off x="5723567" y="2800230"/>
                <a:ext cx="3371276" cy="4921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60000" lvl="0" rtl="0">
                  <a:lnSpc>
                    <a:spcPct val="115000"/>
                  </a:lnSpc>
                  <a:spcBef>
                    <a:spcPts val="850"/>
                  </a:spcBef>
                  <a:spcAft>
                    <a:spcPts val="850"/>
                  </a:spcAft>
                  <a:buSzPct val="45000"/>
                </a:pPr>
                <a:r>
                  <a:rPr lang="pt-BR" sz="2400" dirty="0">
                    <a:solidFill>
                      <a:schemeClr val="bg1"/>
                    </a:solidFill>
                  </a:rPr>
                  <a:t>Entre dispositivos BLE</a:t>
                </a:r>
                <a:endParaRPr lang="zxx-none" sz="2400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6" name="Gráfico 5">
                <a:extLst>
                  <a:ext uri="{FF2B5EF4-FFF2-40B4-BE49-F238E27FC236}">
                    <a16:creationId xmlns:a16="http://schemas.microsoft.com/office/drawing/2014/main" id="{C9F51A75-F5DE-5DFE-DECB-11D6065DD9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5421167" y="2771333"/>
                <a:ext cx="604800" cy="604800"/>
              </a:xfrm>
              <a:prstGeom prst="rect">
                <a:avLst/>
              </a:prstGeom>
            </p:spPr>
          </p:pic>
        </p:grpSp>
        <p:grpSp>
          <p:nvGrpSpPr>
            <p:cNvPr id="37" name="Agrupar 36">
              <a:extLst>
                <a:ext uri="{FF2B5EF4-FFF2-40B4-BE49-F238E27FC236}">
                  <a16:creationId xmlns:a16="http://schemas.microsoft.com/office/drawing/2014/main" id="{97113339-5FBC-276E-C599-0659DC3F05AD}"/>
                </a:ext>
              </a:extLst>
            </p:cNvPr>
            <p:cNvGrpSpPr/>
            <p:nvPr/>
          </p:nvGrpSpPr>
          <p:grpSpPr>
            <a:xfrm>
              <a:off x="5408332" y="4388341"/>
              <a:ext cx="3673676" cy="604800"/>
              <a:chOff x="5408332" y="4344954"/>
              <a:chExt cx="3673676" cy="604800"/>
            </a:xfrm>
          </p:grpSpPr>
          <p:sp>
            <p:nvSpPr>
              <p:cNvPr id="33" name="CaixaDeTexto 32">
                <a:extLst>
                  <a:ext uri="{FF2B5EF4-FFF2-40B4-BE49-F238E27FC236}">
                    <a16:creationId xmlns:a16="http://schemas.microsoft.com/office/drawing/2014/main" id="{80F007DD-2F42-FCCB-A8FF-803D4A604E78}"/>
                  </a:ext>
                </a:extLst>
              </p:cNvPr>
              <p:cNvSpPr txBox="1"/>
              <p:nvPr/>
            </p:nvSpPr>
            <p:spPr>
              <a:xfrm>
                <a:off x="5710732" y="4344954"/>
                <a:ext cx="3371276" cy="4921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60000" lvl="0" rtl="0">
                  <a:lnSpc>
                    <a:spcPct val="115000"/>
                  </a:lnSpc>
                  <a:spcBef>
                    <a:spcPts val="850"/>
                  </a:spcBef>
                  <a:spcAft>
                    <a:spcPts val="850"/>
                  </a:spcAft>
                  <a:buSzPct val="45000"/>
                </a:pPr>
                <a:r>
                  <a:rPr lang="pt-BR" sz="2400" dirty="0">
                    <a:solidFill>
                      <a:schemeClr val="bg1"/>
                    </a:solidFill>
                  </a:rPr>
                  <a:t>Dual </a:t>
                </a:r>
                <a:r>
                  <a:rPr lang="pt-BR" sz="2400" dirty="0" err="1">
                    <a:solidFill>
                      <a:schemeClr val="bg1"/>
                    </a:solidFill>
                  </a:rPr>
                  <a:t>mode</a:t>
                </a:r>
                <a:endParaRPr lang="zxx-none" sz="2400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8" name="Gráfico 7">
                <a:extLst>
                  <a:ext uri="{FF2B5EF4-FFF2-40B4-BE49-F238E27FC236}">
                    <a16:creationId xmlns:a16="http://schemas.microsoft.com/office/drawing/2014/main" id="{50C05BFA-E3A7-5849-BD8E-F0B630F719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5408332" y="4344954"/>
                <a:ext cx="604800" cy="604800"/>
              </a:xfrm>
              <a:prstGeom prst="rect">
                <a:avLst/>
              </a:prstGeom>
            </p:spPr>
          </p:pic>
        </p:grpSp>
        <p:grpSp>
          <p:nvGrpSpPr>
            <p:cNvPr id="30" name="Agrupar 29">
              <a:extLst>
                <a:ext uri="{FF2B5EF4-FFF2-40B4-BE49-F238E27FC236}">
                  <a16:creationId xmlns:a16="http://schemas.microsoft.com/office/drawing/2014/main" id="{DC7334A4-373C-1096-DF43-0C3A3DC6BE3A}"/>
                </a:ext>
              </a:extLst>
            </p:cNvPr>
            <p:cNvGrpSpPr/>
            <p:nvPr/>
          </p:nvGrpSpPr>
          <p:grpSpPr>
            <a:xfrm>
              <a:off x="5421167" y="3683581"/>
              <a:ext cx="3660841" cy="604800"/>
              <a:chOff x="5421167" y="3516253"/>
              <a:chExt cx="3660841" cy="604800"/>
            </a:xfrm>
          </p:grpSpPr>
          <p:sp>
            <p:nvSpPr>
              <p:cNvPr id="32" name="CaixaDeTexto 31">
                <a:extLst>
                  <a:ext uri="{FF2B5EF4-FFF2-40B4-BE49-F238E27FC236}">
                    <a16:creationId xmlns:a16="http://schemas.microsoft.com/office/drawing/2014/main" id="{83FD48D3-FEAA-A4F8-78E3-65D71AB3381B}"/>
                  </a:ext>
                </a:extLst>
              </p:cNvPr>
              <p:cNvSpPr txBox="1"/>
              <p:nvPr/>
            </p:nvSpPr>
            <p:spPr>
              <a:xfrm>
                <a:off x="5710732" y="3572592"/>
                <a:ext cx="3371276" cy="4921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60000" lvl="0" rtl="0">
                  <a:lnSpc>
                    <a:spcPct val="115000"/>
                  </a:lnSpc>
                  <a:spcBef>
                    <a:spcPts val="850"/>
                  </a:spcBef>
                  <a:spcAft>
                    <a:spcPts val="850"/>
                  </a:spcAft>
                  <a:buSzPct val="45000"/>
                </a:pPr>
                <a:r>
                  <a:rPr lang="pt-BR" sz="2400" dirty="0">
                    <a:solidFill>
                      <a:schemeClr val="bg1"/>
                    </a:solidFill>
                  </a:rPr>
                  <a:t>Single </a:t>
                </a:r>
                <a:r>
                  <a:rPr lang="pt-BR" sz="2400" dirty="0" err="1">
                    <a:solidFill>
                      <a:schemeClr val="bg1"/>
                    </a:solidFill>
                  </a:rPr>
                  <a:t>mode</a:t>
                </a:r>
                <a:endParaRPr lang="zxx-none" sz="2400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10" name="Gráfico 9">
                <a:extLst>
                  <a:ext uri="{FF2B5EF4-FFF2-40B4-BE49-F238E27FC236}">
                    <a16:creationId xmlns:a16="http://schemas.microsoft.com/office/drawing/2014/main" id="{6194113F-97F8-ACEE-8470-6B7279214B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421167" y="3516253"/>
                <a:ext cx="604800" cy="604800"/>
              </a:xfrm>
              <a:prstGeom prst="rect">
                <a:avLst/>
              </a:prstGeom>
            </p:spPr>
          </p:pic>
        </p:grpSp>
        <p:grpSp>
          <p:nvGrpSpPr>
            <p:cNvPr id="28" name="Agrupar 27">
              <a:extLst>
                <a:ext uri="{FF2B5EF4-FFF2-40B4-BE49-F238E27FC236}">
                  <a16:creationId xmlns:a16="http://schemas.microsoft.com/office/drawing/2014/main" id="{41E3F5EF-5419-3934-773D-289CC4C61822}"/>
                </a:ext>
              </a:extLst>
            </p:cNvPr>
            <p:cNvGrpSpPr/>
            <p:nvPr/>
          </p:nvGrpSpPr>
          <p:grpSpPr>
            <a:xfrm>
              <a:off x="2319070" y="2398045"/>
              <a:ext cx="3107906" cy="604800"/>
              <a:chOff x="2319070" y="2398045"/>
              <a:chExt cx="3107906" cy="604800"/>
            </a:xfrm>
          </p:grpSpPr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1205FF61-7B1F-E867-4B3E-03A539216E74}"/>
                  </a:ext>
                </a:extLst>
              </p:cNvPr>
              <p:cNvSpPr txBox="1"/>
              <p:nvPr/>
            </p:nvSpPr>
            <p:spPr>
              <a:xfrm>
                <a:off x="2921137" y="2446124"/>
                <a:ext cx="250583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2400" dirty="0">
                    <a:solidFill>
                      <a:schemeClr val="bg1"/>
                    </a:solidFill>
                  </a:rPr>
                  <a:t>Compatibilidade</a:t>
                </a:r>
              </a:p>
            </p:txBody>
          </p:sp>
          <p:pic>
            <p:nvPicPr>
              <p:cNvPr id="12" name="Gráfico 11">
                <a:extLst>
                  <a:ext uri="{FF2B5EF4-FFF2-40B4-BE49-F238E27FC236}">
                    <a16:creationId xmlns:a16="http://schemas.microsoft.com/office/drawing/2014/main" id="{8754970C-5566-54E9-CAA5-464565DEF6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2319070" y="2398045"/>
                <a:ext cx="604800" cy="604800"/>
              </a:xfrm>
              <a:prstGeom prst="rect">
                <a:avLst/>
              </a:prstGeom>
            </p:spPr>
          </p:pic>
        </p:grpSp>
        <p:grpSp>
          <p:nvGrpSpPr>
            <p:cNvPr id="27" name="Agrupar 26">
              <a:extLst>
                <a:ext uri="{FF2B5EF4-FFF2-40B4-BE49-F238E27FC236}">
                  <a16:creationId xmlns:a16="http://schemas.microsoft.com/office/drawing/2014/main" id="{16C3458F-91E3-5D96-1E71-87580E74264E}"/>
                </a:ext>
              </a:extLst>
            </p:cNvPr>
            <p:cNvGrpSpPr/>
            <p:nvPr/>
          </p:nvGrpSpPr>
          <p:grpSpPr>
            <a:xfrm>
              <a:off x="2316337" y="5217085"/>
              <a:ext cx="3649034" cy="604800"/>
              <a:chOff x="2316337" y="5657826"/>
              <a:chExt cx="3649034" cy="604800"/>
            </a:xfrm>
          </p:grpSpPr>
          <p:sp>
            <p:nvSpPr>
              <p:cNvPr id="20" name="CaixaDeTexto 19">
                <a:extLst>
                  <a:ext uri="{FF2B5EF4-FFF2-40B4-BE49-F238E27FC236}">
                    <a16:creationId xmlns:a16="http://schemas.microsoft.com/office/drawing/2014/main" id="{FEF562DF-9BF3-6879-D05C-32983DA88879}"/>
                  </a:ext>
                </a:extLst>
              </p:cNvPr>
              <p:cNvSpPr txBox="1"/>
              <p:nvPr/>
            </p:nvSpPr>
            <p:spPr>
              <a:xfrm>
                <a:off x="2921137" y="5729394"/>
                <a:ext cx="304423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2400" dirty="0">
                    <a:solidFill>
                      <a:schemeClr val="bg1"/>
                    </a:solidFill>
                  </a:rPr>
                  <a:t>Dinâmica de conexão</a:t>
                </a:r>
              </a:p>
            </p:txBody>
          </p:sp>
          <p:pic>
            <p:nvPicPr>
              <p:cNvPr id="18" name="Gráfico 17">
                <a:extLst>
                  <a:ext uri="{FF2B5EF4-FFF2-40B4-BE49-F238E27FC236}">
                    <a16:creationId xmlns:a16="http://schemas.microsoft.com/office/drawing/2014/main" id="{DB080262-9C2F-6C77-B2D1-E9F1C04458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2316337" y="5657826"/>
                <a:ext cx="604800" cy="604800"/>
              </a:xfrm>
              <a:prstGeom prst="rect">
                <a:avLst/>
              </a:prstGeom>
            </p:spPr>
          </p:pic>
        </p:grpSp>
        <p:grpSp>
          <p:nvGrpSpPr>
            <p:cNvPr id="26" name="Agrupar 25">
              <a:extLst>
                <a:ext uri="{FF2B5EF4-FFF2-40B4-BE49-F238E27FC236}">
                  <a16:creationId xmlns:a16="http://schemas.microsoft.com/office/drawing/2014/main" id="{CC6F5BA0-7061-A823-8614-CEDFBD106E27}"/>
                </a:ext>
              </a:extLst>
            </p:cNvPr>
            <p:cNvGrpSpPr/>
            <p:nvPr/>
          </p:nvGrpSpPr>
          <p:grpSpPr>
            <a:xfrm>
              <a:off x="2316337" y="5921843"/>
              <a:ext cx="3858458" cy="604800"/>
              <a:chOff x="2316337" y="6402289"/>
              <a:chExt cx="3858458" cy="604800"/>
            </a:xfrm>
          </p:grpSpPr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C0360E89-9FD0-2009-B8AB-8ABD3A28651A}"/>
                  </a:ext>
                </a:extLst>
              </p:cNvPr>
              <p:cNvSpPr txBox="1"/>
              <p:nvPr/>
            </p:nvSpPr>
            <p:spPr>
              <a:xfrm>
                <a:off x="2921137" y="6473857"/>
                <a:ext cx="325365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2400" dirty="0">
                    <a:solidFill>
                      <a:schemeClr val="bg1"/>
                    </a:solidFill>
                  </a:rPr>
                  <a:t>Exemplos de aplicações</a:t>
                </a:r>
              </a:p>
            </p:txBody>
          </p:sp>
          <p:pic>
            <p:nvPicPr>
              <p:cNvPr id="25" name="Gráfico 24">
                <a:extLst>
                  <a:ext uri="{FF2B5EF4-FFF2-40B4-BE49-F238E27FC236}">
                    <a16:creationId xmlns:a16="http://schemas.microsoft.com/office/drawing/2014/main" id="{B34E49BA-746A-CE53-477B-2F2FE37B79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2316337" y="6402289"/>
                <a:ext cx="604800" cy="6048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9624164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899F7A-E39A-4B38-B501-A87F9F47A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ubtítulo 2">
            <a:extLst>
              <a:ext uri="{FF2B5EF4-FFF2-40B4-BE49-F238E27FC236}">
                <a16:creationId xmlns:a16="http://schemas.microsoft.com/office/drawing/2014/main" id="{58AED009-C463-3C03-3FBC-3D71B1D6E4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5125" y="558405"/>
            <a:ext cx="9850473" cy="365748"/>
          </a:xfrm>
        </p:spPr>
        <p:txBody>
          <a:bodyPr>
            <a:noAutofit/>
          </a:bodyPr>
          <a:lstStyle/>
          <a:p>
            <a:pPr algn="l"/>
            <a:r>
              <a:rPr lang="pt-BR" sz="3200" b="1" dirty="0">
                <a:solidFill>
                  <a:schemeClr val="bg1"/>
                </a:solidFill>
              </a:rPr>
              <a:t>EXEMPLOS DE APLICAÇÕES </a:t>
            </a:r>
          </a:p>
        </p:txBody>
      </p:sp>
      <p:cxnSp>
        <p:nvCxnSpPr>
          <p:cNvPr id="17" name="Google Shape;140;p3">
            <a:extLst>
              <a:ext uri="{FF2B5EF4-FFF2-40B4-BE49-F238E27FC236}">
                <a16:creationId xmlns:a16="http://schemas.microsoft.com/office/drawing/2014/main" id="{22BF85B8-76E3-CB7A-4261-1BF0079E97B9}"/>
              </a:ext>
            </a:extLst>
          </p:cNvPr>
          <p:cNvCxnSpPr>
            <a:cxnSpLocks/>
          </p:cNvCxnSpPr>
          <p:nvPr/>
        </p:nvCxnSpPr>
        <p:spPr>
          <a:xfrm>
            <a:off x="1225125" y="1043872"/>
            <a:ext cx="974175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30FC3CD4-BA1B-F0E0-E01B-0770A854885C}"/>
              </a:ext>
            </a:extLst>
          </p:cNvPr>
          <p:cNvSpPr txBox="1"/>
          <p:nvPr/>
        </p:nvSpPr>
        <p:spPr>
          <a:xfrm>
            <a:off x="4653838" y="1340160"/>
            <a:ext cx="19066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1"/>
                </a:solidFill>
              </a:rPr>
              <a:t>Apple </a:t>
            </a:r>
            <a:r>
              <a:rPr lang="pt-BR" sz="2400" b="1" dirty="0" err="1">
                <a:solidFill>
                  <a:schemeClr val="bg1"/>
                </a:solidFill>
              </a:rPr>
              <a:t>AirTag</a:t>
            </a:r>
            <a:endParaRPr lang="pt-BR" sz="2400" b="1" dirty="0">
              <a:solidFill>
                <a:schemeClr val="bg1"/>
              </a:solidFill>
            </a:endParaRP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4147BC22-E0AA-C11B-EB14-7799E3D881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1554" y="3091551"/>
            <a:ext cx="4516444" cy="3208044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B54AA7CD-7A0A-276D-A915-63CBEFCD41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6978" y="1832929"/>
            <a:ext cx="4220338" cy="1893903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D6C89F16-6AF4-7774-0D0D-C0EA45E056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382" y="3384852"/>
            <a:ext cx="4606015" cy="2986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86094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1871</TotalTime>
  <Words>974</Words>
  <Application>Microsoft Office PowerPoint</Application>
  <PresentationFormat>Widescreen</PresentationFormat>
  <Paragraphs>93</Paragraphs>
  <Slides>19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19</vt:i4>
      </vt:variant>
    </vt:vector>
  </HeadingPairs>
  <TitlesOfParts>
    <vt:vector size="25" baseType="lpstr">
      <vt:lpstr>Arial</vt:lpstr>
      <vt:lpstr>Arial Black</vt:lpstr>
      <vt:lpstr>Calibri</vt:lpstr>
      <vt:lpstr>Calibri Light</vt:lpstr>
      <vt:lpstr>Century Gothic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Vanderson da Silva</dc:creator>
  <cp:lastModifiedBy>Vanderson da Silva</cp:lastModifiedBy>
  <cp:revision>9</cp:revision>
  <dcterms:created xsi:type="dcterms:W3CDTF">2025-04-21T21:46:55Z</dcterms:created>
  <dcterms:modified xsi:type="dcterms:W3CDTF">2025-04-23T20:43:42Z</dcterms:modified>
</cp:coreProperties>
</file>