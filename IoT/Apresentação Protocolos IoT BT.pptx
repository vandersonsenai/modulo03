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6" r:id="rId5"/>
    <p:sldId id="260" r:id="rId6"/>
    <p:sldId id="267" r:id="rId7"/>
    <p:sldId id="268" r:id="rId8"/>
    <p:sldId id="261" r:id="rId9"/>
    <p:sldId id="262" r:id="rId10"/>
    <p:sldId id="264" r:id="rId11"/>
    <p:sldId id="265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413CA-5783-AF02-F8A0-98D8BAB56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CD9E1D-5B44-15E9-9383-2A0B611C9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8E5556-FD8D-8B4E-D124-537119EFD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988-0721-4BA0-80EF-3E99D62DE5AA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20E5ED-8F5A-B04D-8E52-D3380062C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D869CE-CD78-25F1-DF1C-66ACFAF3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EBBB-3A21-4E7B-A47C-0A40EFC0E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1736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5CAAEA-17A7-3A10-81B3-026273341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3598BC-161C-1825-CEDB-1BF17B699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3B335E-5BE3-2353-20F2-FEBE93AD1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988-0721-4BA0-80EF-3E99D62DE5AA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5BB25A-C3AF-DE48-E783-54C1CDDE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B72F61-5A4A-F562-ED12-541843AAB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EBBB-3A21-4E7B-A47C-0A40EFC0E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8589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EEDEE-4CF7-0909-ADB5-314C0929B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E4EF90-C045-1CF4-4A9F-0F9BDDC13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2B3FB5-64D4-D674-4179-284624091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988-0721-4BA0-80EF-3E99D62DE5AA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3067B2-3678-0AFF-687E-B1A92AC4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3AFF8A-EE5F-1233-161E-7D12BB01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EBBB-3A21-4E7B-A47C-0A40EFC0E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5656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AD593-0819-2A2E-500E-1D54B1821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3FFFF1-1095-BDAB-E8C9-F6BAF01B4C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126A3D-AA35-6145-FF9E-82D5CD945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59A557-9B44-8F69-E719-442F2935D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988-0721-4BA0-80EF-3E99D62DE5AA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C5CC19-D09C-5BAC-17C7-8149EAF6C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B47F65-DBBE-6A75-41F8-FF941FAA1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EBBB-3A21-4E7B-A47C-0A40EFC0E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99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A649A-A69C-0CBD-AE8F-CCD3C93D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27268B-7D15-EB27-F164-D9AC860A8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CD88EA-4A68-90EA-A49A-F00B58149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D2F04DD-CFD2-3AA9-E424-51DF99BFBD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BB680BB-C868-1DA1-34C2-04EBA3019F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79F0B3D-E9C8-5C18-88CC-5D2643879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988-0721-4BA0-80EF-3E99D62DE5AA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80FA7F-97AB-A59A-DD68-86084E6F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AECC9D-B83E-D056-EB5D-D9D610B0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EBBB-3A21-4E7B-A47C-0A40EFC0E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6136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89AD2-5EEC-AF3E-B7E1-83D2A30F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044486-5520-A33F-121A-B4B73F4B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988-0721-4BA0-80EF-3E99D62DE5AA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A769110-33D9-5F95-7D46-876AB9966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DD710D7-AE47-ADB8-F869-1FB052E7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EBBB-3A21-4E7B-A47C-0A40EFC0E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672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871C06F-3809-941E-E1BA-CCD3A36D0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988-0721-4BA0-80EF-3E99D62DE5AA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C1BA6C6-AC12-5173-B074-9F9BCE648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4CCA71-9F20-B872-1058-075119A60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EBBB-3A21-4E7B-A47C-0A40EFC0E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8029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7B6EB-22EC-CB73-3651-36A57191E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5787CA-31C7-1D54-7723-4157A9A07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DBC3E4-BF95-F644-00A7-86D6F136E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A37966-5F56-C8BF-EBBA-C87B42146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988-0721-4BA0-80EF-3E99D62DE5AA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DE6508-C122-DE81-6276-7ED40F413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C7938F-5FE3-D954-9435-16C6D26C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EBBB-3A21-4E7B-A47C-0A40EFC0E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12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0FF6F-4660-C920-4398-2F8B101F0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F3107C2-A1C2-A600-5C75-E5A8E339F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15E0BB-1005-CC8E-21CD-5B9A0A743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ED3A32-C67C-2ADA-D7A2-088A834EF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988-0721-4BA0-80EF-3E99D62DE5AA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6B70D3-A772-BF8B-C9F9-D4769EB4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C3F057-CD2A-CAFA-4A64-2244C58BF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EBBB-3A21-4E7B-A47C-0A40EFC0E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251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A7278-8953-4954-E869-E590735E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F9E779-4C28-FDCA-CFDE-C9EDEBFA4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3348E9-097A-A3A5-46C3-81814DEFF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988-0721-4BA0-80EF-3E99D62DE5AA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8739F6-B3AB-FC85-1EA7-4CEE2EFD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2AAC3F-40F1-E118-8F06-8A01E9951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EBBB-3A21-4E7B-A47C-0A40EFC0E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665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6E85DF-2A0E-1242-6EC7-75D623B84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A61DFA-830C-36B6-FFAE-AFA717448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218A16-DC83-1BC4-F311-B9F02B63D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988-0721-4BA0-80EF-3E99D62DE5AA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293FFB-3F58-FFD5-6454-6F33C6093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9C6325-8CB5-9DFB-11A4-A38BE018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EBBB-3A21-4E7B-A47C-0A40EFC0E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253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9A660CB-41C8-1B16-71A7-6FD8ECBC8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BC6E1B-5335-FA31-1214-586603E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3B3F1D-6492-FA1A-5233-D3F3EDD04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55988-0721-4BA0-80EF-3E99D62DE5AA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CBE32F-5624-46D9-6E27-76C581F27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7CF955-9AEE-2935-36D9-FD35EC931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8EBBB-3A21-4E7B-A47C-0A40EFC0E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390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162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2">
            <a:extLst>
              <a:ext uri="{FF2B5EF4-FFF2-40B4-BE49-F238E27FC236}">
                <a16:creationId xmlns:a16="http://schemas.microsoft.com/office/drawing/2014/main" id="{020AF74C-45AD-8EAD-69E3-4DB263F34BBF}"/>
              </a:ext>
            </a:extLst>
          </p:cNvPr>
          <p:cNvSpPr txBox="1">
            <a:spLocks/>
          </p:cNvSpPr>
          <p:nvPr/>
        </p:nvSpPr>
        <p:spPr>
          <a:xfrm>
            <a:off x="1225124" y="1579087"/>
            <a:ext cx="9741751" cy="3657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200" b="1" dirty="0">
                <a:solidFill>
                  <a:schemeClr val="bg1"/>
                </a:solidFill>
              </a:rPr>
              <a:t>Pesquisadores</a:t>
            </a:r>
          </a:p>
        </p:txBody>
      </p:sp>
      <p:grpSp>
        <p:nvGrpSpPr>
          <p:cNvPr id="6" name="Google Shape;147;p3">
            <a:extLst>
              <a:ext uri="{FF2B5EF4-FFF2-40B4-BE49-F238E27FC236}">
                <a16:creationId xmlns:a16="http://schemas.microsoft.com/office/drawing/2014/main" id="{981297ED-2E58-FBFC-5A62-D4D5321C7F70}"/>
              </a:ext>
            </a:extLst>
          </p:cNvPr>
          <p:cNvGrpSpPr/>
          <p:nvPr/>
        </p:nvGrpSpPr>
        <p:grpSpPr>
          <a:xfrm>
            <a:off x="8476017" y="2642096"/>
            <a:ext cx="2089200" cy="2605065"/>
            <a:chOff x="9372270" y="3693658"/>
            <a:chExt cx="1474871" cy="1839046"/>
          </a:xfrm>
        </p:grpSpPr>
        <p:sp>
          <p:nvSpPr>
            <p:cNvPr id="7" name="Google Shape;148;p3">
              <a:extLst>
                <a:ext uri="{FF2B5EF4-FFF2-40B4-BE49-F238E27FC236}">
                  <a16:creationId xmlns:a16="http://schemas.microsoft.com/office/drawing/2014/main" id="{338E4823-B2D7-A7BB-3F4F-930A29D55D09}"/>
                </a:ext>
              </a:extLst>
            </p:cNvPr>
            <p:cNvSpPr txBox="1"/>
            <p:nvPr/>
          </p:nvSpPr>
          <p:spPr>
            <a:xfrm>
              <a:off x="9372272" y="5270081"/>
              <a:ext cx="1474869" cy="262623"/>
            </a:xfrm>
            <a:prstGeom prst="rect">
              <a:avLst/>
            </a:prstGeom>
            <a:noFill/>
            <a:ln>
              <a:noFill/>
            </a:ln>
            <a:effectLst>
              <a:outerShdw blurRad="38100" dist="38100" dir="2700000" sx="101000" sy="101000" algn="ctr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 Black"/>
                <a:buNone/>
              </a:pPr>
              <a:r>
                <a:rPr lang="pt-BR" sz="2000" b="1" i="0" u="none" strike="noStrike" cap="none" dirty="0">
                  <a:solidFill>
                    <a:schemeClr val="lt1"/>
                  </a:solidFill>
                  <a:latin typeface="Century Gothic" panose="020B0502020202020204" pitchFamily="34" charset="0"/>
                  <a:ea typeface="Arial Black"/>
                  <a:cs typeface="Arial Black"/>
                  <a:sym typeface="Arial Black"/>
                </a:rPr>
                <a:t>Vanderson</a:t>
              </a:r>
              <a:endParaRPr sz="1600" b="0" i="0" u="none" strike="noStrike" cap="none" dirty="0">
                <a:solidFill>
                  <a:schemeClr val="lt1"/>
                </a:solidFill>
                <a:latin typeface="Century Gothic" panose="020B0502020202020204" pitchFamily="34" charset="0"/>
                <a:ea typeface="Arial Black"/>
                <a:cs typeface="Arial Black"/>
                <a:sym typeface="Arial Black"/>
              </a:endParaRPr>
            </a:p>
          </p:txBody>
        </p:sp>
        <p:pic>
          <p:nvPicPr>
            <p:cNvPr id="8" name="Google Shape;149;p3">
              <a:extLst>
                <a:ext uri="{FF2B5EF4-FFF2-40B4-BE49-F238E27FC236}">
                  <a16:creationId xmlns:a16="http://schemas.microsoft.com/office/drawing/2014/main" id="{7CE6FB70-42D5-F3A6-08B7-627F6568152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47342" t="28779" r="15709" b="21982"/>
            <a:stretch/>
          </p:blipFill>
          <p:spPr>
            <a:xfrm>
              <a:off x="9372270" y="3693658"/>
              <a:ext cx="1474868" cy="1474868"/>
            </a:xfrm>
            <a:prstGeom prst="ellipse">
              <a:avLst/>
            </a:prstGeom>
            <a:solidFill>
              <a:srgbClr val="008B96"/>
            </a:solidFill>
            <a:ln w="63500" cap="rnd" cmpd="sng">
              <a:solidFill>
                <a:srgbClr val="008B9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0" dist="292100" dir="5400000" sx="-80000" sy="-18000" rotWithShape="0">
                <a:srgbClr val="000000">
                  <a:alpha val="21176"/>
                </a:srgbClr>
              </a:outerShdw>
            </a:effectLst>
          </p:spPr>
        </p:pic>
      </p:grpSp>
      <p:grpSp>
        <p:nvGrpSpPr>
          <p:cNvPr id="9" name="Google Shape;147;p3">
            <a:extLst>
              <a:ext uri="{FF2B5EF4-FFF2-40B4-BE49-F238E27FC236}">
                <a16:creationId xmlns:a16="http://schemas.microsoft.com/office/drawing/2014/main" id="{0F977BDC-1B65-8F78-E259-23A1885B406E}"/>
              </a:ext>
            </a:extLst>
          </p:cNvPr>
          <p:cNvGrpSpPr/>
          <p:nvPr/>
        </p:nvGrpSpPr>
        <p:grpSpPr>
          <a:xfrm>
            <a:off x="5044258" y="2480354"/>
            <a:ext cx="2103484" cy="2766807"/>
            <a:chOff x="9372272" y="3579477"/>
            <a:chExt cx="1484955" cy="1953227"/>
          </a:xfrm>
        </p:grpSpPr>
        <p:sp>
          <p:nvSpPr>
            <p:cNvPr id="10" name="Google Shape;148;p3">
              <a:extLst>
                <a:ext uri="{FF2B5EF4-FFF2-40B4-BE49-F238E27FC236}">
                  <a16:creationId xmlns:a16="http://schemas.microsoft.com/office/drawing/2014/main" id="{F0F90DF4-9CE8-D994-C6E8-6AAD9FFFF71B}"/>
                </a:ext>
              </a:extLst>
            </p:cNvPr>
            <p:cNvSpPr txBox="1"/>
            <p:nvPr/>
          </p:nvSpPr>
          <p:spPr>
            <a:xfrm>
              <a:off x="9372272" y="5270081"/>
              <a:ext cx="1474869" cy="262623"/>
            </a:xfrm>
            <a:prstGeom prst="rect">
              <a:avLst/>
            </a:prstGeom>
            <a:noFill/>
            <a:ln>
              <a:noFill/>
            </a:ln>
            <a:effectLst>
              <a:outerShdw blurRad="38100" dist="38100" dir="2700000" sx="101000" sy="101000" algn="ctr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 Black"/>
                <a:buNone/>
              </a:pPr>
              <a:r>
                <a:rPr lang="pt-BR" sz="2000" b="1" i="0" u="none" strike="noStrike" cap="none" dirty="0">
                  <a:solidFill>
                    <a:schemeClr val="lt1"/>
                  </a:solidFill>
                  <a:latin typeface="Century Gothic" panose="020B0502020202020204" pitchFamily="34" charset="0"/>
                  <a:ea typeface="Arial Black"/>
                  <a:cs typeface="Arial Black"/>
                  <a:sym typeface="Arial Black"/>
                </a:rPr>
                <a:t>Thiago</a:t>
              </a:r>
              <a:endParaRPr sz="1600" b="0" i="0" u="none" strike="noStrike" cap="none" dirty="0">
                <a:solidFill>
                  <a:schemeClr val="lt1"/>
                </a:solidFill>
                <a:latin typeface="Century Gothic" panose="020B0502020202020204" pitchFamily="34" charset="0"/>
                <a:ea typeface="Arial Black"/>
                <a:cs typeface="Arial Black"/>
                <a:sym typeface="Arial Black"/>
              </a:endParaRPr>
            </a:p>
          </p:txBody>
        </p:sp>
        <p:pic>
          <p:nvPicPr>
            <p:cNvPr id="11" name="Google Shape;149;p3">
              <a:extLst>
                <a:ext uri="{FF2B5EF4-FFF2-40B4-BE49-F238E27FC236}">
                  <a16:creationId xmlns:a16="http://schemas.microsoft.com/office/drawing/2014/main" id="{24770465-EE84-0840-E928-1C968BA8C40E}"/>
                </a:ext>
              </a:extLst>
            </p:cNvPr>
            <p:cNvPicPr preferRelativeResize="0"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84" t="6039" r="15884" b="31457"/>
            <a:stretch/>
          </p:blipFill>
          <p:spPr>
            <a:xfrm>
              <a:off x="9382359" y="3579477"/>
              <a:ext cx="1474868" cy="1474868"/>
            </a:xfrm>
            <a:prstGeom prst="ellipse">
              <a:avLst/>
            </a:prstGeom>
            <a:noFill/>
            <a:ln w="63500" cap="rnd" cmpd="sng">
              <a:solidFill>
                <a:srgbClr val="008B9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0" dist="292100" dir="5400000" sx="-80000" sy="-18000" rotWithShape="0">
                <a:srgbClr val="000000">
                  <a:alpha val="21176"/>
                </a:srgbClr>
              </a:outerShdw>
            </a:effectLst>
          </p:spPr>
        </p:pic>
      </p:grpSp>
      <p:grpSp>
        <p:nvGrpSpPr>
          <p:cNvPr id="19" name="Google Shape;147;p3">
            <a:extLst>
              <a:ext uri="{FF2B5EF4-FFF2-40B4-BE49-F238E27FC236}">
                <a16:creationId xmlns:a16="http://schemas.microsoft.com/office/drawing/2014/main" id="{F49EB336-BCEE-9B12-48E9-41275A0963BA}"/>
              </a:ext>
            </a:extLst>
          </p:cNvPr>
          <p:cNvGrpSpPr/>
          <p:nvPr/>
        </p:nvGrpSpPr>
        <p:grpSpPr>
          <a:xfrm>
            <a:off x="1612493" y="2581326"/>
            <a:ext cx="2089203" cy="2605067"/>
            <a:chOff x="9372268" y="3693657"/>
            <a:chExt cx="1474873" cy="1839047"/>
          </a:xfrm>
        </p:grpSpPr>
        <p:sp>
          <p:nvSpPr>
            <p:cNvPr id="20" name="Google Shape;148;p3">
              <a:extLst>
                <a:ext uri="{FF2B5EF4-FFF2-40B4-BE49-F238E27FC236}">
                  <a16:creationId xmlns:a16="http://schemas.microsoft.com/office/drawing/2014/main" id="{65922340-0B60-2975-45D7-D22C6CE02583}"/>
                </a:ext>
              </a:extLst>
            </p:cNvPr>
            <p:cNvSpPr txBox="1"/>
            <p:nvPr/>
          </p:nvSpPr>
          <p:spPr>
            <a:xfrm>
              <a:off x="9372272" y="5270081"/>
              <a:ext cx="1474869" cy="262623"/>
            </a:xfrm>
            <a:prstGeom prst="rect">
              <a:avLst/>
            </a:prstGeom>
            <a:noFill/>
            <a:ln>
              <a:noFill/>
            </a:ln>
            <a:effectLst>
              <a:outerShdw blurRad="38100" dist="38100" dir="2700000" sx="101000" sy="101000" algn="ctr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 Black"/>
                <a:buNone/>
              </a:pPr>
              <a:r>
                <a:rPr lang="pt-BR" sz="2000" b="1" i="0" u="none" strike="noStrike" cap="none" dirty="0">
                  <a:solidFill>
                    <a:schemeClr val="lt1"/>
                  </a:solidFill>
                  <a:latin typeface="Century Gothic" panose="020B0502020202020204" pitchFamily="34" charset="0"/>
                  <a:ea typeface="Arial Black"/>
                  <a:cs typeface="Arial Black"/>
                  <a:sym typeface="Arial Black"/>
                </a:rPr>
                <a:t>Kleiton</a:t>
              </a:r>
              <a:endParaRPr sz="1600" b="0" i="0" u="none" strike="noStrike" cap="none" dirty="0">
                <a:solidFill>
                  <a:schemeClr val="lt1"/>
                </a:solidFill>
                <a:latin typeface="Century Gothic" panose="020B0502020202020204" pitchFamily="34" charset="0"/>
                <a:ea typeface="Arial Black"/>
                <a:cs typeface="Arial Black"/>
                <a:sym typeface="Arial Black"/>
              </a:endParaRPr>
            </a:p>
          </p:txBody>
        </p:sp>
        <p:pic>
          <p:nvPicPr>
            <p:cNvPr id="21" name="Google Shape;149;p3">
              <a:extLst>
                <a:ext uri="{FF2B5EF4-FFF2-40B4-BE49-F238E27FC236}">
                  <a16:creationId xmlns:a16="http://schemas.microsoft.com/office/drawing/2014/main" id="{562A06F6-1348-100F-6581-8705CC091AF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47342" t="28779" r="15709" b="21982"/>
            <a:stretch/>
          </p:blipFill>
          <p:spPr>
            <a:xfrm>
              <a:off x="9372268" y="3693657"/>
              <a:ext cx="1474868" cy="1474868"/>
            </a:xfrm>
            <a:prstGeom prst="ellipse">
              <a:avLst/>
            </a:prstGeom>
            <a:solidFill>
              <a:srgbClr val="008B96"/>
            </a:solidFill>
            <a:ln w="63500" cap="rnd" cmpd="sng">
              <a:solidFill>
                <a:srgbClr val="008B9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0" dist="292100" dir="5400000" sx="-80000" sy="-18000" rotWithShape="0">
                <a:srgbClr val="000000">
                  <a:alpha val="21176"/>
                </a:srgbClr>
              </a:outerShdw>
            </a:effectLst>
          </p:spPr>
        </p:pic>
      </p:grpSp>
      <p:cxnSp>
        <p:nvCxnSpPr>
          <p:cNvPr id="4" name="Google Shape;140;p3">
            <a:extLst>
              <a:ext uri="{FF2B5EF4-FFF2-40B4-BE49-F238E27FC236}">
                <a16:creationId xmlns:a16="http://schemas.microsoft.com/office/drawing/2014/main" id="{39678F11-C910-89E4-7A5D-A3B1D0E4A631}"/>
              </a:ext>
            </a:extLst>
          </p:cNvPr>
          <p:cNvCxnSpPr>
            <a:cxnSpLocks/>
          </p:cNvCxnSpPr>
          <p:nvPr/>
        </p:nvCxnSpPr>
        <p:spPr>
          <a:xfrm>
            <a:off x="1225124" y="2065867"/>
            <a:ext cx="9741751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" name="Subtítulo 12">
            <a:extLst>
              <a:ext uri="{FF2B5EF4-FFF2-40B4-BE49-F238E27FC236}">
                <a16:creationId xmlns:a16="http://schemas.microsoft.com/office/drawing/2014/main" id="{A99F26EE-C7F7-C4A6-697A-E0D914C3A3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867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0" r="-14000" b="-3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BC126-5A74-BA17-4FED-F269CC23F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EAEA4276-2306-4169-5851-CB74CE67B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5124" y="1579087"/>
            <a:ext cx="9741600" cy="365748"/>
          </a:xfrm>
        </p:spPr>
        <p:txBody>
          <a:bodyPr>
            <a:noAutofit/>
          </a:bodyPr>
          <a:lstStyle/>
          <a:p>
            <a:pPr algn="l"/>
            <a:r>
              <a:rPr lang="pt-BR" sz="3200" b="1" dirty="0">
                <a:solidFill>
                  <a:schemeClr val="bg1"/>
                </a:solidFill>
              </a:rPr>
              <a:t>HISTÓRIA </a:t>
            </a:r>
          </a:p>
        </p:txBody>
      </p:sp>
      <p:cxnSp>
        <p:nvCxnSpPr>
          <p:cNvPr id="4" name="Google Shape;140;p3">
            <a:extLst>
              <a:ext uri="{FF2B5EF4-FFF2-40B4-BE49-F238E27FC236}">
                <a16:creationId xmlns:a16="http://schemas.microsoft.com/office/drawing/2014/main" id="{22E3870E-5FF1-B4AB-4710-0145796283F5}"/>
              </a:ext>
            </a:extLst>
          </p:cNvPr>
          <p:cNvCxnSpPr>
            <a:cxnSpLocks/>
          </p:cNvCxnSpPr>
          <p:nvPr/>
        </p:nvCxnSpPr>
        <p:spPr>
          <a:xfrm>
            <a:off x="1206074" y="2094443"/>
            <a:ext cx="9741751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611FEF83-6228-1787-5157-6AD5AC366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640" y="2679097"/>
            <a:ext cx="5677421" cy="321527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8" name="Subtítulo 2">
            <a:extLst>
              <a:ext uri="{FF2B5EF4-FFF2-40B4-BE49-F238E27FC236}">
                <a16:creationId xmlns:a16="http://schemas.microsoft.com/office/drawing/2014/main" id="{3AD3170B-EF9A-A004-72D9-B5C0FF72C17B}"/>
              </a:ext>
            </a:extLst>
          </p:cNvPr>
          <p:cNvSpPr txBox="1">
            <a:spLocks/>
          </p:cNvSpPr>
          <p:nvPr/>
        </p:nvSpPr>
        <p:spPr>
          <a:xfrm>
            <a:off x="1225124" y="2496223"/>
            <a:ext cx="3842175" cy="1732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800" b="1" dirty="0">
                <a:solidFill>
                  <a:schemeClr val="bg1"/>
                </a:solidFill>
              </a:rPr>
              <a:t>Bluetooth recebeu o nome do rei viking </a:t>
            </a:r>
            <a:r>
              <a:rPr lang="pt-BR" sz="2800" b="1" u="sng" dirty="0">
                <a:solidFill>
                  <a:schemeClr val="bg1"/>
                </a:solidFill>
              </a:rPr>
              <a:t>H</a:t>
            </a:r>
            <a:r>
              <a:rPr lang="pt-BR" sz="2800" b="1" dirty="0">
                <a:solidFill>
                  <a:schemeClr val="bg1"/>
                </a:solidFill>
              </a:rPr>
              <a:t>arald "</a:t>
            </a:r>
            <a:r>
              <a:rPr lang="pt-BR" sz="2800" b="1" u="sng" dirty="0">
                <a:solidFill>
                  <a:schemeClr val="bg1"/>
                </a:solidFill>
              </a:rPr>
              <a:t>B</a:t>
            </a:r>
            <a:r>
              <a:rPr lang="pt-BR" sz="2800" b="1" dirty="0">
                <a:solidFill>
                  <a:schemeClr val="bg1"/>
                </a:solidFill>
              </a:rPr>
              <a:t>luetooth" </a:t>
            </a:r>
            <a:r>
              <a:rPr lang="pt-BR" sz="2800" b="1" dirty="0" err="1">
                <a:solidFill>
                  <a:schemeClr val="bg1"/>
                </a:solidFill>
              </a:rPr>
              <a:t>Gorms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22" name="Subtítulo 2">
            <a:extLst>
              <a:ext uri="{FF2B5EF4-FFF2-40B4-BE49-F238E27FC236}">
                <a16:creationId xmlns:a16="http://schemas.microsoft.com/office/drawing/2014/main" id="{0982911B-310E-A1F5-C391-FF541160630F}"/>
              </a:ext>
            </a:extLst>
          </p:cNvPr>
          <p:cNvSpPr txBox="1">
            <a:spLocks/>
          </p:cNvSpPr>
          <p:nvPr/>
        </p:nvSpPr>
        <p:spPr>
          <a:xfrm>
            <a:off x="1225124" y="4286734"/>
            <a:ext cx="3842175" cy="1732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800" b="1" dirty="0">
                <a:solidFill>
                  <a:schemeClr val="bg1"/>
                </a:solidFill>
              </a:rPr>
              <a:t>Surgiu em 1994. inicialmente para substituir cabos RS-232.</a:t>
            </a:r>
          </a:p>
          <a:p>
            <a:pPr algn="l"/>
            <a:endParaRPr lang="pt-BR" sz="2800" b="1" dirty="0">
              <a:solidFill>
                <a:schemeClr val="bg1"/>
              </a:solidFill>
            </a:endParaRPr>
          </a:p>
          <a:p>
            <a:pPr algn="l"/>
            <a:endParaRPr lang="pt-B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264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0" r="-14000" b="-3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921BEF-8691-6418-0162-F8CA025A0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aixaDeTexto 81">
            <a:extLst>
              <a:ext uri="{FF2B5EF4-FFF2-40B4-BE49-F238E27FC236}">
                <a16:creationId xmlns:a16="http://schemas.microsoft.com/office/drawing/2014/main" id="{329D0100-122C-93A4-2808-778E3E56466F}"/>
              </a:ext>
            </a:extLst>
          </p:cNvPr>
          <p:cNvSpPr txBox="1"/>
          <p:nvPr/>
        </p:nvSpPr>
        <p:spPr>
          <a:xfrm>
            <a:off x="2008981" y="3196566"/>
            <a:ext cx="86842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</a:rPr>
              <a:t>Bluetooth 4.0 (2010): destaque para o Bluetooth </a:t>
            </a:r>
            <a:r>
              <a:rPr lang="pt-BR" sz="2400" b="1" dirty="0" err="1">
                <a:solidFill>
                  <a:schemeClr val="bg1"/>
                </a:solidFill>
              </a:rPr>
              <a:t>Low</a:t>
            </a:r>
            <a:r>
              <a:rPr lang="pt-BR" sz="2400" b="1" dirty="0">
                <a:solidFill>
                  <a:schemeClr val="bg1"/>
                </a:solidFill>
              </a:rPr>
              <a:t> Energy (BLE), essencial para IoT;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1F3913-5DA1-BEC1-79F7-06CA1C780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5124" y="1579087"/>
            <a:ext cx="9741600" cy="365748"/>
          </a:xfrm>
        </p:spPr>
        <p:txBody>
          <a:bodyPr>
            <a:noAutofit/>
          </a:bodyPr>
          <a:lstStyle/>
          <a:p>
            <a:pPr algn="l"/>
            <a:r>
              <a:rPr lang="pt-BR" sz="3200" b="1" dirty="0">
                <a:solidFill>
                  <a:schemeClr val="bg1"/>
                </a:solidFill>
              </a:rPr>
              <a:t>EVOLUÇÃO</a:t>
            </a:r>
          </a:p>
        </p:txBody>
      </p:sp>
      <p:cxnSp>
        <p:nvCxnSpPr>
          <p:cNvPr id="4" name="Google Shape;140;p3">
            <a:extLst>
              <a:ext uri="{FF2B5EF4-FFF2-40B4-BE49-F238E27FC236}">
                <a16:creationId xmlns:a16="http://schemas.microsoft.com/office/drawing/2014/main" id="{A75AF05D-02D7-B30A-645A-D010EEBC74DD}"/>
              </a:ext>
            </a:extLst>
          </p:cNvPr>
          <p:cNvCxnSpPr>
            <a:cxnSpLocks/>
          </p:cNvCxnSpPr>
          <p:nvPr/>
        </p:nvCxnSpPr>
        <p:spPr>
          <a:xfrm>
            <a:off x="1206074" y="2094443"/>
            <a:ext cx="9741751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8" name="Imagem 77">
            <a:extLst>
              <a:ext uri="{FF2B5EF4-FFF2-40B4-BE49-F238E27FC236}">
                <a16:creationId xmlns:a16="http://schemas.microsoft.com/office/drawing/2014/main" id="{3A8B943F-6879-CC5F-9D73-D2886122C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529" y="2472266"/>
            <a:ext cx="457200" cy="457200"/>
          </a:xfrm>
          <a:prstGeom prst="rect">
            <a:avLst/>
          </a:prstGeom>
        </p:spPr>
      </p:pic>
      <p:sp>
        <p:nvSpPr>
          <p:cNvPr id="80" name="CaixaDeTexto 79">
            <a:extLst>
              <a:ext uri="{FF2B5EF4-FFF2-40B4-BE49-F238E27FC236}">
                <a16:creationId xmlns:a16="http://schemas.microsoft.com/office/drawing/2014/main" id="{7797426B-A308-A261-95D6-5B2C81007DA9}"/>
              </a:ext>
            </a:extLst>
          </p:cNvPr>
          <p:cNvSpPr txBox="1"/>
          <p:nvPr/>
        </p:nvSpPr>
        <p:spPr>
          <a:xfrm>
            <a:off x="2008981" y="2470034"/>
            <a:ext cx="8684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</a:rPr>
              <a:t>Bluetooth 2.0 (2004): introdução do EDR (Enhanced Data Rate);</a:t>
            </a:r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EAE22958-ACF4-B85A-43D0-A0AD45F5F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529" y="3383464"/>
            <a:ext cx="457200" cy="457200"/>
          </a:xfrm>
          <a:prstGeom prst="rect">
            <a:avLst/>
          </a:prstGeom>
        </p:spPr>
      </p:pic>
      <p:pic>
        <p:nvPicPr>
          <p:cNvPr id="83" name="Imagem 82">
            <a:extLst>
              <a:ext uri="{FF2B5EF4-FFF2-40B4-BE49-F238E27FC236}">
                <a16:creationId xmlns:a16="http://schemas.microsoft.com/office/drawing/2014/main" id="{2847315E-9936-C5AD-C0B0-91315667D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529" y="4479328"/>
            <a:ext cx="457200" cy="457200"/>
          </a:xfrm>
          <a:prstGeom prst="rect">
            <a:avLst/>
          </a:prstGeom>
        </p:spPr>
      </p:pic>
      <p:sp>
        <p:nvSpPr>
          <p:cNvPr id="84" name="CaixaDeTexto 83">
            <a:extLst>
              <a:ext uri="{FF2B5EF4-FFF2-40B4-BE49-F238E27FC236}">
                <a16:creationId xmlns:a16="http://schemas.microsoft.com/office/drawing/2014/main" id="{256687FA-0FE1-CCD8-997E-96DCD88DD186}"/>
              </a:ext>
            </a:extLst>
          </p:cNvPr>
          <p:cNvSpPr txBox="1"/>
          <p:nvPr/>
        </p:nvSpPr>
        <p:spPr>
          <a:xfrm>
            <a:off x="2008981" y="4292430"/>
            <a:ext cx="86842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</a:rPr>
              <a:t>Bluetooth 5.0 (2016): melhorias em alcance, velocidade e eficiência energética;</a:t>
            </a:r>
          </a:p>
        </p:txBody>
      </p:sp>
      <p:pic>
        <p:nvPicPr>
          <p:cNvPr id="85" name="Imagem 84">
            <a:extLst>
              <a:ext uri="{FF2B5EF4-FFF2-40B4-BE49-F238E27FC236}">
                <a16:creationId xmlns:a16="http://schemas.microsoft.com/office/drawing/2014/main" id="{EA949E1A-59EF-7730-586B-D286DB567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529" y="5575193"/>
            <a:ext cx="457200" cy="457200"/>
          </a:xfrm>
          <a:prstGeom prst="rect">
            <a:avLst/>
          </a:prstGeom>
        </p:spPr>
      </p:pic>
      <p:sp>
        <p:nvSpPr>
          <p:cNvPr id="86" name="CaixaDeTexto 85">
            <a:extLst>
              <a:ext uri="{FF2B5EF4-FFF2-40B4-BE49-F238E27FC236}">
                <a16:creationId xmlns:a16="http://schemas.microsoft.com/office/drawing/2014/main" id="{F2ECE0B2-CEA5-B9D3-DECA-2A4EB88EA961}"/>
              </a:ext>
            </a:extLst>
          </p:cNvPr>
          <p:cNvSpPr txBox="1"/>
          <p:nvPr/>
        </p:nvSpPr>
        <p:spPr>
          <a:xfrm>
            <a:off x="2008981" y="5388295"/>
            <a:ext cx="86842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</a:rPr>
              <a:t>Bluetooth 6.0 (2024): melhorias em transmissão de áudio e adição de novos serviços de localização.</a:t>
            </a:r>
          </a:p>
        </p:txBody>
      </p:sp>
    </p:spTree>
    <p:extLst>
      <p:ext uri="{BB962C8B-B14F-4D97-AF65-F5344CB8AC3E}">
        <p14:creationId xmlns:p14="http://schemas.microsoft.com/office/powerpoint/2010/main" val="253547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5000" t="-53000" r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966412-2B73-C92C-1596-EF2896CE2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>
            <a:extLst>
              <a:ext uri="{FF2B5EF4-FFF2-40B4-BE49-F238E27FC236}">
                <a16:creationId xmlns:a16="http://schemas.microsoft.com/office/drawing/2014/main" id="{811572A4-C91B-6615-754E-BEB1D9B99810}"/>
              </a:ext>
            </a:extLst>
          </p:cNvPr>
          <p:cNvSpPr txBox="1">
            <a:spLocks/>
          </p:cNvSpPr>
          <p:nvPr/>
        </p:nvSpPr>
        <p:spPr>
          <a:xfrm>
            <a:off x="1225124" y="1579087"/>
            <a:ext cx="9741600" cy="3657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200" b="1" dirty="0">
                <a:solidFill>
                  <a:schemeClr val="bg1"/>
                </a:solidFill>
              </a:rPr>
              <a:t>PROPÓSITO </a:t>
            </a:r>
          </a:p>
        </p:txBody>
      </p:sp>
      <p:cxnSp>
        <p:nvCxnSpPr>
          <p:cNvPr id="4" name="Google Shape;140;p3">
            <a:extLst>
              <a:ext uri="{FF2B5EF4-FFF2-40B4-BE49-F238E27FC236}">
                <a16:creationId xmlns:a16="http://schemas.microsoft.com/office/drawing/2014/main" id="{0F5A1810-9C51-019E-1232-86E24FE84377}"/>
              </a:ext>
            </a:extLst>
          </p:cNvPr>
          <p:cNvCxnSpPr>
            <a:cxnSpLocks/>
          </p:cNvCxnSpPr>
          <p:nvPr/>
        </p:nvCxnSpPr>
        <p:spPr>
          <a:xfrm>
            <a:off x="1225124" y="2065867"/>
            <a:ext cx="9741751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Subtítulo 5">
            <a:extLst>
              <a:ext uri="{FF2B5EF4-FFF2-40B4-BE49-F238E27FC236}">
                <a16:creationId xmlns:a16="http://schemas.microsoft.com/office/drawing/2014/main" id="{33264038-6340-41A6-BA38-9277796A8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3941" y="2747397"/>
            <a:ext cx="8577943" cy="495298"/>
          </a:xfrm>
        </p:spPr>
        <p:txBody>
          <a:bodyPr/>
          <a:lstStyle/>
          <a:p>
            <a:pPr algn="l"/>
            <a:r>
              <a:rPr lang="pt-BR" dirty="0">
                <a:solidFill>
                  <a:schemeClr val="bg1"/>
                </a:solidFill>
              </a:rPr>
              <a:t>Conectar dispositivos sem a necessidade de fios a curta distância</a:t>
            </a:r>
          </a:p>
        </p:txBody>
      </p:sp>
      <p:pic>
        <p:nvPicPr>
          <p:cNvPr id="87" name="Gráfico 86">
            <a:extLst>
              <a:ext uri="{FF2B5EF4-FFF2-40B4-BE49-F238E27FC236}">
                <a16:creationId xmlns:a16="http://schemas.microsoft.com/office/drawing/2014/main" id="{316AA69C-7520-000F-2DA8-BB87C45EF6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6350" y="2747396"/>
            <a:ext cx="495300" cy="49530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775047F-EC36-8792-F6AB-8C2D1BEF3B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6350" y="3615305"/>
            <a:ext cx="496800" cy="496800"/>
          </a:xfrm>
          <a:prstGeom prst="rect">
            <a:avLst/>
          </a:prstGeom>
        </p:spPr>
      </p:pic>
      <p:sp>
        <p:nvSpPr>
          <p:cNvPr id="11" name="Subtítulo 5">
            <a:extLst>
              <a:ext uri="{FF2B5EF4-FFF2-40B4-BE49-F238E27FC236}">
                <a16:creationId xmlns:a16="http://schemas.microsoft.com/office/drawing/2014/main" id="{C61A069D-EEA4-C49D-2875-01D9ADE616E0}"/>
              </a:ext>
            </a:extLst>
          </p:cNvPr>
          <p:cNvSpPr txBox="1">
            <a:spLocks/>
          </p:cNvSpPr>
          <p:nvPr/>
        </p:nvSpPr>
        <p:spPr>
          <a:xfrm>
            <a:off x="1973941" y="3616056"/>
            <a:ext cx="8577943" cy="495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dirty="0">
                <a:solidFill>
                  <a:schemeClr val="bg1"/>
                </a:solidFill>
              </a:rPr>
              <a:t>Baixo consumo de energia </a:t>
            </a:r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D0A31CB8-46E9-1E63-E6CD-AF2DAEA7BC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6350" y="4489733"/>
            <a:ext cx="604800" cy="604800"/>
          </a:xfrm>
          <a:prstGeom prst="rect">
            <a:avLst/>
          </a:prstGeom>
        </p:spPr>
      </p:pic>
      <p:sp>
        <p:nvSpPr>
          <p:cNvPr id="14" name="Subtítulo 5">
            <a:extLst>
              <a:ext uri="{FF2B5EF4-FFF2-40B4-BE49-F238E27FC236}">
                <a16:creationId xmlns:a16="http://schemas.microsoft.com/office/drawing/2014/main" id="{133A5946-8379-59EE-4051-2F93EA91D186}"/>
              </a:ext>
            </a:extLst>
          </p:cNvPr>
          <p:cNvSpPr txBox="1">
            <a:spLocks/>
          </p:cNvSpPr>
          <p:nvPr/>
        </p:nvSpPr>
        <p:spPr>
          <a:xfrm>
            <a:off x="1973941" y="4544484"/>
            <a:ext cx="8341634" cy="495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dirty="0">
                <a:solidFill>
                  <a:schemeClr val="bg1"/>
                </a:solidFill>
              </a:rPr>
              <a:t>Baixo custo e simples.</a:t>
            </a:r>
          </a:p>
        </p:txBody>
      </p:sp>
    </p:spTree>
    <p:extLst>
      <p:ext uri="{BB962C8B-B14F-4D97-AF65-F5344CB8AC3E}">
        <p14:creationId xmlns:p14="http://schemas.microsoft.com/office/powerpoint/2010/main" val="1477652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5000" t="-53000" r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D1229-3C9B-EC5C-B70C-16A06D684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>
            <a:extLst>
              <a:ext uri="{FF2B5EF4-FFF2-40B4-BE49-F238E27FC236}">
                <a16:creationId xmlns:a16="http://schemas.microsoft.com/office/drawing/2014/main" id="{1C7EBD55-388C-F31D-7BEE-2CC101A5CA61}"/>
              </a:ext>
            </a:extLst>
          </p:cNvPr>
          <p:cNvSpPr txBox="1">
            <a:spLocks/>
          </p:cNvSpPr>
          <p:nvPr/>
        </p:nvSpPr>
        <p:spPr>
          <a:xfrm>
            <a:off x="1225124" y="1579087"/>
            <a:ext cx="9741600" cy="3657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200" b="1" dirty="0">
                <a:solidFill>
                  <a:schemeClr val="bg1"/>
                </a:solidFill>
              </a:rPr>
              <a:t>APLICAÇÕES </a:t>
            </a:r>
          </a:p>
        </p:txBody>
      </p:sp>
      <p:cxnSp>
        <p:nvCxnSpPr>
          <p:cNvPr id="4" name="Google Shape;140;p3">
            <a:extLst>
              <a:ext uri="{FF2B5EF4-FFF2-40B4-BE49-F238E27FC236}">
                <a16:creationId xmlns:a16="http://schemas.microsoft.com/office/drawing/2014/main" id="{F29FC244-6247-48FA-BE2E-668C27807247}"/>
              </a:ext>
            </a:extLst>
          </p:cNvPr>
          <p:cNvCxnSpPr>
            <a:cxnSpLocks/>
          </p:cNvCxnSpPr>
          <p:nvPr/>
        </p:nvCxnSpPr>
        <p:spPr>
          <a:xfrm>
            <a:off x="1225124" y="2065867"/>
            <a:ext cx="9741751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Subtítulo 5">
            <a:extLst>
              <a:ext uri="{FF2B5EF4-FFF2-40B4-BE49-F238E27FC236}">
                <a16:creationId xmlns:a16="http://schemas.microsoft.com/office/drawing/2014/main" id="{003DB5E6-5C4C-DA81-3DC4-A09BA9163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3942" y="2747397"/>
            <a:ext cx="8577943" cy="495298"/>
          </a:xfrm>
        </p:spPr>
        <p:txBody>
          <a:bodyPr/>
          <a:lstStyle/>
          <a:p>
            <a:pPr algn="l"/>
            <a:r>
              <a:rPr lang="pt-BR" dirty="0">
                <a:solidFill>
                  <a:schemeClr val="bg1"/>
                </a:solidFill>
              </a:rPr>
              <a:t>Fones de ouvido, caixas de som, teclados e mouses sem fio;</a:t>
            </a:r>
          </a:p>
        </p:txBody>
      </p:sp>
      <p:sp>
        <p:nvSpPr>
          <p:cNvPr id="11" name="Subtítulo 5">
            <a:extLst>
              <a:ext uri="{FF2B5EF4-FFF2-40B4-BE49-F238E27FC236}">
                <a16:creationId xmlns:a16="http://schemas.microsoft.com/office/drawing/2014/main" id="{BAD29CCC-03B4-7016-EBBD-DD79B040F9DB}"/>
              </a:ext>
            </a:extLst>
          </p:cNvPr>
          <p:cNvSpPr txBox="1">
            <a:spLocks/>
          </p:cNvSpPr>
          <p:nvPr/>
        </p:nvSpPr>
        <p:spPr>
          <a:xfrm>
            <a:off x="1973941" y="3616056"/>
            <a:ext cx="8577943" cy="495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dirty="0">
                <a:solidFill>
                  <a:schemeClr val="bg1"/>
                </a:solidFill>
              </a:rPr>
              <a:t>Comunicação entre dispositivos em casas inteligentes (IoT).</a:t>
            </a:r>
          </a:p>
        </p:txBody>
      </p:sp>
      <p:sp>
        <p:nvSpPr>
          <p:cNvPr id="14" name="Subtítulo 5">
            <a:extLst>
              <a:ext uri="{FF2B5EF4-FFF2-40B4-BE49-F238E27FC236}">
                <a16:creationId xmlns:a16="http://schemas.microsoft.com/office/drawing/2014/main" id="{CF6F9058-B8B9-A61C-D79F-D58AB7C018E9}"/>
              </a:ext>
            </a:extLst>
          </p:cNvPr>
          <p:cNvSpPr txBox="1">
            <a:spLocks/>
          </p:cNvSpPr>
          <p:nvPr/>
        </p:nvSpPr>
        <p:spPr>
          <a:xfrm>
            <a:off x="1973941" y="4544484"/>
            <a:ext cx="8341634" cy="495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dirty="0">
                <a:solidFill>
                  <a:schemeClr val="bg1"/>
                </a:solidFill>
              </a:rPr>
              <a:t>Dispositivos médicos e fitness (como smartbands)</a:t>
            </a:r>
          </a:p>
        </p:txBody>
      </p:sp>
    </p:spTree>
    <p:extLst>
      <p:ext uri="{BB962C8B-B14F-4D97-AF65-F5344CB8AC3E}">
        <p14:creationId xmlns:p14="http://schemas.microsoft.com/office/powerpoint/2010/main" val="467860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5000" t="-53000" r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0444F-2AD9-C866-F6C7-92A4898CA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>
            <a:extLst>
              <a:ext uri="{FF2B5EF4-FFF2-40B4-BE49-F238E27FC236}">
                <a16:creationId xmlns:a16="http://schemas.microsoft.com/office/drawing/2014/main" id="{DA2AF359-F691-D153-7DAE-16CDE08ACAC5}"/>
              </a:ext>
            </a:extLst>
          </p:cNvPr>
          <p:cNvSpPr txBox="1">
            <a:spLocks/>
          </p:cNvSpPr>
          <p:nvPr/>
        </p:nvSpPr>
        <p:spPr>
          <a:xfrm>
            <a:off x="1225124" y="1579087"/>
            <a:ext cx="9741600" cy="3657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200" b="1" dirty="0">
                <a:solidFill>
                  <a:schemeClr val="bg1"/>
                </a:solidFill>
              </a:rPr>
              <a:t>VANTAGENS </a:t>
            </a:r>
          </a:p>
        </p:txBody>
      </p:sp>
      <p:cxnSp>
        <p:nvCxnSpPr>
          <p:cNvPr id="4" name="Google Shape;140;p3">
            <a:extLst>
              <a:ext uri="{FF2B5EF4-FFF2-40B4-BE49-F238E27FC236}">
                <a16:creationId xmlns:a16="http://schemas.microsoft.com/office/drawing/2014/main" id="{46DDD45E-44AA-4482-EF4E-7353A31E8E85}"/>
              </a:ext>
            </a:extLst>
          </p:cNvPr>
          <p:cNvCxnSpPr>
            <a:cxnSpLocks/>
          </p:cNvCxnSpPr>
          <p:nvPr/>
        </p:nvCxnSpPr>
        <p:spPr>
          <a:xfrm>
            <a:off x="1225124" y="2065867"/>
            <a:ext cx="9741751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Subtítulo 5">
            <a:extLst>
              <a:ext uri="{FF2B5EF4-FFF2-40B4-BE49-F238E27FC236}">
                <a16:creationId xmlns:a16="http://schemas.microsoft.com/office/drawing/2014/main" id="{F22B3579-2CB5-EA14-2616-34004DBEF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3942" y="2747397"/>
            <a:ext cx="8577943" cy="495298"/>
          </a:xfrm>
        </p:spPr>
        <p:txBody>
          <a:bodyPr/>
          <a:lstStyle/>
          <a:p>
            <a:pPr algn="l"/>
            <a:r>
              <a:rPr lang="pt-BR" dirty="0">
                <a:solidFill>
                  <a:schemeClr val="bg1"/>
                </a:solidFill>
              </a:rPr>
              <a:t>Baixo consumo de energia (especialmente nas versões BLE)</a:t>
            </a:r>
          </a:p>
        </p:txBody>
      </p:sp>
      <p:sp>
        <p:nvSpPr>
          <p:cNvPr id="11" name="Subtítulo 5">
            <a:extLst>
              <a:ext uri="{FF2B5EF4-FFF2-40B4-BE49-F238E27FC236}">
                <a16:creationId xmlns:a16="http://schemas.microsoft.com/office/drawing/2014/main" id="{A46B27DF-209C-4F30-6BFF-B5C10E91F376}"/>
              </a:ext>
            </a:extLst>
          </p:cNvPr>
          <p:cNvSpPr txBox="1">
            <a:spLocks/>
          </p:cNvSpPr>
          <p:nvPr/>
        </p:nvSpPr>
        <p:spPr>
          <a:xfrm>
            <a:off x="1973941" y="3616056"/>
            <a:ext cx="8577943" cy="495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dirty="0">
                <a:solidFill>
                  <a:schemeClr val="bg1"/>
                </a:solidFill>
              </a:rPr>
              <a:t>Comunicação segura com autenticação e criptografia;</a:t>
            </a:r>
          </a:p>
        </p:txBody>
      </p:sp>
      <p:sp>
        <p:nvSpPr>
          <p:cNvPr id="14" name="Subtítulo 5">
            <a:extLst>
              <a:ext uri="{FF2B5EF4-FFF2-40B4-BE49-F238E27FC236}">
                <a16:creationId xmlns:a16="http://schemas.microsoft.com/office/drawing/2014/main" id="{D3D1B74F-5E25-66B0-1D04-BE89E44D3F80}"/>
              </a:ext>
            </a:extLst>
          </p:cNvPr>
          <p:cNvSpPr txBox="1">
            <a:spLocks/>
          </p:cNvSpPr>
          <p:nvPr/>
        </p:nvSpPr>
        <p:spPr>
          <a:xfrm>
            <a:off x="1973941" y="4544484"/>
            <a:ext cx="8341634" cy="495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dirty="0">
                <a:solidFill>
                  <a:schemeClr val="bg1"/>
                </a:solidFill>
              </a:rPr>
              <a:t>Conexão automática e pareamento simples.</a:t>
            </a:r>
          </a:p>
        </p:txBody>
      </p:sp>
    </p:spTree>
    <p:extLst>
      <p:ext uri="{BB962C8B-B14F-4D97-AF65-F5344CB8AC3E}">
        <p14:creationId xmlns:p14="http://schemas.microsoft.com/office/powerpoint/2010/main" val="2824103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8000" r="-47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2C8E9F-ABAC-1621-9816-15247BBD9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>
            <a:extLst>
              <a:ext uri="{FF2B5EF4-FFF2-40B4-BE49-F238E27FC236}">
                <a16:creationId xmlns:a16="http://schemas.microsoft.com/office/drawing/2014/main" id="{121861EF-E2F4-539A-803B-424644788B1C}"/>
              </a:ext>
            </a:extLst>
          </p:cNvPr>
          <p:cNvSpPr txBox="1">
            <a:spLocks/>
          </p:cNvSpPr>
          <p:nvPr/>
        </p:nvSpPr>
        <p:spPr>
          <a:xfrm>
            <a:off x="1225124" y="1579087"/>
            <a:ext cx="9741751" cy="3657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200" b="1" dirty="0">
                <a:solidFill>
                  <a:schemeClr val="bg1"/>
                </a:solidFill>
              </a:rPr>
              <a:t>FUNCIONAMENTO</a:t>
            </a:r>
          </a:p>
        </p:txBody>
      </p:sp>
      <p:cxnSp>
        <p:nvCxnSpPr>
          <p:cNvPr id="4" name="Google Shape;140;p3">
            <a:extLst>
              <a:ext uri="{FF2B5EF4-FFF2-40B4-BE49-F238E27FC236}">
                <a16:creationId xmlns:a16="http://schemas.microsoft.com/office/drawing/2014/main" id="{0EA194E3-55EC-F09F-A0FA-0548A5E8B801}"/>
              </a:ext>
            </a:extLst>
          </p:cNvPr>
          <p:cNvCxnSpPr>
            <a:cxnSpLocks/>
          </p:cNvCxnSpPr>
          <p:nvPr/>
        </p:nvCxnSpPr>
        <p:spPr>
          <a:xfrm>
            <a:off x="1225124" y="2065867"/>
            <a:ext cx="9741751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Subtítulo 5">
            <a:extLst>
              <a:ext uri="{FF2B5EF4-FFF2-40B4-BE49-F238E27FC236}">
                <a16:creationId xmlns:a16="http://schemas.microsoft.com/office/drawing/2014/main" id="{B4D8EAB5-23D4-23BE-B927-23E4E9D2D4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2660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8000" r="-47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3B7D5C-D29F-F452-9715-7A0344F23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>
            <a:extLst>
              <a:ext uri="{FF2B5EF4-FFF2-40B4-BE49-F238E27FC236}">
                <a16:creationId xmlns:a16="http://schemas.microsoft.com/office/drawing/2014/main" id="{ED4BA66D-8F04-F67B-21B3-3B76B01202B9}"/>
              </a:ext>
            </a:extLst>
          </p:cNvPr>
          <p:cNvSpPr txBox="1">
            <a:spLocks/>
          </p:cNvSpPr>
          <p:nvPr/>
        </p:nvSpPr>
        <p:spPr>
          <a:xfrm>
            <a:off x="1225124" y="1579087"/>
            <a:ext cx="9741751" cy="3657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200" b="1" dirty="0">
                <a:solidFill>
                  <a:schemeClr val="bg1"/>
                </a:solidFill>
              </a:rPr>
              <a:t>ARQUITETURA</a:t>
            </a:r>
          </a:p>
        </p:txBody>
      </p:sp>
      <p:cxnSp>
        <p:nvCxnSpPr>
          <p:cNvPr id="4" name="Google Shape;140;p3">
            <a:extLst>
              <a:ext uri="{FF2B5EF4-FFF2-40B4-BE49-F238E27FC236}">
                <a16:creationId xmlns:a16="http://schemas.microsoft.com/office/drawing/2014/main" id="{2E076CA8-3E6A-96D2-B546-ADD67E44545F}"/>
              </a:ext>
            </a:extLst>
          </p:cNvPr>
          <p:cNvCxnSpPr>
            <a:cxnSpLocks/>
          </p:cNvCxnSpPr>
          <p:nvPr/>
        </p:nvCxnSpPr>
        <p:spPr>
          <a:xfrm>
            <a:off x="1225124" y="2065867"/>
            <a:ext cx="9741751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Subtítulo 5">
            <a:extLst>
              <a:ext uri="{FF2B5EF4-FFF2-40B4-BE49-F238E27FC236}">
                <a16:creationId xmlns:a16="http://schemas.microsoft.com/office/drawing/2014/main" id="{31D7C184-17C1-4DDC-25E5-0FFBD5D634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7541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0" r="-262000" b="-23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D51F8-266E-1692-55E1-511BD52D6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459075D4-282A-CDD3-EFD1-C21F01D74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5124" y="1712437"/>
            <a:ext cx="9741751" cy="36574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b="1" dirty="0">
                <a:solidFill>
                  <a:schemeClr val="bg1"/>
                </a:solidFill>
              </a:rPr>
              <a:t>APLICAÇÕES</a:t>
            </a:r>
          </a:p>
        </p:txBody>
      </p:sp>
      <p:cxnSp>
        <p:nvCxnSpPr>
          <p:cNvPr id="4" name="Google Shape;140;p3">
            <a:extLst>
              <a:ext uri="{FF2B5EF4-FFF2-40B4-BE49-F238E27FC236}">
                <a16:creationId xmlns:a16="http://schemas.microsoft.com/office/drawing/2014/main" id="{57578539-0BF2-AE84-8A14-851FC4712780}"/>
              </a:ext>
            </a:extLst>
          </p:cNvPr>
          <p:cNvCxnSpPr>
            <a:cxnSpLocks/>
          </p:cNvCxnSpPr>
          <p:nvPr/>
        </p:nvCxnSpPr>
        <p:spPr>
          <a:xfrm>
            <a:off x="1225124" y="2065867"/>
            <a:ext cx="9741751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8959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t="-16000" r="-404000" b="-37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80C335-2962-E123-47F8-A76469708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0FFCDAFA-983E-E523-E3A5-DDC6740D9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5124" y="1712437"/>
            <a:ext cx="9741751" cy="36574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b="1" dirty="0">
                <a:solidFill>
                  <a:schemeClr val="bg1"/>
                </a:solidFill>
              </a:rPr>
              <a:t>BLUETOOTH LOW ENERGY (BLE)</a:t>
            </a:r>
          </a:p>
        </p:txBody>
      </p:sp>
      <p:cxnSp>
        <p:nvCxnSpPr>
          <p:cNvPr id="4" name="Google Shape;140;p3">
            <a:extLst>
              <a:ext uri="{FF2B5EF4-FFF2-40B4-BE49-F238E27FC236}">
                <a16:creationId xmlns:a16="http://schemas.microsoft.com/office/drawing/2014/main" id="{39A03BC5-F524-E2A1-861E-73404BF61050}"/>
              </a:ext>
            </a:extLst>
          </p:cNvPr>
          <p:cNvCxnSpPr>
            <a:cxnSpLocks/>
          </p:cNvCxnSpPr>
          <p:nvPr/>
        </p:nvCxnSpPr>
        <p:spPr>
          <a:xfrm>
            <a:off x="1225124" y="2065867"/>
            <a:ext cx="9741751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6422222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1394</TotalTime>
  <Words>176</Words>
  <Application>Microsoft Office PowerPoint</Application>
  <PresentationFormat>Widescreen</PresentationFormat>
  <Paragraphs>28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Century Gothic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Vanderson da Silva</dc:creator>
  <cp:lastModifiedBy>Vanderson da Silva</cp:lastModifiedBy>
  <cp:revision>4</cp:revision>
  <dcterms:created xsi:type="dcterms:W3CDTF">2025-04-21T21:46:55Z</dcterms:created>
  <dcterms:modified xsi:type="dcterms:W3CDTF">2025-04-22T21:01:51Z</dcterms:modified>
</cp:coreProperties>
</file>