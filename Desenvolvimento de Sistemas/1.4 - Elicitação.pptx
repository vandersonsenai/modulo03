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3" r:id="rId6"/>
    <p:sldId id="264" r:id="rId7"/>
    <p:sldId id="261" r:id="rId8"/>
    <p:sldId id="257" r:id="rId9"/>
    <p:sldId id="276" r:id="rId10"/>
    <p:sldId id="280" r:id="rId11"/>
    <p:sldId id="263" r:id="rId12"/>
    <p:sldId id="275" r:id="rId13"/>
    <p:sldId id="278" r:id="rId14"/>
    <p:sldId id="279" r:id="rId15"/>
    <p:sldId id="281" r:id="rId16"/>
    <p:sldId id="282" r:id="rId17"/>
    <p:sldId id="283" r:id="rId18"/>
    <p:sldId id="285" r:id="rId19"/>
    <p:sldId id="286" r:id="rId20"/>
    <p:sldId id="287"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1" r:id="rId43"/>
    <p:sldId id="312" r:id="rId44"/>
    <p:sldId id="313" r:id="rId45"/>
    <p:sldId id="314" r:id="rId46"/>
    <p:sldId id="274" r:id="rId47"/>
    <p:sldId id="272" r:id="rId48"/>
    <p:sldId id="259" r:id="rId4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23AC"/>
    <a:srgbClr val="2029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8F6ED1-1C9C-706E-9D4C-51EA8A971E59}" v="1" dt="2023-08-21T20:37:08.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104232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44188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p:cNvSpPr>
            <a:spLocks noGrp="1"/>
          </p:cNvSpPr>
          <p:nvPr>
            <p:ph type="dt" sz="half" idx="10"/>
          </p:nvPr>
        </p:nvSpPr>
        <p:spPr/>
        <p:txBody>
          <a:body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756405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B14B2A3A-CF44-4963-9E58-75E9E3D4DB71}" type="datetimeFigureOut">
              <a:rPr lang="pt-BR" smtClean="0"/>
              <a:t>19/02/2024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288254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B14B2A3A-CF44-4963-9E58-75E9E3D4DB71}" type="datetimeFigureOut">
              <a:rPr lang="pt-BR" smtClean="0"/>
              <a:t>19/02/2024</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3871461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B14B2A3A-CF44-4963-9E58-75E9E3D4DB71}" type="datetimeFigureOut">
              <a:rPr lang="pt-BR" smtClean="0"/>
              <a:t>19/02/2024</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3873767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14B2A3A-CF44-4963-9E58-75E9E3D4DB71}" type="datetimeFigureOut">
              <a:rPr lang="pt-BR" smtClean="0"/>
              <a:t>19/02/2024</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410185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B14B2A3A-CF44-4963-9E58-75E9E3D4DB71}" type="datetimeFigureOut">
              <a:rPr lang="pt-BR" smtClean="0"/>
              <a:t>19/02/2024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4169561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B14B2A3A-CF44-4963-9E58-75E9E3D4DB71}" type="datetimeFigureOut">
              <a:rPr lang="pt-BR" smtClean="0"/>
              <a:t>19/02/2024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75838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2688267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8E39AA5-5BCD-4FB7-BB87-EF7DD58EBD1C}" type="slidenum">
              <a:rPr lang="pt-BR" smtClean="0"/>
              <a:t>‹nº›</a:t>
            </a:fld>
            <a:endParaRPr lang="pt-BR"/>
          </a:p>
        </p:txBody>
      </p:sp>
    </p:spTree>
    <p:extLst>
      <p:ext uri="{BB962C8B-B14F-4D97-AF65-F5344CB8AC3E}">
        <p14:creationId xmlns:p14="http://schemas.microsoft.com/office/powerpoint/2010/main" val="3429368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B2A3A-CF44-4963-9E58-75E9E3D4DB71}" type="datetimeFigureOut">
              <a:rPr lang="pt-BR" smtClean="0"/>
              <a:t>19/02/2024</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E39AA5-5BCD-4FB7-BB87-EF7DD58EBD1C}" type="slidenum">
              <a:rPr lang="pt-BR" smtClean="0"/>
              <a:t>‹nº›</a:t>
            </a:fld>
            <a:endParaRPr lang="pt-BR"/>
          </a:p>
        </p:txBody>
      </p:sp>
    </p:spTree>
    <p:extLst>
      <p:ext uri="{BB962C8B-B14F-4D97-AF65-F5344CB8AC3E}">
        <p14:creationId xmlns:p14="http://schemas.microsoft.com/office/powerpoint/2010/main" val="4166032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ME0LrcqbeO0" TargetMode="External"/><Relationship Id="rId2" Type="http://schemas.openxmlformats.org/officeDocument/2006/relationships/hyperlink" Target="https://www.youtube.com/watch?v=VcOeM2AD8Yk"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visuresolutions.com/pt/blog/requirements-engineering-process/" TargetMode="External"/><Relationship Id="rId2" Type="http://schemas.openxmlformats.org/officeDocument/2006/relationships/hyperlink" Target="http://www.univasf.edu.br/~ricardo.aramos/disciplinas/ESI2009_2/Aula10.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jp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Agrupar 18">
            <a:extLst>
              <a:ext uri="{FF2B5EF4-FFF2-40B4-BE49-F238E27FC236}">
                <a16:creationId xmlns:a16="http://schemas.microsoft.com/office/drawing/2014/main" id="{846CADEE-C7EE-4E06-9632-84607C922B29}"/>
              </a:ext>
            </a:extLst>
          </p:cNvPr>
          <p:cNvGrpSpPr/>
          <p:nvPr/>
        </p:nvGrpSpPr>
        <p:grpSpPr>
          <a:xfrm>
            <a:off x="0" y="0"/>
            <a:ext cx="12192000" cy="7005918"/>
            <a:chOff x="389820" y="1729968"/>
            <a:chExt cx="10713720" cy="6302476"/>
          </a:xfrm>
        </p:grpSpPr>
        <p:sp>
          <p:nvSpPr>
            <p:cNvPr id="18" name="Retângulo 17">
              <a:extLst>
                <a:ext uri="{FF2B5EF4-FFF2-40B4-BE49-F238E27FC236}">
                  <a16:creationId xmlns:a16="http://schemas.microsoft.com/office/drawing/2014/main" id="{EE08A477-3390-4A88-8175-EFCF388B3F01}"/>
                </a:ext>
              </a:extLst>
            </p:cNvPr>
            <p:cNvSpPr/>
            <p:nvPr/>
          </p:nvSpPr>
          <p:spPr>
            <a:xfrm>
              <a:off x="389820" y="1729968"/>
              <a:ext cx="10713720" cy="6253992"/>
            </a:xfrm>
            <a:prstGeom prst="rect">
              <a:avLst/>
            </a:prstGeom>
            <a:blipFill>
              <a:blip r:embed="rId3" cstate="print">
                <a:extLst>
                  <a:ext uri="{28A0092B-C50C-407E-A947-70E740481C1C}">
                    <a14:useLocalDpi xmlns:a14="http://schemas.microsoft.com/office/drawing/2010/main" val="0"/>
                  </a:ext>
                </a:extLst>
              </a:blip>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0AAE235B-F313-4D9F-B15B-27111F24E55B}"/>
                </a:ext>
              </a:extLst>
            </p:cNvPr>
            <p:cNvSpPr/>
            <p:nvPr/>
          </p:nvSpPr>
          <p:spPr>
            <a:xfrm>
              <a:off x="389820" y="1729968"/>
              <a:ext cx="10713720" cy="6302476"/>
            </a:xfrm>
            <a:prstGeom prst="rect">
              <a:avLst/>
            </a:prstGeom>
            <a:solidFill>
              <a:srgbClr val="2029AD">
                <a:alpha val="5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TextBox 5"/>
          <p:cNvSpPr txBox="1"/>
          <p:nvPr/>
        </p:nvSpPr>
        <p:spPr>
          <a:xfrm>
            <a:off x="1007971" y="3622365"/>
            <a:ext cx="9265582" cy="1151213"/>
          </a:xfrm>
          <a:prstGeom prst="rect">
            <a:avLst/>
          </a:prstGeom>
        </p:spPr>
        <p:txBody>
          <a:bodyPr wrap="square" lIns="0" tIns="0" rIns="0" bIns="0" rtlCol="0" anchor="t">
            <a:spAutoFit/>
          </a:bodyPr>
          <a:lstStyle/>
          <a:p>
            <a:pPr>
              <a:lnSpc>
                <a:spcPts val="10400"/>
              </a:lnSpc>
            </a:pPr>
            <a:r>
              <a:rPr lang="pt-BR" sz="5400" b="1" spc="124" dirty="0">
                <a:solidFill>
                  <a:schemeClr val="bg1"/>
                </a:solidFill>
                <a:latin typeface="Century Gothic" panose="020B0502020202020204" pitchFamily="34" charset="0"/>
              </a:rPr>
              <a:t>Elicitação</a:t>
            </a:r>
            <a:endParaRPr lang="en-US" sz="5400" b="1" spc="124" dirty="0">
              <a:solidFill>
                <a:schemeClr val="bg1"/>
              </a:solidFill>
              <a:latin typeface="Century Gothic" panose="020B0502020202020204" pitchFamily="34" charset="0"/>
            </a:endParaRPr>
          </a:p>
        </p:txBody>
      </p:sp>
      <p:pic>
        <p:nvPicPr>
          <p:cNvPr id="21" name="Imagem 20">
            <a:extLst>
              <a:ext uri="{FF2B5EF4-FFF2-40B4-BE49-F238E27FC236}">
                <a16:creationId xmlns:a16="http://schemas.microsoft.com/office/drawing/2014/main" id="{AAD58517-3032-46F2-82CF-CB5A7444138A}"/>
              </a:ext>
            </a:extLst>
          </p:cNvPr>
          <p:cNvPicPr>
            <a:picLocks noChangeAspect="1"/>
          </p:cNvPicPr>
          <p:nvPr/>
        </p:nvPicPr>
        <p:blipFill>
          <a:blip r:embed="rId4"/>
          <a:stretch>
            <a:fillRect/>
          </a:stretch>
        </p:blipFill>
        <p:spPr>
          <a:xfrm>
            <a:off x="0" y="-3923"/>
            <a:ext cx="7582958" cy="523948"/>
          </a:xfrm>
          <a:prstGeom prst="rect">
            <a:avLst/>
          </a:prstGeom>
        </p:spPr>
      </p:pic>
      <p:pic>
        <p:nvPicPr>
          <p:cNvPr id="23" name="Imagem 22">
            <a:extLst>
              <a:ext uri="{FF2B5EF4-FFF2-40B4-BE49-F238E27FC236}">
                <a16:creationId xmlns:a16="http://schemas.microsoft.com/office/drawing/2014/main" id="{DAF6D871-E5BF-4649-B56C-218575E5CF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918" y="2225673"/>
            <a:ext cx="6189197" cy="1667454"/>
          </a:xfrm>
          <a:prstGeom prst="rect">
            <a:avLst/>
          </a:prstGeom>
        </p:spPr>
      </p:pic>
    </p:spTree>
    <p:extLst>
      <p:ext uri="{BB962C8B-B14F-4D97-AF65-F5344CB8AC3E}">
        <p14:creationId xmlns:p14="http://schemas.microsoft.com/office/powerpoint/2010/main" val="543192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2"/>
          <p:cNvSpPr/>
          <p:nvPr/>
        </p:nvSpPr>
        <p:spPr>
          <a:xfrm>
            <a:off x="10984587" y="0"/>
            <a:ext cx="1207413" cy="6883966"/>
          </a:xfrm>
          <a:prstGeom prst="rect">
            <a:avLst/>
          </a:prstGeom>
          <a:solidFill>
            <a:srgbClr val="1A27A9"/>
          </a:solidFill>
        </p:spPr>
      </p:sp>
      <p:grpSp>
        <p:nvGrpSpPr>
          <p:cNvPr id="17" name="Group 5"/>
          <p:cNvGrpSpPr/>
          <p:nvPr/>
        </p:nvGrpSpPr>
        <p:grpSpPr>
          <a:xfrm>
            <a:off x="11725456" y="3519379"/>
            <a:ext cx="466544" cy="2285917"/>
            <a:chOff x="0" y="0"/>
            <a:chExt cx="1802089" cy="3047889"/>
          </a:xfrm>
        </p:grpSpPr>
        <p:grpSp>
          <p:nvGrpSpPr>
            <p:cNvPr id="18" name="Group 6"/>
            <p:cNvGrpSpPr/>
            <p:nvPr/>
          </p:nvGrpSpPr>
          <p:grpSpPr>
            <a:xfrm>
              <a:off x="0" y="2777199"/>
              <a:ext cx="1802089" cy="270689"/>
              <a:chOff x="0" y="0"/>
              <a:chExt cx="386286" cy="58024"/>
            </a:xfrm>
          </p:grpSpPr>
          <p:sp>
            <p:nvSpPr>
              <p:cNvPr id="31" name="Freeform 7"/>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2" name="TextBox 8"/>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9" name="Group 9"/>
            <p:cNvGrpSpPr/>
            <p:nvPr/>
          </p:nvGrpSpPr>
          <p:grpSpPr>
            <a:xfrm>
              <a:off x="0" y="0"/>
              <a:ext cx="1802089" cy="270689"/>
              <a:chOff x="0" y="0"/>
              <a:chExt cx="386286" cy="58024"/>
            </a:xfrm>
          </p:grpSpPr>
          <p:sp>
            <p:nvSpPr>
              <p:cNvPr id="29"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0" name="TextBox 11"/>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0" name="Group 12"/>
            <p:cNvGrpSpPr/>
            <p:nvPr/>
          </p:nvGrpSpPr>
          <p:grpSpPr>
            <a:xfrm>
              <a:off x="0" y="694300"/>
              <a:ext cx="1802089" cy="270689"/>
              <a:chOff x="0" y="0"/>
              <a:chExt cx="386286" cy="58024"/>
            </a:xfrm>
          </p:grpSpPr>
          <p:sp>
            <p:nvSpPr>
              <p:cNvPr id="27"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8" name="TextBox 14"/>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1" name="Group 15"/>
            <p:cNvGrpSpPr/>
            <p:nvPr/>
          </p:nvGrpSpPr>
          <p:grpSpPr>
            <a:xfrm>
              <a:off x="0" y="1388600"/>
              <a:ext cx="1802089" cy="270689"/>
              <a:chOff x="0" y="0"/>
              <a:chExt cx="386286" cy="58024"/>
            </a:xfrm>
          </p:grpSpPr>
          <p:sp>
            <p:nvSpPr>
              <p:cNvPr id="25"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6" name="TextBox 17"/>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2" name="Group 18"/>
            <p:cNvGrpSpPr/>
            <p:nvPr/>
          </p:nvGrpSpPr>
          <p:grpSpPr>
            <a:xfrm>
              <a:off x="0" y="2082899"/>
              <a:ext cx="1802089" cy="270689"/>
              <a:chOff x="0" y="0"/>
              <a:chExt cx="386286" cy="58024"/>
            </a:xfrm>
          </p:grpSpPr>
          <p:sp>
            <p:nvSpPr>
              <p:cNvPr id="23"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4" name="TextBox 20"/>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pic>
        <p:nvPicPr>
          <p:cNvPr id="1026" name="Picture 2">
            <a:extLst>
              <a:ext uri="{FF2B5EF4-FFF2-40B4-BE49-F238E27FC236}">
                <a16:creationId xmlns:a16="http://schemas.microsoft.com/office/drawing/2014/main" id="{BBB0B6D5-29EB-F00B-E992-D7CCE673F9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6" t="31251" r="4425"/>
          <a:stretch/>
        </p:blipFill>
        <p:spPr bwMode="auto">
          <a:xfrm>
            <a:off x="80681" y="877073"/>
            <a:ext cx="10877012" cy="565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87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1231106"/>
          </a:xfrm>
          <a:prstGeom prst="rect">
            <a:avLst/>
          </a:prstGeom>
        </p:spPr>
        <p:txBody>
          <a:bodyPr wrap="square" lIns="0" tIns="0" rIns="0" bIns="0" rtlCol="0" anchor="t">
            <a:spAutoFit/>
          </a:bodyPr>
          <a:lstStyle/>
          <a:p>
            <a:r>
              <a:rPr lang="en-US" sz="4000" b="1" spc="67" dirty="0">
                <a:latin typeface="Century Gothic" panose="020B0502020202020204" pitchFamily="34" charset="0"/>
              </a:rPr>
              <a:t>O que é um </a:t>
            </a:r>
            <a:r>
              <a:rPr lang="en-US" sz="4000" b="1" spc="67" dirty="0" err="1">
                <a:latin typeface="Century Gothic" panose="020B0502020202020204" pitchFamily="34" charset="0"/>
              </a:rPr>
              <a:t>requisito</a:t>
            </a:r>
            <a:r>
              <a:rPr lang="en-US" sz="4000" b="1" spc="67" dirty="0">
                <a:latin typeface="Century Gothic" panose="020B0502020202020204" pitchFamily="34" charset="0"/>
              </a:rPr>
              <a:t>?</a:t>
            </a:r>
          </a:p>
          <a:p>
            <a:endParaRPr lang="en-US" sz="4000" b="1" spc="67" dirty="0">
              <a:latin typeface="Century Gothic" panose="020B0502020202020204" pitchFamily="34" charset="0"/>
            </a:endParaRPr>
          </a:p>
        </p:txBody>
      </p:sp>
      <p:sp>
        <p:nvSpPr>
          <p:cNvPr id="6" name="TextBox 4"/>
          <p:cNvSpPr txBox="1"/>
          <p:nvPr/>
        </p:nvSpPr>
        <p:spPr>
          <a:xfrm>
            <a:off x="4940299" y="2029411"/>
            <a:ext cx="6516595" cy="246221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Um requisito é precisamente definido como uma condição ou uma capacidade que um usuário precisa para resolver um problema ou atingir um objetivo. Em outras palavras, requisitos são condições ou capacidades que devem ser atendidas ou possuídas por um sistema para satisfazer um contrato, padrões, especificações e outra documentação formal</a:t>
            </a:r>
            <a:r>
              <a:rPr lang="pt-BR" sz="2000" spc="217">
                <a:latin typeface="Roboto" panose="02000000000000000000" pitchFamily="2" charset="0"/>
                <a:ea typeface="Roboto" panose="02000000000000000000" pitchFamily="2" charset="0"/>
              </a:rPr>
              <a:t>. </a:t>
            </a:r>
            <a:endParaRPr lang="en-US" sz="2000" spc="217"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6673679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5"/>
          <p:cNvSpPr txBox="1"/>
          <p:nvPr/>
        </p:nvSpPr>
        <p:spPr>
          <a:xfrm>
            <a:off x="5303856" y="754050"/>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Elicitação</a:t>
            </a:r>
            <a:endParaRPr lang="en-US" sz="4000" b="1" spc="67" dirty="0">
              <a:latin typeface="Century Gothic" panose="020B0502020202020204" pitchFamily="34" charset="0"/>
            </a:endParaRPr>
          </a:p>
        </p:txBody>
      </p:sp>
      <p:sp>
        <p:nvSpPr>
          <p:cNvPr id="6" name="TextBox 4"/>
          <p:cNvSpPr txBox="1"/>
          <p:nvPr/>
        </p:nvSpPr>
        <p:spPr>
          <a:xfrm>
            <a:off x="5303856" y="1557280"/>
            <a:ext cx="6368062" cy="3077766"/>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elicitação de requisitos é o processo de buscar, descobrir, adquirir, elaborar requisitos para sistemas baseados em computador</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Cabe à elicitação a tarefa de identificar os fatos que compõem os requisitos do Sistema, de forma a prover o mais correto e mais completo entendimento do que é demandado daquele software</a:t>
            </a:r>
          </a:p>
        </p:txBody>
      </p:sp>
      <p:pic>
        <p:nvPicPr>
          <p:cNvPr id="3" name="Imagem 2">
            <a:extLst>
              <a:ext uri="{FF2B5EF4-FFF2-40B4-BE49-F238E27FC236}">
                <a16:creationId xmlns:a16="http://schemas.microsoft.com/office/drawing/2014/main" id="{8344DA6C-063D-46EB-9533-EC144B977F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176" r="1964"/>
          <a:stretch/>
        </p:blipFill>
        <p:spPr>
          <a:xfrm>
            <a:off x="520081" y="0"/>
            <a:ext cx="4240177" cy="6858000"/>
          </a:xfrm>
          <a:prstGeom prst="rect">
            <a:avLst/>
          </a:prstGeom>
        </p:spPr>
      </p:pic>
      <p:pic>
        <p:nvPicPr>
          <p:cNvPr id="4100" name="Picture 4" descr="Vetores de Rede Social Ideias e mais imagens de Aberto - Aberto, Conceito,  Cérebro humano - iStock">
            <a:extLst>
              <a:ext uri="{FF2B5EF4-FFF2-40B4-BE49-F238E27FC236}">
                <a16:creationId xmlns:a16="http://schemas.microsoft.com/office/drawing/2014/main" id="{93795DCF-91A4-49F1-9177-B13DCD5D1A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146" r="5232"/>
          <a:stretch/>
        </p:blipFill>
        <p:spPr bwMode="auto">
          <a:xfrm>
            <a:off x="520081" y="-37424"/>
            <a:ext cx="4240177" cy="689650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88046BB-A912-5B06-C1B8-431AAB21289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391" r="29391"/>
          <a:stretch/>
        </p:blipFill>
        <p:spPr bwMode="auto">
          <a:xfrm>
            <a:off x="520081" y="-26895"/>
            <a:ext cx="4347754" cy="703199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5">
            <a:extLst>
              <a:ext uri="{FF2B5EF4-FFF2-40B4-BE49-F238E27FC236}">
                <a16:creationId xmlns:a16="http://schemas.microsoft.com/office/drawing/2014/main" id="{5C80CDEE-49AF-4E23-8D0A-2B2A92D5AC9C}"/>
              </a:ext>
            </a:extLst>
          </p:cNvPr>
          <p:cNvGrpSpPr/>
          <p:nvPr/>
        </p:nvGrpSpPr>
        <p:grpSpPr>
          <a:xfrm>
            <a:off x="-1" y="1737716"/>
            <a:ext cx="1010920" cy="5093390"/>
            <a:chOff x="-112968" y="-222176"/>
            <a:chExt cx="3904816" cy="6791186"/>
          </a:xfrm>
        </p:grpSpPr>
        <p:grpSp>
          <p:nvGrpSpPr>
            <p:cNvPr id="7" name="Group 6">
              <a:extLst>
                <a:ext uri="{FF2B5EF4-FFF2-40B4-BE49-F238E27FC236}">
                  <a16:creationId xmlns:a16="http://schemas.microsoft.com/office/drawing/2014/main" id="{2C5502A4-75CA-442E-BEF5-768DE9DFE35D}"/>
                </a:ext>
              </a:extLst>
            </p:cNvPr>
            <p:cNvGrpSpPr/>
            <p:nvPr/>
          </p:nvGrpSpPr>
          <p:grpSpPr>
            <a:xfrm>
              <a:off x="-112968" y="2555023"/>
              <a:ext cx="3904816" cy="4013987"/>
              <a:chOff x="-24215" y="-47625"/>
              <a:chExt cx="837015" cy="860425"/>
            </a:xfrm>
          </p:grpSpPr>
          <p:sp>
            <p:nvSpPr>
              <p:cNvPr id="20" name="Freeform 7">
                <a:extLst>
                  <a:ext uri="{FF2B5EF4-FFF2-40B4-BE49-F238E27FC236}">
                    <a16:creationId xmlns:a16="http://schemas.microsoft.com/office/drawing/2014/main" id="{277F34EC-A7AA-4C35-BDF3-11CFE791B595}"/>
                  </a:ext>
                </a:extLst>
              </p:cNvPr>
              <p:cNvSpPr/>
              <p:nvPr/>
            </p:nvSpPr>
            <p:spPr>
              <a:xfrm>
                <a:off x="-24215" y="9216"/>
                <a:ext cx="634624" cy="64467"/>
              </a:xfrm>
              <a:custGeom>
                <a:avLst/>
                <a:gdLst/>
                <a:ahLst/>
                <a:cxnLst/>
                <a:rect l="l" t="t" r="r" b="b"/>
                <a:pathLst>
                  <a:path w="386286" h="58024">
                    <a:moveTo>
                      <a:pt x="0" y="0"/>
                    </a:moveTo>
                    <a:lnTo>
                      <a:pt x="386286" y="0"/>
                    </a:lnTo>
                    <a:lnTo>
                      <a:pt x="386286" y="58024"/>
                    </a:lnTo>
                    <a:lnTo>
                      <a:pt x="0" y="58024"/>
                    </a:lnTo>
                    <a:close/>
                  </a:path>
                </a:pathLst>
              </a:custGeom>
              <a:solidFill>
                <a:srgbClr val="2029AD"/>
              </a:solidFill>
            </p:spPr>
          </p:sp>
          <p:sp>
            <p:nvSpPr>
              <p:cNvPr id="21" name="TextBox 8">
                <a:extLst>
                  <a:ext uri="{FF2B5EF4-FFF2-40B4-BE49-F238E27FC236}">
                    <a16:creationId xmlns:a16="http://schemas.microsoft.com/office/drawing/2014/main" id="{35F67D66-932B-4D85-8892-BF3A1727A6F7}"/>
                  </a:ext>
                </a:extLst>
              </p:cNvPr>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8" name="Group 9">
              <a:extLst>
                <a:ext uri="{FF2B5EF4-FFF2-40B4-BE49-F238E27FC236}">
                  <a16:creationId xmlns:a16="http://schemas.microsoft.com/office/drawing/2014/main" id="{94CD4F4F-25BA-4AD4-AEBC-A446E270BF5A}"/>
                </a:ext>
              </a:extLst>
            </p:cNvPr>
            <p:cNvGrpSpPr/>
            <p:nvPr/>
          </p:nvGrpSpPr>
          <p:grpSpPr>
            <a:xfrm>
              <a:off x="-112967" y="-222176"/>
              <a:ext cx="3904815" cy="4013987"/>
              <a:chOff x="-24215" y="-47625"/>
              <a:chExt cx="837015" cy="860425"/>
            </a:xfrm>
          </p:grpSpPr>
          <p:sp>
            <p:nvSpPr>
              <p:cNvPr id="18" name="Freeform 10">
                <a:extLst>
                  <a:ext uri="{FF2B5EF4-FFF2-40B4-BE49-F238E27FC236}">
                    <a16:creationId xmlns:a16="http://schemas.microsoft.com/office/drawing/2014/main" id="{15BD9FBC-633D-4781-8242-BA0962F4C894}"/>
                  </a:ext>
                </a:extLst>
              </p:cNvPr>
              <p:cNvSpPr/>
              <p:nvPr/>
            </p:nvSpPr>
            <p:spPr>
              <a:xfrm>
                <a:off x="-24215" y="-422"/>
                <a:ext cx="634627" cy="63638"/>
              </a:xfrm>
              <a:custGeom>
                <a:avLst/>
                <a:gdLst/>
                <a:ahLst/>
                <a:cxnLst/>
                <a:rect l="l" t="t" r="r" b="b"/>
                <a:pathLst>
                  <a:path w="386286" h="58024">
                    <a:moveTo>
                      <a:pt x="0" y="0"/>
                    </a:moveTo>
                    <a:lnTo>
                      <a:pt x="386286" y="0"/>
                    </a:lnTo>
                    <a:lnTo>
                      <a:pt x="386286" y="58024"/>
                    </a:lnTo>
                    <a:lnTo>
                      <a:pt x="0" y="58024"/>
                    </a:lnTo>
                    <a:close/>
                  </a:path>
                </a:pathLst>
              </a:custGeom>
              <a:solidFill>
                <a:srgbClr val="1C23AC"/>
              </a:solidFill>
            </p:spPr>
          </p:sp>
          <p:sp>
            <p:nvSpPr>
              <p:cNvPr id="19" name="TextBox 11">
                <a:extLst>
                  <a:ext uri="{FF2B5EF4-FFF2-40B4-BE49-F238E27FC236}">
                    <a16:creationId xmlns:a16="http://schemas.microsoft.com/office/drawing/2014/main" id="{83AE9562-B355-4BCF-A8C2-06E1AB48D350}"/>
                  </a:ext>
                </a:extLst>
              </p:cNvPr>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9" name="Group 12">
              <a:extLst>
                <a:ext uri="{FF2B5EF4-FFF2-40B4-BE49-F238E27FC236}">
                  <a16:creationId xmlns:a16="http://schemas.microsoft.com/office/drawing/2014/main" id="{B460FE5A-F447-4B7D-AA7F-91BC273CC940}"/>
                </a:ext>
              </a:extLst>
            </p:cNvPr>
            <p:cNvGrpSpPr/>
            <p:nvPr/>
          </p:nvGrpSpPr>
          <p:grpSpPr>
            <a:xfrm>
              <a:off x="-112967" y="472124"/>
              <a:ext cx="3904815" cy="4013987"/>
              <a:chOff x="-24215" y="-47625"/>
              <a:chExt cx="837015" cy="860425"/>
            </a:xfrm>
          </p:grpSpPr>
          <p:sp>
            <p:nvSpPr>
              <p:cNvPr id="16" name="Freeform 13">
                <a:extLst>
                  <a:ext uri="{FF2B5EF4-FFF2-40B4-BE49-F238E27FC236}">
                    <a16:creationId xmlns:a16="http://schemas.microsoft.com/office/drawing/2014/main" id="{AE867023-2677-4E34-8B40-3674C4972C47}"/>
                  </a:ext>
                </a:extLst>
              </p:cNvPr>
              <p:cNvSpPr/>
              <p:nvPr/>
            </p:nvSpPr>
            <p:spPr>
              <a:xfrm>
                <a:off x="-24215" y="49976"/>
                <a:ext cx="634627" cy="64467"/>
              </a:xfrm>
              <a:custGeom>
                <a:avLst/>
                <a:gdLst/>
                <a:ahLst/>
                <a:cxnLst/>
                <a:rect l="l" t="t" r="r" b="b"/>
                <a:pathLst>
                  <a:path w="386286" h="58024">
                    <a:moveTo>
                      <a:pt x="0" y="0"/>
                    </a:moveTo>
                    <a:lnTo>
                      <a:pt x="386286" y="0"/>
                    </a:lnTo>
                    <a:lnTo>
                      <a:pt x="386286" y="58024"/>
                    </a:lnTo>
                    <a:lnTo>
                      <a:pt x="0" y="58024"/>
                    </a:lnTo>
                    <a:close/>
                  </a:path>
                </a:pathLst>
              </a:custGeom>
              <a:solidFill>
                <a:srgbClr val="2029AD"/>
              </a:solidFill>
            </p:spPr>
          </p:sp>
          <p:sp>
            <p:nvSpPr>
              <p:cNvPr id="17" name="TextBox 14">
                <a:extLst>
                  <a:ext uri="{FF2B5EF4-FFF2-40B4-BE49-F238E27FC236}">
                    <a16:creationId xmlns:a16="http://schemas.microsoft.com/office/drawing/2014/main" id="{AFF1ACEE-8363-453D-9096-BF131EC0C416}"/>
                  </a:ext>
                </a:extLst>
              </p:cNvPr>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0" name="Group 15">
              <a:extLst>
                <a:ext uri="{FF2B5EF4-FFF2-40B4-BE49-F238E27FC236}">
                  <a16:creationId xmlns:a16="http://schemas.microsoft.com/office/drawing/2014/main" id="{E45D1764-0DF0-4E09-BE13-E73AFA2FE2E7}"/>
                </a:ext>
              </a:extLst>
            </p:cNvPr>
            <p:cNvGrpSpPr/>
            <p:nvPr/>
          </p:nvGrpSpPr>
          <p:grpSpPr>
            <a:xfrm>
              <a:off x="-94867" y="1166424"/>
              <a:ext cx="3886715" cy="4013987"/>
              <a:chOff x="-20335" y="-47625"/>
              <a:chExt cx="833135" cy="860425"/>
            </a:xfrm>
          </p:grpSpPr>
          <p:sp>
            <p:nvSpPr>
              <p:cNvPr id="14" name="Freeform 16">
                <a:extLst>
                  <a:ext uri="{FF2B5EF4-FFF2-40B4-BE49-F238E27FC236}">
                    <a16:creationId xmlns:a16="http://schemas.microsoft.com/office/drawing/2014/main" id="{74CF2C1C-4143-478A-B7AB-7B8FA2ABD6CC}"/>
                  </a:ext>
                </a:extLst>
              </p:cNvPr>
              <p:cNvSpPr/>
              <p:nvPr/>
            </p:nvSpPr>
            <p:spPr>
              <a:xfrm>
                <a:off x="-20335" y="106817"/>
                <a:ext cx="630745" cy="64467"/>
              </a:xfrm>
              <a:custGeom>
                <a:avLst/>
                <a:gdLst/>
                <a:ahLst/>
                <a:cxnLst/>
                <a:rect l="l" t="t" r="r" b="b"/>
                <a:pathLst>
                  <a:path w="386286" h="58024">
                    <a:moveTo>
                      <a:pt x="0" y="0"/>
                    </a:moveTo>
                    <a:lnTo>
                      <a:pt x="386286" y="0"/>
                    </a:lnTo>
                    <a:lnTo>
                      <a:pt x="386286" y="58024"/>
                    </a:lnTo>
                    <a:lnTo>
                      <a:pt x="0" y="58024"/>
                    </a:lnTo>
                    <a:close/>
                  </a:path>
                </a:pathLst>
              </a:custGeom>
              <a:solidFill>
                <a:srgbClr val="1C23AC"/>
              </a:solidFill>
            </p:spPr>
          </p:sp>
          <p:sp>
            <p:nvSpPr>
              <p:cNvPr id="15" name="TextBox 17">
                <a:extLst>
                  <a:ext uri="{FF2B5EF4-FFF2-40B4-BE49-F238E27FC236}">
                    <a16:creationId xmlns:a16="http://schemas.microsoft.com/office/drawing/2014/main" id="{4EE7CB50-9221-4625-879C-46F313AFD3CF}"/>
                  </a:ext>
                </a:extLst>
              </p:cNvPr>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1" name="Group 18">
              <a:extLst>
                <a:ext uri="{FF2B5EF4-FFF2-40B4-BE49-F238E27FC236}">
                  <a16:creationId xmlns:a16="http://schemas.microsoft.com/office/drawing/2014/main" id="{598DDFCB-666C-405B-BE7C-56D4A2D0E291}"/>
                </a:ext>
              </a:extLst>
            </p:cNvPr>
            <p:cNvGrpSpPr/>
            <p:nvPr/>
          </p:nvGrpSpPr>
          <p:grpSpPr>
            <a:xfrm>
              <a:off x="-112967" y="1860723"/>
              <a:ext cx="3904815" cy="4013987"/>
              <a:chOff x="-24215" y="-47625"/>
              <a:chExt cx="837015" cy="860425"/>
            </a:xfrm>
          </p:grpSpPr>
          <p:sp>
            <p:nvSpPr>
              <p:cNvPr id="12" name="Freeform 19">
                <a:extLst>
                  <a:ext uri="{FF2B5EF4-FFF2-40B4-BE49-F238E27FC236}">
                    <a16:creationId xmlns:a16="http://schemas.microsoft.com/office/drawing/2014/main" id="{29A3F478-7C2B-44C8-BFF8-17BEE1715623}"/>
                  </a:ext>
                </a:extLst>
              </p:cNvPr>
              <p:cNvSpPr/>
              <p:nvPr/>
            </p:nvSpPr>
            <p:spPr>
              <a:xfrm>
                <a:off x="-24215" y="360247"/>
                <a:ext cx="634623" cy="70953"/>
              </a:xfrm>
              <a:custGeom>
                <a:avLst/>
                <a:gdLst/>
                <a:ahLst/>
                <a:cxnLst/>
                <a:rect l="l" t="t" r="r" b="b"/>
                <a:pathLst>
                  <a:path w="386286" h="58024">
                    <a:moveTo>
                      <a:pt x="0" y="0"/>
                    </a:moveTo>
                    <a:lnTo>
                      <a:pt x="386286" y="0"/>
                    </a:lnTo>
                    <a:lnTo>
                      <a:pt x="386286" y="58024"/>
                    </a:lnTo>
                    <a:lnTo>
                      <a:pt x="0" y="58024"/>
                    </a:lnTo>
                    <a:close/>
                  </a:path>
                </a:pathLst>
              </a:custGeom>
              <a:solidFill>
                <a:srgbClr val="1C23AC"/>
              </a:solidFill>
            </p:spPr>
          </p:sp>
          <p:sp>
            <p:nvSpPr>
              <p:cNvPr id="13" name="TextBox 20">
                <a:extLst>
                  <a:ext uri="{FF2B5EF4-FFF2-40B4-BE49-F238E27FC236}">
                    <a16:creationId xmlns:a16="http://schemas.microsoft.com/office/drawing/2014/main" id="{6ADA9749-0BC8-426B-8C5C-028C7D225CC8}"/>
                  </a:ext>
                </a:extLst>
              </p:cNvPr>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spTree>
    <p:extLst>
      <p:ext uri="{BB962C8B-B14F-4D97-AF65-F5344CB8AC3E}">
        <p14:creationId xmlns:p14="http://schemas.microsoft.com/office/powerpoint/2010/main" val="120958540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92333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pt-BR" sz="2000" spc="217" dirty="0">
                <a:latin typeface="Roboto" panose="02000000000000000000" pitchFamily="2" charset="0"/>
                <a:ea typeface="Roboto" panose="02000000000000000000" pitchFamily="2" charset="0"/>
              </a:rPr>
              <a:t>Stakeholders</a:t>
            </a:r>
          </a:p>
          <a:p>
            <a:pPr marL="342900" indent="-342900">
              <a:buFont typeface="Arial" panose="020B0604020202020204" pitchFamily="34" charset="0"/>
              <a:buChar char="•"/>
            </a:pPr>
            <a:r>
              <a:rPr lang="pt-BR" sz="2000" spc="217" dirty="0">
                <a:latin typeface="Roboto" panose="02000000000000000000" pitchFamily="2" charset="0"/>
                <a:ea typeface="Roboto" panose="02000000000000000000" pitchFamily="2" charset="0"/>
              </a:rPr>
              <a:t>Sistemas existentes</a:t>
            </a:r>
          </a:p>
          <a:p>
            <a:pPr marL="342900" indent="-342900">
              <a:buFont typeface="Arial" panose="020B0604020202020204" pitchFamily="34" charset="0"/>
              <a:buChar char="•"/>
            </a:pPr>
            <a:r>
              <a:rPr lang="pt-BR" sz="2000" spc="217" dirty="0">
                <a:latin typeface="Roboto" panose="02000000000000000000" pitchFamily="2" charset="0"/>
                <a:ea typeface="Roboto" panose="02000000000000000000" pitchFamily="2" charset="0"/>
              </a:rPr>
              <a:t>Documentos</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a:latin typeface="Century Gothic" panose="020B0502020202020204" pitchFamily="34" charset="0"/>
              </a:rPr>
              <a:t>Fontes de </a:t>
            </a:r>
            <a:r>
              <a:rPr lang="en-US" sz="4000" b="1" spc="67" dirty="0" err="1">
                <a:latin typeface="Century Gothic" panose="020B0502020202020204" pitchFamily="34" charset="0"/>
              </a:rPr>
              <a:t>informação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4" name="Imagem 3">
            <a:extLst>
              <a:ext uri="{FF2B5EF4-FFF2-40B4-BE49-F238E27FC236}">
                <a16:creationId xmlns:a16="http://schemas.microsoft.com/office/drawing/2014/main" id="{62507B8E-D470-921C-5AB3-0E8519189E27}"/>
              </a:ext>
            </a:extLst>
          </p:cNvPr>
          <p:cNvPicPr>
            <a:picLocks noChangeAspect="1"/>
          </p:cNvPicPr>
          <p:nvPr/>
        </p:nvPicPr>
        <p:blipFill rotWithShape="1">
          <a:blip r:embed="rId4">
            <a:extLst>
              <a:ext uri="{28A0092B-C50C-407E-A947-70E740481C1C}">
                <a14:useLocalDpi xmlns:a14="http://schemas.microsoft.com/office/drawing/2010/main" val="0"/>
              </a:ext>
            </a:extLst>
          </a:blip>
          <a:srcRect l="29477" r="29478"/>
          <a:stretch/>
        </p:blipFill>
        <p:spPr>
          <a:xfrm>
            <a:off x="7345531" y="0"/>
            <a:ext cx="2814860" cy="6915208"/>
          </a:xfrm>
          <a:prstGeom prst="rect">
            <a:avLst/>
          </a:prstGeom>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58322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153888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São pessoas ou organizações que influenciam direta ou indiretamente nos requisitos do sistema, como usuários, operadores do sistema, desenvolvedores, arquitetos, clientes e testadores. </a:t>
            </a:r>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a:latin typeface="Century Gothic" panose="020B0502020202020204" pitchFamily="34" charset="0"/>
              </a:rPr>
              <a:t>Stakeholders</a:t>
            </a: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1032" name="Picture 8" descr="Stakeholders: O que são, exemplos, importância e tipos 🥇">
            <a:extLst>
              <a:ext uri="{FF2B5EF4-FFF2-40B4-BE49-F238E27FC236}">
                <a16:creationId xmlns:a16="http://schemas.microsoft.com/office/drawing/2014/main" id="{EB7A9064-0BAF-2885-0F22-1195A411CD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252" t="762" r="33837" b="-762"/>
          <a:stretch/>
        </p:blipFill>
        <p:spPr bwMode="auto">
          <a:xfrm>
            <a:off x="7345532" y="0"/>
            <a:ext cx="2814860" cy="6910681"/>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88289422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69331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Independentemente de como os stakeholders são classificados, é importante</a:t>
            </a:r>
          </a:p>
          <a:p>
            <a:r>
              <a:rPr lang="pt-BR" sz="2000" spc="217" dirty="0">
                <a:latin typeface="Roboto" panose="02000000000000000000" pitchFamily="2" charset="0"/>
                <a:ea typeface="Roboto" panose="02000000000000000000" pitchFamily="2" charset="0"/>
              </a:rPr>
              <a:t>que a origem dos requisitos esteja clara e que os potenciais stakeholders sejam</a:t>
            </a:r>
          </a:p>
          <a:p>
            <a:r>
              <a:rPr lang="pt-BR" sz="2000" spc="217" dirty="0">
                <a:latin typeface="Roboto" panose="02000000000000000000" pitchFamily="2" charset="0"/>
                <a:ea typeface="Roboto" panose="02000000000000000000" pitchFamily="2" charset="0"/>
              </a:rPr>
              <a:t>envolvidos logo no início do processo de elicitação de requisitos. A voz do cliente precisa chegar aos ouvidos dos desenvolvedores. Para que isso seja possível, é necessário que seja identificado</a:t>
            </a:r>
          </a:p>
          <a:p>
            <a:r>
              <a:rPr lang="pt-BR" sz="2000" spc="217" dirty="0">
                <a:latin typeface="Roboto" panose="02000000000000000000" pitchFamily="2" charset="0"/>
                <a:ea typeface="Roboto" panose="02000000000000000000" pitchFamily="2" charset="0"/>
              </a:rPr>
              <a:t>corretamente quem precisa ter voz no projeto. Todas as classes de usuários</a:t>
            </a:r>
          </a:p>
          <a:p>
            <a:r>
              <a:rPr lang="pt-BR" sz="2000" spc="217" dirty="0">
                <a:latin typeface="Roboto" panose="02000000000000000000" pitchFamily="2" charset="0"/>
                <a:ea typeface="Roboto" panose="02000000000000000000" pitchFamily="2" charset="0"/>
              </a:rPr>
              <a:t>precisam ter alguém que fale por elas.</a:t>
            </a:r>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a:latin typeface="Century Gothic" panose="020B0502020202020204" pitchFamily="34" charset="0"/>
              </a:rPr>
              <a:t>Stakeholders</a:t>
            </a: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8" descr="Stakeholders: O que são, exemplos, importância e tipos 🥇">
            <a:extLst>
              <a:ext uri="{FF2B5EF4-FFF2-40B4-BE49-F238E27FC236}">
                <a16:creationId xmlns:a16="http://schemas.microsoft.com/office/drawing/2014/main" id="{9507DDA2-AE14-86EE-B6F7-C79727E8BE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252" t="762" r="33837" b="-762"/>
          <a:stretch/>
        </p:blipFill>
        <p:spPr bwMode="auto">
          <a:xfrm>
            <a:off x="7345532" y="0"/>
            <a:ext cx="2814860" cy="6910681"/>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382443969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2"/>
          <p:cNvSpPr/>
          <p:nvPr/>
        </p:nvSpPr>
        <p:spPr>
          <a:xfrm>
            <a:off x="10984587" y="0"/>
            <a:ext cx="1207413" cy="6883966"/>
          </a:xfrm>
          <a:prstGeom prst="rect">
            <a:avLst/>
          </a:prstGeom>
          <a:solidFill>
            <a:srgbClr val="1A27A9"/>
          </a:solidFill>
        </p:spPr>
      </p:sp>
      <p:grpSp>
        <p:nvGrpSpPr>
          <p:cNvPr id="17" name="Group 5"/>
          <p:cNvGrpSpPr/>
          <p:nvPr/>
        </p:nvGrpSpPr>
        <p:grpSpPr>
          <a:xfrm>
            <a:off x="11725456" y="3519379"/>
            <a:ext cx="466544" cy="2285917"/>
            <a:chOff x="0" y="0"/>
            <a:chExt cx="1802089" cy="3047889"/>
          </a:xfrm>
        </p:grpSpPr>
        <p:grpSp>
          <p:nvGrpSpPr>
            <p:cNvPr id="18" name="Group 6"/>
            <p:cNvGrpSpPr/>
            <p:nvPr/>
          </p:nvGrpSpPr>
          <p:grpSpPr>
            <a:xfrm>
              <a:off x="0" y="2777199"/>
              <a:ext cx="1802089" cy="270689"/>
              <a:chOff x="0" y="0"/>
              <a:chExt cx="386286" cy="58024"/>
            </a:xfrm>
          </p:grpSpPr>
          <p:sp>
            <p:nvSpPr>
              <p:cNvPr id="31" name="Freeform 7"/>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2" name="TextBox 8"/>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9" name="Group 9"/>
            <p:cNvGrpSpPr/>
            <p:nvPr/>
          </p:nvGrpSpPr>
          <p:grpSpPr>
            <a:xfrm>
              <a:off x="0" y="0"/>
              <a:ext cx="1802089" cy="270689"/>
              <a:chOff x="0" y="0"/>
              <a:chExt cx="386286" cy="58024"/>
            </a:xfrm>
          </p:grpSpPr>
          <p:sp>
            <p:nvSpPr>
              <p:cNvPr id="29"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0" name="TextBox 11"/>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0" name="Group 12"/>
            <p:cNvGrpSpPr/>
            <p:nvPr/>
          </p:nvGrpSpPr>
          <p:grpSpPr>
            <a:xfrm>
              <a:off x="0" y="694300"/>
              <a:ext cx="1802089" cy="270689"/>
              <a:chOff x="0" y="0"/>
              <a:chExt cx="386286" cy="58024"/>
            </a:xfrm>
          </p:grpSpPr>
          <p:sp>
            <p:nvSpPr>
              <p:cNvPr id="27"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8" name="TextBox 14"/>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1" name="Group 15"/>
            <p:cNvGrpSpPr/>
            <p:nvPr/>
          </p:nvGrpSpPr>
          <p:grpSpPr>
            <a:xfrm>
              <a:off x="0" y="1388600"/>
              <a:ext cx="1802089" cy="270689"/>
              <a:chOff x="0" y="0"/>
              <a:chExt cx="386286" cy="58024"/>
            </a:xfrm>
          </p:grpSpPr>
          <p:sp>
            <p:nvSpPr>
              <p:cNvPr id="25"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6" name="TextBox 17"/>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2" name="Group 18"/>
            <p:cNvGrpSpPr/>
            <p:nvPr/>
          </p:nvGrpSpPr>
          <p:grpSpPr>
            <a:xfrm>
              <a:off x="0" y="2082899"/>
              <a:ext cx="1802089" cy="270689"/>
              <a:chOff x="0" y="0"/>
              <a:chExt cx="386286" cy="58024"/>
            </a:xfrm>
          </p:grpSpPr>
          <p:sp>
            <p:nvSpPr>
              <p:cNvPr id="23"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4" name="TextBox 20"/>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pic>
        <p:nvPicPr>
          <p:cNvPr id="2" name="Picture 6" descr="O que são stakeholders: importância, tipos e como gerenciar">
            <a:extLst>
              <a:ext uri="{FF2B5EF4-FFF2-40B4-BE49-F238E27FC236}">
                <a16:creationId xmlns:a16="http://schemas.microsoft.com/office/drawing/2014/main" id="{2CF50AC8-398A-B750-9846-58ACC4C3BBB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823" b="97396" l="1917" r="99324">
                        <a14:foregroundMark x1="76212" y1="70443" x2="69673" y2="80990"/>
                        <a14:foregroundMark x1="69673" y1="80990" x2="34949" y2="86328"/>
                        <a14:foregroundMark x1="34949" y1="86328" x2="5750" y2="55729"/>
                        <a14:foregroundMark x1="5750" y1="55729" x2="14656" y2="26823"/>
                        <a14:foregroundMark x1="14656" y1="26823" x2="66629" y2="14453"/>
                        <a14:foregroundMark x1="66629" y1="14453" x2="85231" y2="37500"/>
                        <a14:foregroundMark x1="85231" y1="37500" x2="73619" y2="73828"/>
                        <a14:foregroundMark x1="73619" y1="73828" x2="42728" y2="87630"/>
                        <a14:foregroundMark x1="17587" y1="85938" x2="6088" y2="51302"/>
                        <a14:foregroundMark x1="6088" y1="51302" x2="4510" y2="12630"/>
                        <a14:foregroundMark x1="4510" y1="12630" x2="68884" y2="6120"/>
                        <a14:foregroundMark x1="68884" y1="6120" x2="81623" y2="15365"/>
                        <a14:foregroundMark x1="81623" y1="15365" x2="91995" y2="30859"/>
                        <a14:foregroundMark x1="91995" y1="30859" x2="92559" y2="50651"/>
                        <a14:foregroundMark x1="92559" y1="50651" x2="88162" y2="70703"/>
                        <a14:foregroundMark x1="88162" y1="70703" x2="72379" y2="92188"/>
                        <a14:foregroundMark x1="72379" y1="92188" x2="54791" y2="97526"/>
                        <a14:foregroundMark x1="54791" y1="97526" x2="42277" y2="86979"/>
                        <a14:foregroundMark x1="17475" y1="92318" x2="1917" y2="83724"/>
                        <a14:foregroundMark x1="85344" y1="82161" x2="92785" y2="79427"/>
                        <a14:foregroundMark x1="96505" y1="85026" x2="88726" y2="18750"/>
                        <a14:foregroundMark x1="88726" y1="18750" x2="96843" y2="23307"/>
                        <a14:foregroundMark x1="96843" y1="23307" x2="99436" y2="58333"/>
                        <a14:foregroundMark x1="62120" y1="11458" x2="40699" y2="1823"/>
                        <a14:foregroundMark x1="28861" y1="3255" x2="54791" y2="3906"/>
                        <a14:backgroundMark x1="89064" y1="92448" x2="97294" y2="99349"/>
                        <a14:backgroundMark x1="97294" y1="99349" x2="88839" y2="98958"/>
                        <a14:backgroundMark x1="88839" y1="98958" x2="88839" y2="99089"/>
                        <a14:backgroundMark x1="86809" y1="97786" x2="95152" y2="96484"/>
                        <a14:backgroundMark x1="95152" y1="96484" x2="88162" y2="97526"/>
                        <a14:backgroundMark x1="88162" y1="97526" x2="92446" y2="97396"/>
                        <a14:backgroundMark x1="92221" y1="95573" x2="85908" y2="96224"/>
                        <a14:backgroundMark x1="85908" y1="96224" x2="93799" y2="96354"/>
                        <a14:backgroundMark x1="95039" y1="95703" x2="98985" y2="94922"/>
                        <a14:backgroundMark x1="97407" y1="94792" x2="87599" y2="95313"/>
                      </a14:backgroundRemoval>
                    </a14:imgEffect>
                  </a14:imgLayer>
                </a14:imgProps>
              </a:ext>
              <a:ext uri="{28A0092B-C50C-407E-A947-70E740481C1C}">
                <a14:useLocalDpi xmlns:a14="http://schemas.microsoft.com/office/drawing/2010/main" val="0"/>
              </a:ext>
            </a:extLst>
          </a:blip>
          <a:srcRect/>
          <a:stretch>
            <a:fillRect/>
          </a:stretch>
        </p:blipFill>
        <p:spPr bwMode="auto">
          <a:xfrm>
            <a:off x="1479979" y="52054"/>
            <a:ext cx="7623680" cy="6601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758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430887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É importante lembrar que, no momento da identificação das fontes de informação, todos os potenciais stakeholders precisam ser considerados, mesmo</a:t>
            </a:r>
          </a:p>
          <a:p>
            <a:r>
              <a:rPr lang="pt-BR" sz="2000" spc="217" dirty="0">
                <a:latin typeface="Roboto" panose="02000000000000000000" pitchFamily="2" charset="0"/>
                <a:ea typeface="Roboto" panose="02000000000000000000" pitchFamily="2" charset="0"/>
              </a:rPr>
              <a:t>aqueles que não utilizarão diretamente as funcionalidades do produto. </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Por exemplo, há usos indiretos, como aqueles representados por outros softwares,</a:t>
            </a:r>
          </a:p>
          <a:p>
            <a:r>
              <a:rPr lang="pt-BR" sz="2000" spc="217" dirty="0">
                <a:latin typeface="Roboto" panose="02000000000000000000" pitchFamily="2" charset="0"/>
                <a:ea typeface="Roboto" panose="02000000000000000000" pitchFamily="2" charset="0"/>
              </a:rPr>
              <a:t>que podem receber informações a partir do software que está sendo desenvolvido, ou mesmo aqueles softwares que realizam funções de forma automática,</a:t>
            </a:r>
          </a:p>
          <a:p>
            <a:r>
              <a:rPr lang="pt-BR" sz="2000" spc="217" dirty="0">
                <a:latin typeface="Roboto" panose="02000000000000000000" pitchFamily="2" charset="0"/>
                <a:ea typeface="Roboto" panose="02000000000000000000" pitchFamily="2" charset="0"/>
              </a:rPr>
              <a:t>representando humanos, como os </a:t>
            </a:r>
            <a:r>
              <a:rPr lang="pt-BR" sz="2000" spc="217" dirty="0" err="1">
                <a:latin typeface="Roboto" panose="02000000000000000000" pitchFamily="2" charset="0"/>
                <a:ea typeface="Roboto" panose="02000000000000000000" pitchFamily="2" charset="0"/>
              </a:rPr>
              <a:t>bots</a:t>
            </a:r>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a:latin typeface="Century Gothic" panose="020B0502020202020204" pitchFamily="34" charset="0"/>
              </a:rPr>
              <a:t>Fontes de </a:t>
            </a:r>
            <a:r>
              <a:rPr lang="en-US" sz="4000" b="1" spc="67" dirty="0" err="1">
                <a:latin typeface="Century Gothic" panose="020B0502020202020204" pitchFamily="34" charset="0"/>
              </a:rPr>
              <a:t>informação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Imagem 1">
            <a:extLst>
              <a:ext uri="{FF2B5EF4-FFF2-40B4-BE49-F238E27FC236}">
                <a16:creationId xmlns:a16="http://schemas.microsoft.com/office/drawing/2014/main" id="{AC22299A-215C-1315-AE64-595809F66549}"/>
              </a:ext>
            </a:extLst>
          </p:cNvPr>
          <p:cNvPicPr>
            <a:picLocks noChangeAspect="1"/>
          </p:cNvPicPr>
          <p:nvPr/>
        </p:nvPicPr>
        <p:blipFill rotWithShape="1">
          <a:blip r:embed="rId4">
            <a:extLst>
              <a:ext uri="{28A0092B-C50C-407E-A947-70E740481C1C}">
                <a14:useLocalDpi xmlns:a14="http://schemas.microsoft.com/office/drawing/2010/main" val="0"/>
              </a:ext>
            </a:extLst>
          </a:blip>
          <a:srcRect l="29477" r="29478"/>
          <a:stretch/>
        </p:blipFill>
        <p:spPr>
          <a:xfrm>
            <a:off x="7345531" y="0"/>
            <a:ext cx="2814860" cy="6915208"/>
          </a:xfrm>
          <a:prstGeom prst="rect">
            <a:avLst/>
          </a:prstGeom>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94447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2" y="2001085"/>
            <a:ext cx="6368062" cy="56630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Leffingwell classifica esse envolvimento da seguinte forma:</a:t>
            </a:r>
            <a:endParaRPr lang="en-US" sz="2000" spc="217" dirty="0">
              <a:latin typeface="Roboto" panose="02000000000000000000" pitchFamily="2" charset="0"/>
              <a:ea typeface="Roboto" panose="02000000000000000000" pitchFamily="2" charset="0"/>
            </a:endParaRPr>
          </a:p>
          <a:p>
            <a:r>
              <a:rPr lang="pt-BR" sz="2200" b="1" i="1" spc="217" dirty="0">
                <a:latin typeface="Roboto" panose="02000000000000000000" pitchFamily="2" charset="0"/>
                <a:ea typeface="Roboto" panose="02000000000000000000" pitchFamily="2" charset="0"/>
              </a:rPr>
              <a:t>Os que devem ser mantidos informados</a:t>
            </a:r>
            <a:r>
              <a:rPr lang="pt-BR" sz="2200" spc="217" dirty="0">
                <a:latin typeface="Roboto" panose="02000000000000000000" pitchFamily="2" charset="0"/>
                <a:ea typeface="Roboto" panose="02000000000000000000" pitchFamily="2" charset="0"/>
              </a:rPr>
              <a:t>: </a:t>
            </a:r>
            <a:r>
              <a:rPr lang="pt-BR" sz="2000" spc="217" dirty="0">
                <a:latin typeface="Roboto" panose="02000000000000000000" pitchFamily="2" charset="0"/>
                <a:ea typeface="Roboto" panose="02000000000000000000" pitchFamily="2" charset="0"/>
              </a:rPr>
              <a:t>precisam saber do status do projeto e ser mantidos informados acerca das decisões, embora nem sempre tomem parte dessas decisões.</a:t>
            </a:r>
          </a:p>
          <a:p>
            <a:endParaRPr lang="pt-BR" sz="2000" spc="217" dirty="0">
              <a:latin typeface="Roboto" panose="02000000000000000000" pitchFamily="2" charset="0"/>
              <a:ea typeface="Roboto" panose="02000000000000000000" pitchFamily="2" charset="0"/>
            </a:endParaRPr>
          </a:p>
          <a:p>
            <a:r>
              <a:rPr lang="pt-BR" sz="2200" b="1" i="1" spc="217" dirty="0">
                <a:latin typeface="Roboto" panose="02000000000000000000" pitchFamily="2" charset="0"/>
                <a:ea typeface="Roboto" panose="02000000000000000000" pitchFamily="2" charset="0"/>
              </a:rPr>
              <a:t>Os que devem ser consultados: </a:t>
            </a:r>
            <a:r>
              <a:rPr lang="pt-BR" sz="2000" spc="217" dirty="0">
                <a:latin typeface="Roboto" panose="02000000000000000000" pitchFamily="2" charset="0"/>
                <a:ea typeface="Roboto" panose="02000000000000000000" pitchFamily="2" charset="0"/>
              </a:rPr>
              <a:t>precisam ser envolvidos devido às suas áreas de expertise, como arquitetos,</a:t>
            </a:r>
          </a:p>
          <a:p>
            <a:r>
              <a:rPr lang="pt-BR" sz="2000" spc="217" dirty="0">
                <a:latin typeface="Roboto" panose="02000000000000000000" pitchFamily="2" charset="0"/>
                <a:ea typeface="Roboto" panose="02000000000000000000" pitchFamily="2" charset="0"/>
              </a:rPr>
              <a:t>projetistas de interface, marketing. Eles</a:t>
            </a:r>
          </a:p>
          <a:p>
            <a:r>
              <a:rPr lang="pt-BR" sz="2000" spc="217" dirty="0">
                <a:latin typeface="Roboto" panose="02000000000000000000" pitchFamily="2" charset="0"/>
                <a:ea typeface="Roboto" panose="02000000000000000000" pitchFamily="2" charset="0"/>
              </a:rPr>
              <a:t>devem ser incluídos nas decisões que envolvem a sua área de expertise. </a:t>
            </a:r>
          </a:p>
          <a:p>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1846659"/>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Graus</a:t>
            </a:r>
            <a:r>
              <a:rPr lang="en-US" sz="4000" b="1" spc="67" dirty="0">
                <a:latin typeface="Century Gothic" panose="020B0502020202020204" pitchFamily="34" charset="0"/>
              </a:rPr>
              <a:t> de </a:t>
            </a:r>
            <a:r>
              <a:rPr lang="en-US" sz="4000" b="1" spc="67" dirty="0" err="1">
                <a:latin typeface="Century Gothic" panose="020B0502020202020204" pitchFamily="34" charset="0"/>
              </a:rPr>
              <a:t>envolvimento</a:t>
            </a:r>
            <a:r>
              <a:rPr lang="en-US" sz="4000" b="1" spc="67" dirty="0">
                <a:latin typeface="Century Gothic" panose="020B0502020202020204" pitchFamily="34" charset="0"/>
              </a:rPr>
              <a:t> dos Stakeholders</a:t>
            </a:r>
          </a:p>
          <a:p>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Imagem 1">
            <a:extLst>
              <a:ext uri="{FF2B5EF4-FFF2-40B4-BE49-F238E27FC236}">
                <a16:creationId xmlns:a16="http://schemas.microsoft.com/office/drawing/2014/main" id="{5911D889-756C-366D-0F42-50B7BDE4BBE3}"/>
              </a:ext>
            </a:extLst>
          </p:cNvPr>
          <p:cNvPicPr>
            <a:picLocks noChangeAspect="1"/>
          </p:cNvPicPr>
          <p:nvPr/>
        </p:nvPicPr>
        <p:blipFill rotWithShape="1">
          <a:blip r:embed="rId4">
            <a:extLst>
              <a:ext uri="{28A0092B-C50C-407E-A947-70E740481C1C}">
                <a14:useLocalDpi xmlns:a14="http://schemas.microsoft.com/office/drawing/2010/main" val="0"/>
              </a:ext>
            </a:extLst>
          </a:blip>
          <a:srcRect l="29477" r="29478"/>
          <a:stretch/>
        </p:blipFill>
        <p:spPr>
          <a:xfrm>
            <a:off x="7345531" y="0"/>
            <a:ext cx="2814860" cy="6915208"/>
          </a:xfrm>
          <a:prstGeom prst="rect">
            <a:avLst/>
          </a:prstGeom>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186422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1" y="2045901"/>
            <a:ext cx="6589259" cy="4985980"/>
          </a:xfrm>
          <a:prstGeom prst="rect">
            <a:avLst/>
          </a:prstGeom>
        </p:spPr>
        <p:txBody>
          <a:bodyPr wrap="square" lIns="0" tIns="0" rIns="0" bIns="0" rtlCol="0" anchor="t">
            <a:spAutoFit/>
          </a:bodyPr>
          <a:lstStyle/>
          <a:p>
            <a:r>
              <a:rPr lang="pt-BR" sz="2200" b="1" i="1" spc="217" dirty="0">
                <a:latin typeface="Roboto" panose="02000000000000000000" pitchFamily="2" charset="0"/>
                <a:ea typeface="Roboto" panose="02000000000000000000" pitchFamily="2" charset="0"/>
              </a:rPr>
              <a:t>Os que serão parceiros no desenvolvimento: </a:t>
            </a:r>
            <a:r>
              <a:rPr lang="pt-BR" sz="2000" spc="217" dirty="0">
                <a:latin typeface="Roboto" panose="02000000000000000000" pitchFamily="2" charset="0"/>
                <a:ea typeface="Roboto" panose="02000000000000000000" pitchFamily="2" charset="0"/>
              </a:rPr>
              <a:t>precisam ser envolvidos por serem parceiros no processo, como os </a:t>
            </a:r>
            <a:r>
              <a:rPr lang="pt-BR" sz="2000" spc="217" dirty="0" err="1">
                <a:latin typeface="Roboto" panose="02000000000000000000" pitchFamily="2" charset="0"/>
                <a:ea typeface="Roboto" panose="02000000000000000000" pitchFamily="2" charset="0"/>
              </a:rPr>
              <a:t>product</a:t>
            </a:r>
            <a:r>
              <a:rPr lang="pt-BR" sz="2000" spc="217" dirty="0">
                <a:latin typeface="Roboto" panose="02000000000000000000" pitchFamily="2" charset="0"/>
                <a:ea typeface="Roboto" panose="02000000000000000000" pitchFamily="2" charset="0"/>
              </a:rPr>
              <a:t> </a:t>
            </a:r>
            <a:r>
              <a:rPr lang="pt-BR" sz="2000" spc="217" dirty="0" err="1">
                <a:latin typeface="Roboto" panose="02000000000000000000" pitchFamily="2" charset="0"/>
                <a:ea typeface="Roboto" panose="02000000000000000000" pitchFamily="2" charset="0"/>
              </a:rPr>
              <a:t>owners</a:t>
            </a:r>
            <a:r>
              <a:rPr lang="pt-BR" sz="2000" spc="217" dirty="0">
                <a:latin typeface="Roboto" panose="02000000000000000000" pitchFamily="2" charset="0"/>
                <a:ea typeface="Roboto" panose="02000000000000000000" pitchFamily="2" charset="0"/>
              </a:rPr>
              <a:t> de outros projetos, outras equipes de desenvolvimento, analistas de negócios ou requisitos e provedores de soluções com as quais o sistema deve interagir</a:t>
            </a:r>
          </a:p>
          <a:p>
            <a:endParaRPr lang="pt-BR" sz="2000" spc="217" dirty="0">
              <a:latin typeface="Roboto" panose="02000000000000000000" pitchFamily="2" charset="0"/>
              <a:ea typeface="Roboto" panose="02000000000000000000" pitchFamily="2" charset="0"/>
            </a:endParaRPr>
          </a:p>
          <a:p>
            <a:r>
              <a:rPr lang="pt-BR" sz="2200" b="1" i="1" spc="217" dirty="0">
                <a:latin typeface="Roboto" panose="02000000000000000000" pitchFamily="2" charset="0"/>
                <a:ea typeface="Roboto" panose="02000000000000000000" pitchFamily="2" charset="0"/>
              </a:rPr>
              <a:t>Os que controlam os resultados: </a:t>
            </a:r>
            <a:r>
              <a:rPr lang="pt-BR" sz="2000" spc="217" dirty="0">
                <a:latin typeface="Roboto" panose="02000000000000000000" pitchFamily="2" charset="0"/>
                <a:ea typeface="Roboto" panose="02000000000000000000" pitchFamily="2" charset="0"/>
              </a:rPr>
              <a:t>são aqueles que tomam as decisões sobre a solução, como executivos, gerentes de liberação,</a:t>
            </a:r>
          </a:p>
          <a:p>
            <a:r>
              <a:rPr lang="pt-BR" sz="2000" spc="217" dirty="0">
                <a:latin typeface="Roboto" panose="02000000000000000000" pitchFamily="2" charset="0"/>
                <a:ea typeface="Roboto" panose="02000000000000000000" pitchFamily="2" charset="0"/>
              </a:rPr>
              <a:t>usuários-chave que vão utilizar a solução e business </a:t>
            </a:r>
            <a:r>
              <a:rPr lang="pt-BR" sz="2000" spc="217" dirty="0" err="1">
                <a:latin typeface="Roboto" panose="02000000000000000000" pitchFamily="2" charset="0"/>
                <a:ea typeface="Roboto" panose="02000000000000000000" pitchFamily="2" charset="0"/>
              </a:rPr>
              <a:t>owners</a:t>
            </a:r>
            <a:r>
              <a:rPr lang="pt-BR" sz="2000" spc="217" dirty="0">
                <a:latin typeface="Roboto" panose="02000000000000000000" pitchFamily="2" charset="0"/>
                <a:ea typeface="Roboto" panose="02000000000000000000" pitchFamily="2" charset="0"/>
              </a:rPr>
              <a:t>.</a:t>
            </a:r>
          </a:p>
          <a:p>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1846659"/>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Graus</a:t>
            </a:r>
            <a:r>
              <a:rPr lang="en-US" sz="4000" b="1" spc="67" dirty="0">
                <a:latin typeface="Century Gothic" panose="020B0502020202020204" pitchFamily="34" charset="0"/>
              </a:rPr>
              <a:t> de </a:t>
            </a:r>
            <a:r>
              <a:rPr lang="en-US" sz="4000" b="1" spc="67" dirty="0" err="1">
                <a:latin typeface="Century Gothic" panose="020B0502020202020204" pitchFamily="34" charset="0"/>
              </a:rPr>
              <a:t>envolvimento</a:t>
            </a:r>
            <a:r>
              <a:rPr lang="en-US" sz="4000" b="1" spc="67" dirty="0">
                <a:latin typeface="Century Gothic" panose="020B0502020202020204" pitchFamily="34" charset="0"/>
              </a:rPr>
              <a:t> dos Stakeholders</a:t>
            </a:r>
          </a:p>
          <a:p>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Imagem 1">
            <a:extLst>
              <a:ext uri="{FF2B5EF4-FFF2-40B4-BE49-F238E27FC236}">
                <a16:creationId xmlns:a16="http://schemas.microsoft.com/office/drawing/2014/main" id="{D5FB6FAF-79A3-B088-A596-26AEBE10EAF4}"/>
              </a:ext>
            </a:extLst>
          </p:cNvPr>
          <p:cNvPicPr>
            <a:picLocks noChangeAspect="1"/>
          </p:cNvPicPr>
          <p:nvPr/>
        </p:nvPicPr>
        <p:blipFill rotWithShape="1">
          <a:blip r:embed="rId4">
            <a:extLst>
              <a:ext uri="{28A0092B-C50C-407E-A947-70E740481C1C}">
                <a14:useLocalDpi xmlns:a14="http://schemas.microsoft.com/office/drawing/2010/main" val="0"/>
              </a:ext>
            </a:extLst>
          </a:blip>
          <a:srcRect l="29477" r="29478"/>
          <a:stretch/>
        </p:blipFill>
        <p:spPr>
          <a:xfrm>
            <a:off x="7345531" y="0"/>
            <a:ext cx="2814860" cy="6915208"/>
          </a:xfrm>
          <a:prstGeom prst="rect">
            <a:avLst/>
          </a:prstGeom>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542168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Sistemas</a:t>
            </a:r>
            <a:r>
              <a:rPr lang="en-US" sz="4000" b="1" spc="67" dirty="0">
                <a:latin typeface="Century Gothic" panose="020B0502020202020204" pitchFamily="34" charset="0"/>
              </a:rPr>
              <a:t> </a:t>
            </a:r>
            <a:r>
              <a:rPr lang="en-US" sz="4000" b="1" spc="67" dirty="0" err="1">
                <a:latin typeface="Century Gothic" panose="020B0502020202020204" pitchFamily="34" charset="0"/>
              </a:rPr>
              <a:t>existentes</a:t>
            </a:r>
            <a:endParaRPr lang="en-US" sz="4000" b="1" spc="67" dirty="0">
              <a:latin typeface="Century Gothic" panose="020B0502020202020204" pitchFamily="34" charset="0"/>
            </a:endParaRPr>
          </a:p>
        </p:txBody>
      </p:sp>
      <p:sp>
        <p:nvSpPr>
          <p:cNvPr id="6" name="TextBox 4"/>
          <p:cNvSpPr txBox="1"/>
          <p:nvPr/>
        </p:nvSpPr>
        <p:spPr>
          <a:xfrm>
            <a:off x="4940299" y="2029411"/>
            <a:ext cx="6516595" cy="1231106"/>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Sistemas legados, predecessores ou mesmo</a:t>
            </a:r>
          </a:p>
          <a:p>
            <a:r>
              <a:rPr lang="pt-BR" sz="2000" spc="217" dirty="0">
                <a:latin typeface="Roboto" panose="02000000000000000000" pitchFamily="2" charset="0"/>
                <a:ea typeface="Roboto" panose="02000000000000000000" pitchFamily="2" charset="0"/>
              </a:rPr>
              <a:t>concorrentes. Os sistemas podem ser a fonte de informações sobre novas funcionalidades desejadas pelos clientes.</a:t>
            </a:r>
            <a:endParaRPr lang="en-US" sz="2000" spc="217" dirty="0">
              <a:latin typeface="Roboto" panose="02000000000000000000" pitchFamily="2" charset="0"/>
              <a:ea typeface="Roboto" panose="02000000000000000000" pitchFamily="2" charset="0"/>
            </a:endParaRPr>
          </a:p>
        </p:txBody>
      </p:sp>
      <p:pic>
        <p:nvPicPr>
          <p:cNvPr id="2" name="Picture 2" descr="Segurança da informação e comportamento dos usuários - Blog Linx">
            <a:extLst>
              <a:ext uri="{FF2B5EF4-FFF2-40B4-BE49-F238E27FC236}">
                <a16:creationId xmlns:a16="http://schemas.microsoft.com/office/drawing/2014/main" id="{736118CE-B4AC-4DE2-9CB5-0D736BD526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459" t="464" r="40663" b="-464"/>
          <a:stretch/>
        </p:blipFill>
        <p:spPr bwMode="auto">
          <a:xfrm>
            <a:off x="0" y="528506"/>
            <a:ext cx="4460200" cy="6359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3569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Documentos</a:t>
            </a:r>
            <a:endParaRPr lang="en-US" sz="4000" b="1" spc="67" dirty="0">
              <a:latin typeface="Century Gothic" panose="020B0502020202020204" pitchFamily="34" charset="0"/>
            </a:endParaRPr>
          </a:p>
        </p:txBody>
      </p:sp>
      <p:sp>
        <p:nvSpPr>
          <p:cNvPr id="6" name="TextBox 4"/>
          <p:cNvSpPr txBox="1"/>
          <p:nvPr/>
        </p:nvSpPr>
        <p:spPr>
          <a:xfrm>
            <a:off x="4940299" y="2029411"/>
            <a:ext cx="6516595" cy="246221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Contêm informações importantes que podem se tornar requisitos, como documentos de ordem legal ou regulatória, normas e</a:t>
            </a:r>
          </a:p>
          <a:p>
            <a:r>
              <a:rPr lang="pt-BR" sz="2000" spc="217" dirty="0">
                <a:latin typeface="Roboto" panose="02000000000000000000" pitchFamily="2" charset="0"/>
                <a:ea typeface="Roboto" panose="02000000000000000000" pitchFamily="2" charset="0"/>
              </a:rPr>
              <a:t>padrões, documentos específicos do domínio de negócio ou da própria empresa, como documentos de requisitos de mais alto nível ou documentos de erros em sistemas legados, por exemplo.</a:t>
            </a:r>
            <a:endParaRPr lang="en-US" sz="2000" spc="217" dirty="0">
              <a:latin typeface="Roboto" panose="02000000000000000000" pitchFamily="2" charset="0"/>
              <a:ea typeface="Roboto" panose="02000000000000000000" pitchFamily="2" charset="0"/>
            </a:endParaRPr>
          </a:p>
        </p:txBody>
      </p:sp>
      <p:pic>
        <p:nvPicPr>
          <p:cNvPr id="5124" name="Picture 4" descr="Qual a hierarquia de documentos ideal para o SGQ?">
            <a:extLst>
              <a:ext uri="{FF2B5EF4-FFF2-40B4-BE49-F238E27FC236}">
                <a16:creationId xmlns:a16="http://schemas.microsoft.com/office/drawing/2014/main" id="{5DF12A83-BB67-C19E-2911-3D6B07B745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142" t="7508" r="44275" b="70"/>
          <a:stretch/>
        </p:blipFill>
        <p:spPr bwMode="auto">
          <a:xfrm>
            <a:off x="0" y="523744"/>
            <a:ext cx="4460200" cy="632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6181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2"/>
          <p:cNvSpPr/>
          <p:nvPr/>
        </p:nvSpPr>
        <p:spPr>
          <a:xfrm>
            <a:off x="10984587" y="0"/>
            <a:ext cx="1207413" cy="6883966"/>
          </a:xfrm>
          <a:prstGeom prst="rect">
            <a:avLst/>
          </a:prstGeom>
          <a:solidFill>
            <a:srgbClr val="1A27A9"/>
          </a:solidFill>
        </p:spPr>
      </p:sp>
      <p:grpSp>
        <p:nvGrpSpPr>
          <p:cNvPr id="17" name="Group 5"/>
          <p:cNvGrpSpPr/>
          <p:nvPr/>
        </p:nvGrpSpPr>
        <p:grpSpPr>
          <a:xfrm>
            <a:off x="11725456" y="3519379"/>
            <a:ext cx="466544" cy="2285917"/>
            <a:chOff x="0" y="0"/>
            <a:chExt cx="1802089" cy="3047889"/>
          </a:xfrm>
        </p:grpSpPr>
        <p:grpSp>
          <p:nvGrpSpPr>
            <p:cNvPr id="18" name="Group 6"/>
            <p:cNvGrpSpPr/>
            <p:nvPr/>
          </p:nvGrpSpPr>
          <p:grpSpPr>
            <a:xfrm>
              <a:off x="0" y="2777199"/>
              <a:ext cx="1802089" cy="270689"/>
              <a:chOff x="0" y="0"/>
              <a:chExt cx="386286" cy="58024"/>
            </a:xfrm>
          </p:grpSpPr>
          <p:sp>
            <p:nvSpPr>
              <p:cNvPr id="31" name="Freeform 7"/>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2" name="TextBox 8"/>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9" name="Group 9"/>
            <p:cNvGrpSpPr/>
            <p:nvPr/>
          </p:nvGrpSpPr>
          <p:grpSpPr>
            <a:xfrm>
              <a:off x="0" y="0"/>
              <a:ext cx="1802089" cy="270689"/>
              <a:chOff x="0" y="0"/>
              <a:chExt cx="386286" cy="58024"/>
            </a:xfrm>
          </p:grpSpPr>
          <p:sp>
            <p:nvSpPr>
              <p:cNvPr id="29"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0" name="TextBox 11"/>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0" name="Group 12"/>
            <p:cNvGrpSpPr/>
            <p:nvPr/>
          </p:nvGrpSpPr>
          <p:grpSpPr>
            <a:xfrm>
              <a:off x="0" y="694300"/>
              <a:ext cx="1802089" cy="270689"/>
              <a:chOff x="0" y="0"/>
              <a:chExt cx="386286" cy="58024"/>
            </a:xfrm>
          </p:grpSpPr>
          <p:sp>
            <p:nvSpPr>
              <p:cNvPr id="27"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8" name="TextBox 14"/>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1" name="Group 15"/>
            <p:cNvGrpSpPr/>
            <p:nvPr/>
          </p:nvGrpSpPr>
          <p:grpSpPr>
            <a:xfrm>
              <a:off x="0" y="1388600"/>
              <a:ext cx="1802089" cy="270689"/>
              <a:chOff x="0" y="0"/>
              <a:chExt cx="386286" cy="58024"/>
            </a:xfrm>
          </p:grpSpPr>
          <p:sp>
            <p:nvSpPr>
              <p:cNvPr id="25"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6" name="TextBox 17"/>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2" name="Group 18"/>
            <p:cNvGrpSpPr/>
            <p:nvPr/>
          </p:nvGrpSpPr>
          <p:grpSpPr>
            <a:xfrm>
              <a:off x="0" y="2082899"/>
              <a:ext cx="1802089" cy="270689"/>
              <a:chOff x="0" y="0"/>
              <a:chExt cx="386286" cy="58024"/>
            </a:xfrm>
          </p:grpSpPr>
          <p:sp>
            <p:nvSpPr>
              <p:cNvPr id="23"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4" name="TextBox 20"/>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pic>
        <p:nvPicPr>
          <p:cNvPr id="2052" name="Picture 4" descr="GPMPE-MH] - Levantamento de Requisitos em Métodos Ágeis #4">
            <a:extLst>
              <a:ext uri="{FF2B5EF4-FFF2-40B4-BE49-F238E27FC236}">
                <a16:creationId xmlns:a16="http://schemas.microsoft.com/office/drawing/2014/main" id="{7CA36A56-E932-30C6-6E4F-9F1D061DA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823" y="-15129"/>
            <a:ext cx="9184342" cy="6888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80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Técnicas</a:t>
            </a:r>
            <a:r>
              <a:rPr lang="en-US" sz="4000" b="1" spc="67" dirty="0">
                <a:latin typeface="Century Gothic" panose="020B0502020202020204" pitchFamily="34" charset="0"/>
              </a:rPr>
              <a:t> de </a:t>
            </a:r>
            <a:r>
              <a:rPr lang="en-US" sz="4000" b="1" spc="67" dirty="0" err="1">
                <a:latin typeface="Century Gothic" panose="020B0502020202020204" pitchFamily="34" charset="0"/>
              </a:rPr>
              <a:t>elicitação</a:t>
            </a:r>
            <a:endParaRPr lang="en-US" sz="4000" b="1" spc="67" dirty="0">
              <a:latin typeface="Century Gothic" panose="020B0502020202020204" pitchFamily="34" charset="0"/>
            </a:endParaRPr>
          </a:p>
        </p:txBody>
      </p:sp>
      <p:sp>
        <p:nvSpPr>
          <p:cNvPr id="6" name="TextBox 4"/>
          <p:cNvSpPr txBox="1"/>
          <p:nvPr/>
        </p:nvSpPr>
        <p:spPr>
          <a:xfrm>
            <a:off x="4940299" y="2029411"/>
            <a:ext cx="6516595" cy="27699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Uma técnica de elicitação de requisitos pode ser compreendida como uma ferramenta para auxiliar o analista de requisitos na condução da etapa de elicitação e compreensão dos requisitos do software. Existem diversas</a:t>
            </a:r>
          </a:p>
          <a:p>
            <a:r>
              <a:rPr lang="pt-BR" sz="2000" spc="217" dirty="0">
                <a:latin typeface="Roboto" panose="02000000000000000000" pitchFamily="2" charset="0"/>
                <a:ea typeface="Roboto" panose="02000000000000000000" pitchFamily="2" charset="0"/>
              </a:rPr>
              <a:t>técnicas disponíveis; algumas implicam a interação direta com um stakeholder humano, enquanto outras se aplicam a outros tipos de fontes de informação.</a:t>
            </a:r>
            <a:endParaRPr lang="en-US" sz="2000" spc="217" dirty="0">
              <a:latin typeface="Roboto" panose="02000000000000000000" pitchFamily="2" charset="0"/>
              <a:ea typeface="Roboto" panose="02000000000000000000" pitchFamily="2" charset="0"/>
            </a:endParaRPr>
          </a:p>
        </p:txBody>
      </p:sp>
      <p:pic>
        <p:nvPicPr>
          <p:cNvPr id="2" name="Picture 2">
            <a:extLst>
              <a:ext uri="{FF2B5EF4-FFF2-40B4-BE49-F238E27FC236}">
                <a16:creationId xmlns:a16="http://schemas.microsoft.com/office/drawing/2014/main" id="{E5D4886B-2A96-336A-5215-D4533F872C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391" t="-5746" r="29391" b="4817"/>
          <a:stretch/>
        </p:blipFill>
        <p:spPr bwMode="auto">
          <a:xfrm>
            <a:off x="0" y="146369"/>
            <a:ext cx="4460200" cy="671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47516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Técnicas</a:t>
            </a:r>
            <a:r>
              <a:rPr lang="en-US" sz="4000" b="1" spc="67" dirty="0">
                <a:latin typeface="Century Gothic" panose="020B0502020202020204" pitchFamily="34" charset="0"/>
              </a:rPr>
              <a:t> de </a:t>
            </a:r>
            <a:r>
              <a:rPr lang="en-US" sz="4000" b="1" spc="67" dirty="0" err="1">
                <a:latin typeface="Century Gothic" panose="020B0502020202020204" pitchFamily="34" charset="0"/>
              </a:rPr>
              <a:t>elicitação</a:t>
            </a:r>
            <a:endParaRPr lang="en-US" sz="4000" b="1" spc="67" dirty="0">
              <a:latin typeface="Century Gothic" panose="020B0502020202020204" pitchFamily="34" charset="0"/>
            </a:endParaRPr>
          </a:p>
        </p:txBody>
      </p:sp>
      <p:sp>
        <p:nvSpPr>
          <p:cNvPr id="6" name="TextBox 4"/>
          <p:cNvSpPr txBox="1"/>
          <p:nvPr/>
        </p:nvSpPr>
        <p:spPr>
          <a:xfrm>
            <a:off x="4940299" y="2029411"/>
            <a:ext cx="6516595" cy="1538883"/>
          </a:xfrm>
          <a:prstGeom prst="rect">
            <a:avLst/>
          </a:prstGeom>
        </p:spPr>
        <p:txBody>
          <a:bodyPr wrap="square" lIns="0" tIns="0" rIns="0" bIns="0" rtlCol="0" anchor="t">
            <a:spAutoFit/>
          </a:bodyPr>
          <a:lstStyle/>
          <a:p>
            <a:pPr marL="342900" indent="-342900">
              <a:buFont typeface="Wingdings" panose="05000000000000000000" pitchFamily="2" charset="2"/>
              <a:buChar char="§"/>
            </a:pPr>
            <a:r>
              <a:rPr lang="pt-BR" sz="2000" spc="217" dirty="0">
                <a:latin typeface="Roboto" panose="02000000000000000000" pitchFamily="2" charset="0"/>
                <a:ea typeface="Roboto" panose="02000000000000000000" pitchFamily="2" charset="0"/>
              </a:rPr>
              <a:t>Entrevista</a:t>
            </a:r>
          </a:p>
          <a:p>
            <a:pPr marL="342900" indent="-342900">
              <a:buFont typeface="Wingdings" panose="05000000000000000000" pitchFamily="2" charset="2"/>
              <a:buChar char="§"/>
            </a:pPr>
            <a:r>
              <a:rPr lang="pt-BR" sz="2000" spc="217" dirty="0">
                <a:latin typeface="Roboto" panose="02000000000000000000" pitchFamily="2" charset="0"/>
                <a:ea typeface="Roboto" panose="02000000000000000000" pitchFamily="2" charset="0"/>
              </a:rPr>
              <a:t>Reunião</a:t>
            </a:r>
          </a:p>
          <a:p>
            <a:pPr marL="342900" indent="-342900">
              <a:buFont typeface="Wingdings" panose="05000000000000000000" pitchFamily="2" charset="2"/>
              <a:buChar char="§"/>
            </a:pPr>
            <a:r>
              <a:rPr lang="pt-BR" sz="2000" spc="217" dirty="0">
                <a:latin typeface="Roboto" panose="02000000000000000000" pitchFamily="2" charset="0"/>
                <a:ea typeface="Roboto" panose="02000000000000000000" pitchFamily="2" charset="0"/>
              </a:rPr>
              <a:t>Brainstorming</a:t>
            </a:r>
          </a:p>
          <a:p>
            <a:pPr marL="342900" indent="-342900">
              <a:buFont typeface="Wingdings" panose="05000000000000000000" pitchFamily="2" charset="2"/>
              <a:buChar char="§"/>
            </a:pPr>
            <a:r>
              <a:rPr lang="pt-BR" sz="2000" spc="217" dirty="0">
                <a:latin typeface="Roboto" panose="02000000000000000000" pitchFamily="2" charset="0"/>
                <a:ea typeface="Roboto" panose="02000000000000000000" pitchFamily="2" charset="0"/>
              </a:rPr>
              <a:t>Observação</a:t>
            </a:r>
          </a:p>
          <a:p>
            <a:pPr marL="342900" indent="-342900">
              <a:buFont typeface="Wingdings" panose="05000000000000000000" pitchFamily="2" charset="2"/>
              <a:buChar char="§"/>
            </a:pPr>
            <a:r>
              <a:rPr lang="pt-BR" sz="2000" spc="217" dirty="0">
                <a:latin typeface="Roboto" panose="02000000000000000000" pitchFamily="2" charset="0"/>
                <a:ea typeface="Roboto" panose="02000000000000000000" pitchFamily="2" charset="0"/>
              </a:rPr>
              <a:t>Questionário</a:t>
            </a:r>
            <a:endParaRPr lang="en-US" sz="2000" spc="217" dirty="0">
              <a:latin typeface="Roboto" panose="02000000000000000000" pitchFamily="2" charset="0"/>
              <a:ea typeface="Roboto" panose="02000000000000000000" pitchFamily="2" charset="0"/>
            </a:endParaRPr>
          </a:p>
        </p:txBody>
      </p:sp>
      <p:pic>
        <p:nvPicPr>
          <p:cNvPr id="2" name="Picture 2">
            <a:extLst>
              <a:ext uri="{FF2B5EF4-FFF2-40B4-BE49-F238E27FC236}">
                <a16:creationId xmlns:a16="http://schemas.microsoft.com/office/drawing/2014/main" id="{452C3DA0-78AC-5ED8-81F1-A0EF6BCDF8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391" t="-5746" r="29391" b="4817"/>
          <a:stretch/>
        </p:blipFill>
        <p:spPr bwMode="auto">
          <a:xfrm>
            <a:off x="0" y="146369"/>
            <a:ext cx="4460200" cy="671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96682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184665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Trata-se de uma conversa entre duas ou mais pessoas, provocada por uma delas, com um objetivo definido. A entrevista proporciona</a:t>
            </a:r>
          </a:p>
          <a:p>
            <a:r>
              <a:rPr lang="pt-BR" sz="2000" spc="217" dirty="0">
                <a:latin typeface="Roboto" panose="02000000000000000000" pitchFamily="2" charset="0"/>
                <a:ea typeface="Roboto" panose="02000000000000000000" pitchFamily="2" charset="0"/>
              </a:rPr>
              <a:t>o contato pessoal, que faz com que o entrevistado se sinta parte do processo</a:t>
            </a:r>
          </a:p>
          <a:p>
            <a:r>
              <a:rPr lang="pt-BR" sz="2000" spc="217" dirty="0">
                <a:latin typeface="Roboto" panose="02000000000000000000" pitchFamily="2" charset="0"/>
                <a:ea typeface="Roboto" panose="02000000000000000000" pitchFamily="2" charset="0"/>
              </a:rPr>
              <a:t>de construção da solução.</a:t>
            </a:r>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11268" name="Picture 4" descr="Entrevista com gestor: como se preparar para conversar com a liderança?">
            <a:extLst>
              <a:ext uri="{FF2B5EF4-FFF2-40B4-BE49-F238E27FC236}">
                <a16:creationId xmlns:a16="http://schemas.microsoft.com/office/drawing/2014/main" id="{633903DB-AC91-D8B5-3D5B-25ED31AA7C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229" t="1795" r="43520" b="-1795"/>
          <a:stretch/>
        </p:blipFill>
        <p:spPr bwMode="auto">
          <a:xfrm>
            <a:off x="6946086" y="224404"/>
            <a:ext cx="3214306" cy="664784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04386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430887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entrevista facilita a obtenção de informações que, muitas vezes, estão</a:t>
            </a:r>
          </a:p>
          <a:p>
            <a:r>
              <a:rPr lang="pt-BR" sz="2000" spc="217" dirty="0">
                <a:latin typeface="Roboto" panose="02000000000000000000" pitchFamily="2" charset="0"/>
                <a:ea typeface="Roboto" panose="02000000000000000000" pitchFamily="2" charset="0"/>
              </a:rPr>
              <a:t>apenas na memória das pessoas, além de informações a respeito dos integrantes</a:t>
            </a:r>
          </a:p>
          <a:p>
            <a:r>
              <a:rPr lang="pt-BR" sz="2000" spc="217" dirty="0">
                <a:latin typeface="Roboto" panose="02000000000000000000" pitchFamily="2" charset="0"/>
                <a:ea typeface="Roboto" panose="02000000000000000000" pitchFamily="2" charset="0"/>
              </a:rPr>
              <a:t>da unidade, como suas qualificações, atribuições, utilização de processos, bem</a:t>
            </a:r>
          </a:p>
          <a:p>
            <a:r>
              <a:rPr lang="pt-BR" sz="2000" spc="217" dirty="0">
                <a:latin typeface="Roboto" panose="02000000000000000000" pitchFamily="2" charset="0"/>
                <a:ea typeface="Roboto" panose="02000000000000000000" pitchFamily="2" charset="0"/>
              </a:rPr>
              <a:t>como opiniões sobre a unidade e o trabalho. </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Se uma boa relação é estabelecida</a:t>
            </a:r>
          </a:p>
          <a:p>
            <a:r>
              <a:rPr lang="pt-BR" sz="2000" spc="217" dirty="0">
                <a:latin typeface="Roboto" panose="02000000000000000000" pitchFamily="2" charset="0"/>
                <a:ea typeface="Roboto" panose="02000000000000000000" pitchFamily="2" charset="0"/>
              </a:rPr>
              <a:t>com o entrevistado ou com um pequeno grupo de entrevistados, eles podem</a:t>
            </a:r>
          </a:p>
          <a:p>
            <a:r>
              <a:rPr lang="pt-BR" sz="2000" spc="217" dirty="0">
                <a:latin typeface="Roboto" panose="02000000000000000000" pitchFamily="2" charset="0"/>
                <a:ea typeface="Roboto" panose="02000000000000000000" pitchFamily="2" charset="0"/>
              </a:rPr>
              <a:t>se sentir mais seguros para falar sobre questões mais delicadas do que em um</a:t>
            </a:r>
          </a:p>
          <a:p>
            <a:r>
              <a:rPr lang="pt-BR" sz="2000" spc="217" dirty="0">
                <a:latin typeface="Roboto" panose="02000000000000000000" pitchFamily="2" charset="0"/>
                <a:ea typeface="Roboto" panose="02000000000000000000" pitchFamily="2" charset="0"/>
              </a:rPr>
              <a:t>grupo maior</a:t>
            </a:r>
            <a:endParaRPr lang="en-US"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pic>
        <p:nvPicPr>
          <p:cNvPr id="2" name="Picture 4" descr="Entrevista com gestor: como se preparar para conversar com a liderança?">
            <a:extLst>
              <a:ext uri="{FF2B5EF4-FFF2-40B4-BE49-F238E27FC236}">
                <a16:creationId xmlns:a16="http://schemas.microsoft.com/office/drawing/2014/main" id="{9F335485-63A4-6608-40E1-79C7E5CDA2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95" t="2728" r="23254" b="-2728"/>
          <a:stretch/>
        </p:blipFill>
        <p:spPr bwMode="auto">
          <a:xfrm>
            <a:off x="6946086" y="224404"/>
            <a:ext cx="3214306" cy="664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846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4616648"/>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entrevista exige uma boa preparação por</a:t>
            </a:r>
          </a:p>
          <a:p>
            <a:r>
              <a:rPr lang="pt-BR" sz="2000" spc="217" dirty="0">
                <a:latin typeface="Roboto" panose="02000000000000000000" pitchFamily="2" charset="0"/>
                <a:ea typeface="Roboto" panose="02000000000000000000" pitchFamily="2" charset="0"/>
              </a:rPr>
              <a:t>parte do entrevistador. É recomendado que ele prepare uma lista de questões</a:t>
            </a:r>
          </a:p>
          <a:p>
            <a:r>
              <a:rPr lang="pt-BR" sz="2000" spc="217" dirty="0">
                <a:latin typeface="Roboto" panose="02000000000000000000" pitchFamily="2" charset="0"/>
                <a:ea typeface="Roboto" panose="02000000000000000000" pitchFamily="2" charset="0"/>
              </a:rPr>
              <a:t>mais abrangentes no início e que, progressivamente, ficam mais detalhadas.</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As questões devem seguir uma ordem lógica e abordar um assunto de cada vez.</a:t>
            </a:r>
          </a:p>
          <a:p>
            <a:r>
              <a:rPr lang="pt-BR" sz="2000" spc="217" dirty="0">
                <a:latin typeface="Roboto" panose="02000000000000000000" pitchFamily="2" charset="0"/>
                <a:ea typeface="Roboto" panose="02000000000000000000" pitchFamily="2" charset="0"/>
              </a:rPr>
              <a:t>O roteiro com as questões deve servir apenas para guiar e orientar o processo</a:t>
            </a:r>
          </a:p>
          <a:p>
            <a:r>
              <a:rPr lang="pt-BR" sz="2000" spc="217" dirty="0">
                <a:latin typeface="Roboto" panose="02000000000000000000" pitchFamily="2" charset="0"/>
                <a:ea typeface="Roboto" panose="02000000000000000000" pitchFamily="2" charset="0"/>
              </a:rPr>
              <a:t>de entrevista, ele não deve ser usado de forma restritiva, pois a riqueza do</a:t>
            </a:r>
          </a:p>
          <a:p>
            <a:r>
              <a:rPr lang="pt-BR" sz="2000" spc="217" dirty="0">
                <a:latin typeface="Roboto" panose="02000000000000000000" pitchFamily="2" charset="0"/>
                <a:ea typeface="Roboto" panose="02000000000000000000" pitchFamily="2" charset="0"/>
              </a:rPr>
              <a:t>processo de entrevista está justamente no oposto. </a:t>
            </a:r>
          </a:p>
          <a:p>
            <a:endParaRPr lang="pt-BR"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pic>
        <p:nvPicPr>
          <p:cNvPr id="2" name="Picture 4" descr="Entrevista com gestor: como se preparar para conversar com a liderança?">
            <a:extLst>
              <a:ext uri="{FF2B5EF4-FFF2-40B4-BE49-F238E27FC236}">
                <a16:creationId xmlns:a16="http://schemas.microsoft.com/office/drawing/2014/main" id="{A5BAD499-5758-1A33-C2CA-1F4D33A025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229" t="1795" r="43520" b="-1795"/>
          <a:stretch/>
        </p:blipFill>
        <p:spPr bwMode="auto">
          <a:xfrm>
            <a:off x="6946086" y="224404"/>
            <a:ext cx="3214306" cy="664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009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153888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O entrevistador tem que dar espaço para que o entrevistado possa se manifestar livremente sobre seus anseios em relação à solução que está sendo desenvolvida</a:t>
            </a:r>
            <a:endParaRPr lang="en-US"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pic>
        <p:nvPicPr>
          <p:cNvPr id="2" name="Picture 4" descr="Entrevista com gestor: como se preparar para conversar com a liderança?">
            <a:extLst>
              <a:ext uri="{FF2B5EF4-FFF2-40B4-BE49-F238E27FC236}">
                <a16:creationId xmlns:a16="http://schemas.microsoft.com/office/drawing/2014/main" id="{180277C2-EFD5-5097-53DE-3CF2A2F1BF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95" t="2728" r="23254" b="-2728"/>
          <a:stretch/>
        </p:blipFill>
        <p:spPr bwMode="auto">
          <a:xfrm>
            <a:off x="6946086" y="224404"/>
            <a:ext cx="3214306" cy="6647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399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Dificuldades</a:t>
            </a:r>
            <a:r>
              <a:rPr lang="en-US" sz="4000" b="1" spc="67" dirty="0">
                <a:latin typeface="Century Gothic" panose="020B0502020202020204" pitchFamily="34" charset="0"/>
              </a:rPr>
              <a:t> </a:t>
            </a:r>
          </a:p>
        </p:txBody>
      </p:sp>
      <p:sp>
        <p:nvSpPr>
          <p:cNvPr id="6" name="TextBox 4"/>
          <p:cNvSpPr txBox="1"/>
          <p:nvPr/>
        </p:nvSpPr>
        <p:spPr>
          <a:xfrm>
            <a:off x="4940299" y="2029411"/>
            <a:ext cx="6783128" cy="338554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entrevista pode não obter os resultados desejados, caso ocorra uma das seguintes situações: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falta de preparo do condutor da entrevista;</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falta de preparo do entrevistado;</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tendência do entrevistado em dar respostas agradáveis;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tendência do entrevistado em focar em palpites ou em respostas falsas;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resistência do entrevistado com declarações do tipo “não sei”, “não conheço”</a:t>
            </a:r>
            <a:endParaRPr lang="en-US" sz="2000" spc="217" dirty="0">
              <a:latin typeface="Roboto" panose="02000000000000000000" pitchFamily="2" charset="0"/>
              <a:ea typeface="Roboto" panose="02000000000000000000" pitchFamily="2" charset="0"/>
            </a:endParaRPr>
          </a:p>
        </p:txBody>
      </p:sp>
      <p:pic>
        <p:nvPicPr>
          <p:cNvPr id="13314" name="Picture 2" descr="Saiba quais são as perguntas mais frequentes em uma entrevista de emprego -  Blog | Escola São Pelegrino">
            <a:extLst>
              <a:ext uri="{FF2B5EF4-FFF2-40B4-BE49-F238E27FC236}">
                <a16:creationId xmlns:a16="http://schemas.microsoft.com/office/drawing/2014/main" id="{C6C85907-CE23-9A5B-7DC1-F555645847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924" t="455" r="36202" b="-455"/>
          <a:stretch/>
        </p:blipFill>
        <p:spPr bwMode="auto">
          <a:xfrm>
            <a:off x="1" y="545594"/>
            <a:ext cx="4460200"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98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r>
              <a:rPr lang="en-US" sz="4000" b="1" spc="67" dirty="0">
                <a:latin typeface="Century Gothic" panose="020B0502020202020204" pitchFamily="34" charset="0"/>
              </a:rPr>
              <a:t> </a:t>
            </a:r>
          </a:p>
        </p:txBody>
      </p:sp>
      <p:sp>
        <p:nvSpPr>
          <p:cNvPr id="6" name="TextBox 4"/>
          <p:cNvSpPr txBox="1"/>
          <p:nvPr/>
        </p:nvSpPr>
        <p:spPr>
          <a:xfrm>
            <a:off x="4940299" y="2029411"/>
            <a:ext cx="6783128" cy="338554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Embora a entrevista geralmente seja conduzida de forma presencial, hoje já é muito comum que ela também seja realizada on-line, usando ferramentas de comunicação. O único cuidado é garantir que a tecnologia de suporte</a:t>
            </a:r>
          </a:p>
          <a:p>
            <a:r>
              <a:rPr lang="pt-BR" sz="2000" spc="217" dirty="0">
                <a:latin typeface="Roboto" panose="02000000000000000000" pitchFamily="2" charset="0"/>
                <a:ea typeface="Roboto" panose="02000000000000000000" pitchFamily="2" charset="0"/>
              </a:rPr>
              <a:t>(ferramenta, rede, internet) funcione adequadamente, evitando as interrupções,</a:t>
            </a:r>
          </a:p>
          <a:p>
            <a:r>
              <a:rPr lang="pt-BR" sz="2000" spc="217" dirty="0">
                <a:latin typeface="Roboto" panose="02000000000000000000" pitchFamily="2" charset="0"/>
                <a:ea typeface="Roboto" panose="02000000000000000000" pitchFamily="2" charset="0"/>
              </a:rPr>
              <a:t>que prejudicam o andamento da conversa. Interrupções por falha na tecnologia fazem com que se perca o ritmo da conversa e se gaste tempo para retomar ao ponto anterior</a:t>
            </a:r>
            <a:endParaRPr lang="en-US" sz="2000" spc="217" dirty="0">
              <a:latin typeface="Roboto" panose="02000000000000000000" pitchFamily="2" charset="0"/>
              <a:ea typeface="Roboto" panose="02000000000000000000" pitchFamily="2" charset="0"/>
            </a:endParaRPr>
          </a:p>
        </p:txBody>
      </p:sp>
      <p:pic>
        <p:nvPicPr>
          <p:cNvPr id="19458" name="Picture 2" descr="Entrevista remota: conheça as nossas dicas | Carreira &amp; Sucesso">
            <a:extLst>
              <a:ext uri="{FF2B5EF4-FFF2-40B4-BE49-F238E27FC236}">
                <a16:creationId xmlns:a16="http://schemas.microsoft.com/office/drawing/2014/main" id="{B8648757-00E0-D8E7-6874-74DF2EF583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612" r="25612"/>
          <a:stretch/>
        </p:blipFill>
        <p:spPr bwMode="auto">
          <a:xfrm>
            <a:off x="0" y="528506"/>
            <a:ext cx="4460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24203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Entrevista</a:t>
            </a:r>
            <a:endParaRPr lang="en-US" sz="4000" b="1" spc="67" dirty="0">
              <a:latin typeface="Century Gothic" panose="020B0502020202020204" pitchFamily="34" charset="0"/>
            </a:endParaRPr>
          </a:p>
        </p:txBody>
      </p:sp>
      <p:sp>
        <p:nvSpPr>
          <p:cNvPr id="6" name="TextBox 4"/>
          <p:cNvSpPr txBox="1"/>
          <p:nvPr/>
        </p:nvSpPr>
        <p:spPr>
          <a:xfrm>
            <a:off x="4940299" y="2029411"/>
            <a:ext cx="6783128" cy="338554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É de extrema importância de praticar a escuta ativa em todas as interações com os usuários.</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Isso significa manter uma postura</a:t>
            </a:r>
          </a:p>
          <a:p>
            <a:r>
              <a:rPr lang="pt-BR" sz="2000" spc="217" dirty="0">
                <a:latin typeface="Roboto" panose="02000000000000000000" pitchFamily="2" charset="0"/>
                <a:ea typeface="Roboto" panose="02000000000000000000" pitchFamily="2" charset="0"/>
              </a:rPr>
              <a:t>corporal receptiva, ter paciência, dar feedback verbal e questionar pontos que não ficaram claros. </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Além disso, outra forma de demonstrar a escuta ativa é parafrasear o que o entrevistado disse, demonstrando que entendeu a mensagem</a:t>
            </a:r>
            <a:endParaRPr lang="en-US" sz="2000" spc="217" dirty="0">
              <a:latin typeface="Roboto" panose="02000000000000000000" pitchFamily="2" charset="0"/>
              <a:ea typeface="Roboto" panose="02000000000000000000" pitchFamily="2" charset="0"/>
            </a:endParaRPr>
          </a:p>
        </p:txBody>
      </p:sp>
      <p:pic>
        <p:nvPicPr>
          <p:cNvPr id="2" name="Picture 2" descr="Saiba quais são as perguntas mais frequentes em uma entrevista de emprego -  Blog | Escola São Pelegrino">
            <a:extLst>
              <a:ext uri="{FF2B5EF4-FFF2-40B4-BE49-F238E27FC236}">
                <a16:creationId xmlns:a16="http://schemas.microsoft.com/office/drawing/2014/main" id="{4A178227-FFB5-DD33-6B38-B4CE8AD0D71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924" t="455" r="36202" b="-455"/>
          <a:stretch/>
        </p:blipFill>
        <p:spPr bwMode="auto">
          <a:xfrm>
            <a:off x="1" y="545594"/>
            <a:ext cx="4460200"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5773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184665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Uma reunião é o intercâmbio de ideias, sugestões e opiniões entre determinados</a:t>
            </a:r>
          </a:p>
          <a:p>
            <a:r>
              <a:rPr lang="pt-BR" sz="2000" spc="217" dirty="0">
                <a:latin typeface="Roboto" panose="02000000000000000000" pitchFamily="2" charset="0"/>
                <a:ea typeface="Roboto" panose="02000000000000000000" pitchFamily="2" charset="0"/>
              </a:rPr>
              <a:t>indivíduos, visando à aceitação de um ponto de vista (esclarecimento, conclusão, decisão, linha de ação etc.) por parte dos participantes.</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0484" name="Picture 4" descr="Reunião: 5 passos para executar uma reunião produtiva">
            <a:extLst>
              <a:ext uri="{FF2B5EF4-FFF2-40B4-BE49-F238E27FC236}">
                <a16:creationId xmlns:a16="http://schemas.microsoft.com/office/drawing/2014/main" id="{1646DC26-972A-D8BC-5B97-08AB19858E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 t="-1559" r="67760" b="1559"/>
          <a:stretch/>
        </p:blipFill>
        <p:spPr bwMode="auto">
          <a:xfrm>
            <a:off x="6949609" y="100354"/>
            <a:ext cx="3214307" cy="675764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797210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4001095"/>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Assim como a entrevista, a reunião exige uma preparação por parte de quem</a:t>
            </a:r>
          </a:p>
          <a:p>
            <a:r>
              <a:rPr lang="pt-BR" sz="2000" spc="217" dirty="0">
                <a:latin typeface="Roboto" panose="02000000000000000000" pitchFamily="2" charset="0"/>
                <a:ea typeface="Roboto" panose="02000000000000000000" pitchFamily="2" charset="0"/>
              </a:rPr>
              <a:t>vai conduzi-la. É preciso organizar a agenda dos tópicos que serão tratados,</a:t>
            </a:r>
          </a:p>
          <a:p>
            <a:r>
              <a:rPr lang="pt-BR" sz="2000" spc="217" dirty="0">
                <a:latin typeface="Roboto" panose="02000000000000000000" pitchFamily="2" charset="0"/>
                <a:ea typeface="Roboto" panose="02000000000000000000" pitchFamily="2" charset="0"/>
              </a:rPr>
              <a:t>bem como o tempo estimado para discutir cada item</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Material de apoio deve ser</a:t>
            </a:r>
          </a:p>
          <a:p>
            <a:r>
              <a:rPr lang="pt-BR" sz="2000" spc="217" dirty="0">
                <a:latin typeface="Roboto" panose="02000000000000000000" pitchFamily="2" charset="0"/>
                <a:ea typeface="Roboto" panose="02000000000000000000" pitchFamily="2" charset="0"/>
              </a:rPr>
              <a:t>providenciado, como quadro branco e canetas para anotações, computador,</a:t>
            </a:r>
          </a:p>
          <a:p>
            <a:r>
              <a:rPr lang="pt-BR" sz="2000" spc="217" dirty="0">
                <a:latin typeface="Roboto" panose="02000000000000000000" pitchFamily="2" charset="0"/>
                <a:ea typeface="Roboto" panose="02000000000000000000" pitchFamily="2" charset="0"/>
              </a:rPr>
              <a:t>projetor, tela de projeção e demais materiais de escritório</a:t>
            </a:r>
          </a:p>
          <a:p>
            <a:endParaRPr lang="pt-BR"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4" descr="Reunião: 5 passos para executar uma reunião produtiva">
            <a:extLst>
              <a:ext uri="{FF2B5EF4-FFF2-40B4-BE49-F238E27FC236}">
                <a16:creationId xmlns:a16="http://schemas.microsoft.com/office/drawing/2014/main" id="{7C076435-B224-D269-007A-120EB5785B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683" t="-1233" r="44112" b="1233"/>
          <a:stretch/>
        </p:blipFill>
        <p:spPr bwMode="auto">
          <a:xfrm>
            <a:off x="6949609" y="100354"/>
            <a:ext cx="3214307" cy="675764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3433696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139321"/>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reunião tem estes três momentos:</a:t>
            </a:r>
          </a:p>
          <a:p>
            <a:endParaRPr lang="pt-BR" sz="2000" spc="217" dirty="0">
              <a:latin typeface="Roboto" panose="02000000000000000000" pitchFamily="2" charset="0"/>
              <a:ea typeface="Roboto" panose="02000000000000000000" pitchFamily="2" charset="0"/>
            </a:endParaRPr>
          </a:p>
          <a:p>
            <a:r>
              <a:rPr lang="pt-BR" sz="2400" b="1" i="1" spc="217" dirty="0">
                <a:latin typeface="Roboto" panose="02000000000000000000" pitchFamily="2" charset="0"/>
                <a:ea typeface="Roboto" panose="02000000000000000000" pitchFamily="2" charset="0"/>
              </a:rPr>
              <a:t>Abertura</a:t>
            </a:r>
            <a:r>
              <a:rPr lang="pt-BR" sz="2000" spc="217" dirty="0">
                <a:latin typeface="Roboto" panose="02000000000000000000" pitchFamily="2" charset="0"/>
                <a:ea typeface="Roboto" panose="02000000000000000000" pitchFamily="2" charset="0"/>
              </a:rPr>
              <a:t>: apresentação dos participantes, dos objetivos da reunião, das regras de condução e da duração prevista, bem como definição do redator da ata de reunião. </a:t>
            </a:r>
          </a:p>
          <a:p>
            <a:r>
              <a:rPr lang="pt-BR" sz="2000" spc="217" dirty="0">
                <a:latin typeface="Roboto" panose="02000000000000000000" pitchFamily="2" charset="0"/>
                <a:ea typeface="Roboto" panose="02000000000000000000" pitchFamily="2" charset="0"/>
              </a:rPr>
              <a:t>Caso seja uma reunião de continuidade,</a:t>
            </a:r>
          </a:p>
          <a:p>
            <a:r>
              <a:rPr lang="pt-BR" sz="2000" spc="217" dirty="0">
                <a:latin typeface="Roboto" panose="02000000000000000000" pitchFamily="2" charset="0"/>
                <a:ea typeface="Roboto" panose="02000000000000000000" pitchFamily="2" charset="0"/>
              </a:rPr>
              <a:t>a ata da reunião anterior deve ser lida e os pontos pendentes, tratados.</a:t>
            </a:r>
          </a:p>
          <a:p>
            <a:endParaRPr lang="pt-BR" sz="20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 name="Picture 4" descr="Reunião: 5 passos para executar uma reunião produtiva">
            <a:extLst>
              <a:ext uri="{FF2B5EF4-FFF2-40B4-BE49-F238E27FC236}">
                <a16:creationId xmlns:a16="http://schemas.microsoft.com/office/drawing/2014/main" id="{FC06E921-7A75-AF1F-78DD-90A9FE802A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2561" t="-1559" r="25234" b="1559"/>
          <a:stretch/>
        </p:blipFill>
        <p:spPr bwMode="auto">
          <a:xfrm>
            <a:off x="6949609" y="100354"/>
            <a:ext cx="3214307" cy="675764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245608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523768"/>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reunião tem estes três momentos:</a:t>
            </a:r>
          </a:p>
          <a:p>
            <a:endParaRPr lang="pt-BR" sz="2000" spc="217" dirty="0">
              <a:latin typeface="Roboto" panose="02000000000000000000" pitchFamily="2" charset="0"/>
              <a:ea typeface="Roboto" panose="02000000000000000000" pitchFamily="2" charset="0"/>
            </a:endParaRPr>
          </a:p>
          <a:p>
            <a:r>
              <a:rPr lang="pt-BR" sz="2400" b="1" i="1" spc="217" dirty="0">
                <a:latin typeface="Roboto" panose="02000000000000000000" pitchFamily="2" charset="0"/>
                <a:ea typeface="Roboto" panose="02000000000000000000" pitchFamily="2" charset="0"/>
              </a:rPr>
              <a:t>Abordagem dos tópicos: </a:t>
            </a:r>
            <a:r>
              <a:rPr lang="pt-BR" sz="2000" spc="217" dirty="0">
                <a:latin typeface="Roboto" panose="02000000000000000000" pitchFamily="2" charset="0"/>
                <a:ea typeface="Roboto" panose="02000000000000000000" pitchFamily="2" charset="0"/>
              </a:rPr>
              <a:t>exposição dos problemas e/ou questões que se deseja resolver no decorrer da reunião; abertura da discussão e ponderação até a seleção da alternativa mais adequada; busca pela</a:t>
            </a:r>
          </a:p>
          <a:p>
            <a:r>
              <a:rPr lang="pt-BR" sz="2000" spc="217" dirty="0">
                <a:latin typeface="Roboto" panose="02000000000000000000" pitchFamily="2" charset="0"/>
                <a:ea typeface="Roboto" panose="02000000000000000000" pitchFamily="2" charset="0"/>
              </a:rPr>
              <a:t>decisão consensual, evitando os conflitos.</a:t>
            </a:r>
            <a:endParaRPr lang="pt-BR"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 name="Picture 4" descr="Reunião: 5 passos para executar uma reunião produtiva">
            <a:extLst>
              <a:ext uri="{FF2B5EF4-FFF2-40B4-BE49-F238E27FC236}">
                <a16:creationId xmlns:a16="http://schemas.microsoft.com/office/drawing/2014/main" id="{25794E64-7A08-EEDD-8035-ECD044D067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295" t="-1559" r="6500" b="1559"/>
          <a:stretch/>
        </p:blipFill>
        <p:spPr bwMode="auto">
          <a:xfrm>
            <a:off x="6949609" y="100354"/>
            <a:ext cx="3214307" cy="675764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940927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1908215"/>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reunião tem estes três momentos:</a:t>
            </a:r>
          </a:p>
          <a:p>
            <a:endParaRPr lang="pt-BR" sz="2000" spc="217" dirty="0">
              <a:latin typeface="Roboto" panose="02000000000000000000" pitchFamily="2" charset="0"/>
              <a:ea typeface="Roboto" panose="02000000000000000000" pitchFamily="2" charset="0"/>
            </a:endParaRPr>
          </a:p>
          <a:p>
            <a:r>
              <a:rPr lang="pt-BR" sz="2400" b="1" i="1" spc="217" dirty="0">
                <a:latin typeface="Roboto" panose="02000000000000000000" pitchFamily="2" charset="0"/>
                <a:ea typeface="Roboto" panose="02000000000000000000" pitchFamily="2" charset="0"/>
              </a:rPr>
              <a:t>Conclusão: </a:t>
            </a:r>
            <a:r>
              <a:rPr lang="pt-BR" sz="2000" spc="217" dirty="0">
                <a:latin typeface="Roboto" panose="02000000000000000000" pitchFamily="2" charset="0"/>
                <a:ea typeface="Roboto" panose="02000000000000000000" pitchFamily="2" charset="0"/>
              </a:rPr>
              <a:t>definição de quem é responsável pelas ações decorrentes</a:t>
            </a:r>
          </a:p>
          <a:p>
            <a:r>
              <a:rPr lang="pt-BR" sz="2000" spc="217" dirty="0">
                <a:latin typeface="Roboto" panose="02000000000000000000" pitchFamily="2" charset="0"/>
                <a:ea typeface="Roboto" panose="02000000000000000000" pitchFamily="2" charset="0"/>
              </a:rPr>
              <a:t>da reunião e como será retornado o feedback para os participantes.</a:t>
            </a:r>
            <a:endParaRPr lang="pt-BR" sz="1600" spc="217" dirty="0">
              <a:latin typeface="Roboto" panose="02000000000000000000" pitchFamily="2" charset="0"/>
              <a:ea typeface="Roboto" panose="02000000000000000000" pitchFamily="2" charset="0"/>
            </a:endParaRP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4" descr="Reunião: 5 passos para executar uma reunião produtiva">
            <a:extLst>
              <a:ext uri="{FF2B5EF4-FFF2-40B4-BE49-F238E27FC236}">
                <a16:creationId xmlns:a16="http://schemas.microsoft.com/office/drawing/2014/main" id="{A4AE69E4-4D04-5002-0688-2783A9E5B02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830" t="-1559" r="-35" b="1559"/>
          <a:stretch/>
        </p:blipFill>
        <p:spPr bwMode="auto">
          <a:xfrm>
            <a:off x="6949609" y="100354"/>
            <a:ext cx="3214307" cy="675764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816221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Dificuldades</a:t>
            </a:r>
            <a:r>
              <a:rPr lang="en-US" sz="4000" b="1" spc="67" dirty="0">
                <a:latin typeface="Century Gothic" panose="020B0502020202020204" pitchFamily="34" charset="0"/>
              </a:rPr>
              <a:t> </a:t>
            </a:r>
          </a:p>
        </p:txBody>
      </p:sp>
      <p:sp>
        <p:nvSpPr>
          <p:cNvPr id="6" name="TextBox 4"/>
          <p:cNvSpPr txBox="1"/>
          <p:nvPr/>
        </p:nvSpPr>
        <p:spPr>
          <a:xfrm>
            <a:off x="4940298" y="2029411"/>
            <a:ext cx="6960549" cy="4001095"/>
          </a:xfrm>
          <a:prstGeom prst="rect">
            <a:avLst/>
          </a:prstGeom>
        </p:spPr>
        <p:txBody>
          <a:bodyPr wrap="square" lIns="0" tIns="0" rIns="0" bIns="0" rtlCol="0" anchor="t">
            <a:spAutoFit/>
          </a:bodyPr>
          <a:lstStyle/>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possível dominação da reunião por um só indivíduo, cujo talento, personalidade ou conhecimento inibem os demais participantes </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houver conformidade de alguns participantes, aceitando a opinião da maioria para se sentirem parte do grupo ou para evitar o conflito </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houver faltas, atrasos e saídas antecipadas;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o ambiente físico for inadequado, levando ao desconforto ou distrações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houver participação de pessoas não relacionadas ao assunto, que não contribuem e ainda podem atrapalhar os resultados</a:t>
            </a:r>
            <a:endParaRPr lang="en-US" sz="2000" spc="217" dirty="0">
              <a:latin typeface="Roboto" panose="02000000000000000000" pitchFamily="2" charset="0"/>
              <a:ea typeface="Roboto" panose="02000000000000000000" pitchFamily="2" charset="0"/>
            </a:endParaRPr>
          </a:p>
        </p:txBody>
      </p:sp>
      <p:pic>
        <p:nvPicPr>
          <p:cNvPr id="22530" name="Picture 2" descr="Os 6 segredos para reuniões produtivas em sua empresa - Fortes Tecnologia">
            <a:extLst>
              <a:ext uri="{FF2B5EF4-FFF2-40B4-BE49-F238E27FC236}">
                <a16:creationId xmlns:a16="http://schemas.microsoft.com/office/drawing/2014/main" id="{A7A58AA0-2049-A488-6087-08FD9EAEEC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364" r="44817"/>
          <a:stretch/>
        </p:blipFill>
        <p:spPr bwMode="auto">
          <a:xfrm>
            <a:off x="0" y="528506"/>
            <a:ext cx="4460200" cy="632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80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r>
              <a:rPr lang="en-US" sz="4000" b="1" spc="67" dirty="0">
                <a:latin typeface="Century Gothic" panose="020B0502020202020204" pitchFamily="34" charset="0"/>
              </a:rPr>
              <a:t> </a:t>
            </a:r>
          </a:p>
        </p:txBody>
      </p:sp>
      <p:sp>
        <p:nvSpPr>
          <p:cNvPr id="6" name="TextBox 4"/>
          <p:cNvSpPr txBox="1"/>
          <p:nvPr/>
        </p:nvSpPr>
        <p:spPr>
          <a:xfrm>
            <a:off x="4940298" y="2029411"/>
            <a:ext cx="6960549" cy="3693319"/>
          </a:xfrm>
          <a:prstGeom prst="rect">
            <a:avLst/>
          </a:prstGeom>
        </p:spPr>
        <p:txBody>
          <a:bodyPr wrap="square" lIns="0" tIns="0" rIns="0" bIns="0" rtlCol="0" anchor="t">
            <a:spAutoFit/>
          </a:bodyPr>
          <a:lstStyle/>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encaminhe a agenda para os participantes com antecedência, para que possam se planejar (assunto, participantes, horário, local)</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necessário, faça a reunião em outro local, afastado do ambiente de trabalho, para evitar interrupções;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evite impasses, pois, em uma discussão, não devem existir vencedores nem derrotados</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não mude de opinião apenas para impedir o conflito, siga os seus objetivos com coerência</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encaminhe as decisões por meio de consenso, nunca por votação ou barganha</a:t>
            </a:r>
            <a:endParaRPr lang="en-US" sz="2000" spc="217" dirty="0">
              <a:latin typeface="Roboto" panose="02000000000000000000" pitchFamily="2" charset="0"/>
              <a:ea typeface="Roboto" panose="02000000000000000000" pitchFamily="2" charset="0"/>
            </a:endParaRPr>
          </a:p>
        </p:txBody>
      </p:sp>
      <p:pic>
        <p:nvPicPr>
          <p:cNvPr id="2" name="Picture 2" descr="Os 6 segredos para reuniões produtivas em sua empresa - Fortes Tecnologia">
            <a:extLst>
              <a:ext uri="{FF2B5EF4-FFF2-40B4-BE49-F238E27FC236}">
                <a16:creationId xmlns:a16="http://schemas.microsoft.com/office/drawing/2014/main" id="{20B4128E-4CA0-01D0-2A30-ADECD79165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926" r="28255"/>
          <a:stretch/>
        </p:blipFill>
        <p:spPr bwMode="auto">
          <a:xfrm>
            <a:off x="0" y="528506"/>
            <a:ext cx="4460200" cy="632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660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Reunião</a:t>
            </a:r>
            <a:r>
              <a:rPr lang="en-US" sz="4000" b="1" spc="67" dirty="0">
                <a:latin typeface="Century Gothic" panose="020B0502020202020204" pitchFamily="34" charset="0"/>
              </a:rPr>
              <a:t> </a:t>
            </a:r>
          </a:p>
        </p:txBody>
      </p:sp>
      <p:sp>
        <p:nvSpPr>
          <p:cNvPr id="6" name="TextBox 4"/>
          <p:cNvSpPr txBox="1"/>
          <p:nvPr/>
        </p:nvSpPr>
        <p:spPr>
          <a:xfrm>
            <a:off x="4940298" y="2029411"/>
            <a:ext cx="6960549" cy="2462213"/>
          </a:xfrm>
          <a:prstGeom prst="rect">
            <a:avLst/>
          </a:prstGeom>
        </p:spPr>
        <p:txBody>
          <a:bodyPr wrap="square" lIns="0" tIns="0" rIns="0" bIns="0" rtlCol="0" anchor="t">
            <a:spAutoFit/>
          </a:bodyPr>
          <a:lstStyle/>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se possível, procure registrar os acontecimentos diretamente em uma ata ou memória da reunião e obtenha as assinaturas ao final da reunião, evitando assim questionamentos posteriores quanto ao seu conteúdo.</a:t>
            </a:r>
          </a:p>
          <a:p>
            <a:pPr marL="342900" indent="-342900">
              <a:buFont typeface="Wingdings" panose="05000000000000000000" pitchFamily="2" charset="2"/>
              <a:buChar char="q"/>
            </a:pPr>
            <a:r>
              <a:rPr lang="pt-BR" sz="2000" spc="217" dirty="0">
                <a:latin typeface="Roboto" panose="02000000000000000000" pitchFamily="2" charset="0"/>
                <a:ea typeface="Roboto" panose="02000000000000000000" pitchFamily="2" charset="0"/>
              </a:rPr>
              <a:t>ao concluir a reunião, agende data, horário e local da próxima, se necessário;</a:t>
            </a:r>
            <a:endParaRPr lang="en-US" sz="2000" spc="217" dirty="0">
              <a:latin typeface="Roboto" panose="02000000000000000000" pitchFamily="2" charset="0"/>
              <a:ea typeface="Roboto" panose="02000000000000000000" pitchFamily="2" charset="0"/>
            </a:endParaRPr>
          </a:p>
        </p:txBody>
      </p:sp>
      <p:pic>
        <p:nvPicPr>
          <p:cNvPr id="2" name="Picture 2" descr="Os 6 segredos para reuniões produtivas em sua empresa - Fortes Tecnologia">
            <a:extLst>
              <a:ext uri="{FF2B5EF4-FFF2-40B4-BE49-F238E27FC236}">
                <a16:creationId xmlns:a16="http://schemas.microsoft.com/office/drawing/2014/main" id="{4A507E6C-399F-1DB3-6084-F4C38329FE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6557" r="6624"/>
          <a:stretch/>
        </p:blipFill>
        <p:spPr bwMode="auto">
          <a:xfrm>
            <a:off x="0" y="528506"/>
            <a:ext cx="4460200" cy="632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183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7699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O brainstorming consiste em uma “tempestade de ideias”, sem julgamentos</a:t>
            </a:r>
          </a:p>
          <a:p>
            <a:r>
              <a:rPr lang="pt-BR" sz="2000" spc="217" dirty="0">
                <a:latin typeface="Roboto" panose="02000000000000000000" pitchFamily="2" charset="0"/>
                <a:ea typeface="Roboto" panose="02000000000000000000" pitchFamily="2" charset="0"/>
              </a:rPr>
              <a:t>ou análises, que ocorre em um ambiente descontraído e informal. Sentar-se</a:t>
            </a:r>
          </a:p>
          <a:p>
            <a:r>
              <a:rPr lang="pt-BR" sz="2000" spc="217" dirty="0">
                <a:latin typeface="Roboto" panose="02000000000000000000" pitchFamily="2" charset="0"/>
                <a:ea typeface="Roboto" panose="02000000000000000000" pitchFamily="2" charset="0"/>
              </a:rPr>
              <a:t>sozinho ou com um amigo para pensar em uma nova ideia não é exatamente</a:t>
            </a:r>
          </a:p>
          <a:p>
            <a:r>
              <a:rPr lang="pt-BR" sz="2000" spc="217" dirty="0">
                <a:latin typeface="Roboto" panose="02000000000000000000" pitchFamily="2" charset="0"/>
                <a:ea typeface="Roboto" panose="02000000000000000000" pitchFamily="2" charset="0"/>
              </a:rPr>
              <a:t>um brainstorming. A aplicação da técnica requer preparação e envolvimento</a:t>
            </a:r>
          </a:p>
          <a:p>
            <a:r>
              <a:rPr lang="pt-BR" sz="2000" spc="217" dirty="0">
                <a:latin typeface="Roboto" panose="02000000000000000000" pitchFamily="2" charset="0"/>
                <a:ea typeface="Roboto" panose="02000000000000000000" pitchFamily="2" charset="0"/>
              </a:rPr>
              <a:t>de mais pessoas.</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a:latin typeface="Century Gothic" panose="020B0502020202020204" pitchFamily="34" charset="0"/>
              </a:rPr>
              <a:t>Brainstorming</a:t>
            </a: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7650" name="Picture 2" descr="Curso de brainstorming — resolva problemas mais rapidamente com o  mapeamento da mente | Aisha Borel | Skillshare">
            <a:extLst>
              <a:ext uri="{FF2B5EF4-FFF2-40B4-BE49-F238E27FC236}">
                <a16:creationId xmlns:a16="http://schemas.microsoft.com/office/drawing/2014/main" id="{B2B4EF57-387C-CF0A-F2F6-8634193A71B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271" t="-152" r="58820" b="152"/>
          <a:stretch/>
        </p:blipFill>
        <p:spPr bwMode="auto">
          <a:xfrm>
            <a:off x="6946085" y="214304"/>
            <a:ext cx="3214306" cy="664369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5661763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46221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Como o próprio nome sugere, esta é uma técnica na qual o analista de requisitos vai a campo para poder observar como o trabalho ocorre. Esta técnica utiliza os sentidos na obtenção de determinados aspectos da realidade. Não consiste apenas em ver e ouvir, mas em examinar fatos ou fenômenos que se deseja estudar. </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Observação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3794" name="Picture 2" descr="observação, busca de oportunidade, curiosidade ou vigilância, inspecionar  ou descobrir novos negócios, busca de emprego ou conceito de candidato a  encontrar hr, empresário curioso olha através de binóculos com olhos  grandes. 15112131">
            <a:extLst>
              <a:ext uri="{FF2B5EF4-FFF2-40B4-BE49-F238E27FC236}">
                <a16:creationId xmlns:a16="http://schemas.microsoft.com/office/drawing/2014/main" id="{F425C4BA-B4F2-94E7-ECBD-53DC75F601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889" r="55864"/>
          <a:stretch/>
        </p:blipFill>
        <p:spPr bwMode="auto">
          <a:xfrm>
            <a:off x="6946085" y="0"/>
            <a:ext cx="321430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769793248"/>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7699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observação pode ser usada para confirmar informações obtidas das entrevistas, questionários ou documentos, comparando-as com a realidade.</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Ela é capaz ainda de ajudar a ter ideias sobre pontos nos quais o novo software</a:t>
            </a:r>
          </a:p>
          <a:p>
            <a:r>
              <a:rPr lang="pt-BR" sz="2000" spc="217" dirty="0">
                <a:latin typeface="Roboto" panose="02000000000000000000" pitchFamily="2" charset="0"/>
                <a:ea typeface="Roboto" panose="02000000000000000000" pitchFamily="2" charset="0"/>
              </a:rPr>
              <a:t>pode reduzir gargalos e minimizar trabalhos realizados de forma manual.</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Observação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 name="Picture 2" descr="observação, busca de oportunidade, curiosidade ou vigilância, inspecionar  ou descobrir novos negócios, busca de emprego ou conceito de candidato a  encontrar hr, empresário curioso olha através de binóculos com olhos  grandes. 15112131">
            <a:extLst>
              <a:ext uri="{FF2B5EF4-FFF2-40B4-BE49-F238E27FC236}">
                <a16:creationId xmlns:a16="http://schemas.microsoft.com/office/drawing/2014/main" id="{6844B527-6B16-10AC-E104-133EEDF92F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753" r="50000"/>
          <a:stretch/>
        </p:blipFill>
        <p:spPr bwMode="auto">
          <a:xfrm>
            <a:off x="6946085" y="0"/>
            <a:ext cx="321430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268197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7699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observação pode ser usada para confirmar informações obtidas das entrevistas, questionários ou documentos, comparando-as com a realidade.</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Ela é capaz ainda de ajudar a ter ideias sobre pontos nos quais o novo software</a:t>
            </a:r>
          </a:p>
          <a:p>
            <a:r>
              <a:rPr lang="pt-BR" sz="2000" spc="217" dirty="0">
                <a:latin typeface="Roboto" panose="02000000000000000000" pitchFamily="2" charset="0"/>
                <a:ea typeface="Roboto" panose="02000000000000000000" pitchFamily="2" charset="0"/>
              </a:rPr>
              <a:t>pode reduzir gargalos e minimizar trabalhos realizados de forma manual.</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Observação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 name="Picture 2" descr="observação, busca de oportunidade, curiosidade ou vigilância, inspecionar  ou descobrir novos negócios, busca de emprego ou conceito de candidato a  encontrar hr, empresário curioso olha através de binóculos com olhos  grandes. 15112131">
            <a:extLst>
              <a:ext uri="{FF2B5EF4-FFF2-40B4-BE49-F238E27FC236}">
                <a16:creationId xmlns:a16="http://schemas.microsoft.com/office/drawing/2014/main" id="{1AF25756-007F-1DA6-FACB-9B218ECD05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616" r="41137"/>
          <a:stretch/>
        </p:blipFill>
        <p:spPr bwMode="auto">
          <a:xfrm>
            <a:off x="6946085" y="0"/>
            <a:ext cx="321430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596859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2769989"/>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 principal limitação da observação é a interferência, mesmo que não intencional, no ambiente de trabalho. </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A presença de um observador sempre provoca perturbações nas pessoas, o que pode alterar as condições reais em que</a:t>
            </a:r>
          </a:p>
          <a:p>
            <a:r>
              <a:rPr lang="pt-BR" sz="2000" spc="217" dirty="0">
                <a:latin typeface="Roboto" panose="02000000000000000000" pitchFamily="2" charset="0"/>
                <a:ea typeface="Roboto" panose="02000000000000000000" pitchFamily="2" charset="0"/>
              </a:rPr>
              <a:t>o trabalho é realizado, por mais discreto que seja o observador</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Observação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 name="Picture 2" descr="observação, busca de oportunidade, curiosidade ou vigilância, inspecionar  ou descobrir novos negócios, busca de emprego ou conceito de candidato a  encontrar hr, empresário curioso olha através de binóculos com olhos  grandes. 15112131">
            <a:extLst>
              <a:ext uri="{FF2B5EF4-FFF2-40B4-BE49-F238E27FC236}">
                <a16:creationId xmlns:a16="http://schemas.microsoft.com/office/drawing/2014/main" id="{A0C4537C-8087-237F-E4EB-BE7571D70ED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794" r="31959"/>
          <a:stretch/>
        </p:blipFill>
        <p:spPr bwMode="auto">
          <a:xfrm>
            <a:off x="6946085" y="0"/>
            <a:ext cx="321430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610956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077766"/>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Há casos em que é possível realizar uma observação menos passiva e mais</a:t>
            </a:r>
          </a:p>
          <a:p>
            <a:r>
              <a:rPr lang="pt-BR" sz="2000" spc="217" dirty="0">
                <a:latin typeface="Roboto" panose="02000000000000000000" pitchFamily="2" charset="0"/>
                <a:ea typeface="Roboto" panose="02000000000000000000" pitchFamily="2" charset="0"/>
              </a:rPr>
              <a:t>ativa, na qual uma interação com o executor da tarefa é possível. </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Isso pode ser</a:t>
            </a:r>
          </a:p>
          <a:p>
            <a:r>
              <a:rPr lang="pt-BR" sz="2000" spc="217" dirty="0">
                <a:latin typeface="Roboto" panose="02000000000000000000" pitchFamily="2" charset="0"/>
                <a:ea typeface="Roboto" panose="02000000000000000000" pitchFamily="2" charset="0"/>
              </a:rPr>
              <a:t>útil para compreender por que ele tomou aquela decisão naquele momento e</a:t>
            </a:r>
          </a:p>
          <a:p>
            <a:r>
              <a:rPr lang="pt-BR" sz="2000" spc="217" dirty="0">
                <a:latin typeface="Roboto" panose="02000000000000000000" pitchFamily="2" charset="0"/>
                <a:ea typeface="Roboto" panose="02000000000000000000" pitchFamily="2" charset="0"/>
              </a:rPr>
              <a:t>com base em que informações a decisão foi tomada.</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Observação</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2" descr="observação, busca de oportunidade, curiosidade ou vigilância, inspecionar  ou descobrir novos negócios, busca de emprego ou conceito de candidato a  encontrar hr, empresário curioso olha através de binóculos com olhos  grandes. 15112131">
            <a:extLst>
              <a:ext uri="{FF2B5EF4-FFF2-40B4-BE49-F238E27FC236}">
                <a16:creationId xmlns:a16="http://schemas.microsoft.com/office/drawing/2014/main" id="{47504178-49C3-B6F2-8B7C-BE7E92EBE8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003" r="19750"/>
          <a:stretch/>
        </p:blipFill>
        <p:spPr bwMode="auto">
          <a:xfrm>
            <a:off x="6946085" y="0"/>
            <a:ext cx="321430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197464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Questionário</a:t>
            </a:r>
            <a:r>
              <a:rPr lang="en-US" sz="4000" b="1" spc="67" dirty="0">
                <a:latin typeface="Century Gothic" panose="020B0502020202020204" pitchFamily="34" charset="0"/>
              </a:rPr>
              <a:t> </a:t>
            </a:r>
          </a:p>
        </p:txBody>
      </p:sp>
      <p:sp>
        <p:nvSpPr>
          <p:cNvPr id="6" name="TextBox 4"/>
          <p:cNvSpPr txBox="1"/>
          <p:nvPr/>
        </p:nvSpPr>
        <p:spPr>
          <a:xfrm>
            <a:off x="4940298" y="2029411"/>
            <a:ext cx="6960549" cy="153888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O questionário é composto por um conjunto de perguntas com respostas objetivas ou abertas, dispostas em sequência lógica e progressiva. O objetivo do questionário é obter informações que servirão de base para tratamentos estatísticos</a:t>
            </a:r>
            <a:endParaRPr lang="en-US" sz="2000" spc="217" dirty="0">
              <a:latin typeface="Roboto" panose="02000000000000000000" pitchFamily="2" charset="0"/>
              <a:ea typeface="Roboto" panose="02000000000000000000" pitchFamily="2" charset="0"/>
            </a:endParaRPr>
          </a:p>
        </p:txBody>
      </p:sp>
      <p:pic>
        <p:nvPicPr>
          <p:cNvPr id="34820" name="Picture 4" descr="As boas práticas para criar um questionário de pesquisa | by Mergo | |  //ux.blog">
            <a:extLst>
              <a:ext uri="{FF2B5EF4-FFF2-40B4-BE49-F238E27FC236}">
                <a16:creationId xmlns:a16="http://schemas.microsoft.com/office/drawing/2014/main" id="{B8EFE79A-B833-101D-F7FE-65940E85E8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114" r="20495"/>
          <a:stretch/>
        </p:blipFill>
        <p:spPr bwMode="auto">
          <a:xfrm>
            <a:off x="1" y="528506"/>
            <a:ext cx="4460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7583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reeform 3"/>
          <p:cNvSpPr/>
          <p:nvPr/>
        </p:nvSpPr>
        <p:spPr>
          <a:xfrm>
            <a:off x="0" y="528506"/>
            <a:ext cx="4460200" cy="6329494"/>
          </a:xfrm>
          <a:custGeom>
            <a:avLst/>
            <a:gdLst/>
            <a:ahLst/>
            <a:cxnLst/>
            <a:rect l="l" t="t" r="r" b="b"/>
            <a:pathLst>
              <a:path w="5486400" h="7785780">
                <a:moveTo>
                  <a:pt x="0" y="0"/>
                </a:moveTo>
                <a:lnTo>
                  <a:pt x="5486400" y="0"/>
                </a:lnTo>
                <a:lnTo>
                  <a:pt x="5486400" y="7785780"/>
                </a:lnTo>
                <a:lnTo>
                  <a:pt x="0" y="7785780"/>
                </a:lnTo>
                <a:lnTo>
                  <a:pt x="0" y="0"/>
                </a:lnTo>
                <a:close/>
              </a:path>
            </a:pathLst>
          </a:custGeom>
          <a:blipFill>
            <a:blip r:embed="rId3"/>
            <a:stretch>
              <a:fillRect l="-3624" t="-5700" r="-3624"/>
            </a:stretch>
          </a:blipFill>
        </p:spPr>
      </p:sp>
      <p:sp>
        <p:nvSpPr>
          <p:cNvPr id="5" name="TextBox 5"/>
          <p:cNvSpPr txBox="1"/>
          <p:nvPr/>
        </p:nvSpPr>
        <p:spPr>
          <a:xfrm>
            <a:off x="4940299" y="1197803"/>
            <a:ext cx="6368062"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Questionário</a:t>
            </a:r>
            <a:r>
              <a:rPr lang="en-US" sz="4000" b="1" spc="67" dirty="0">
                <a:latin typeface="Century Gothic" panose="020B0502020202020204" pitchFamily="34" charset="0"/>
              </a:rPr>
              <a:t> </a:t>
            </a:r>
          </a:p>
        </p:txBody>
      </p:sp>
      <p:sp>
        <p:nvSpPr>
          <p:cNvPr id="6" name="TextBox 4"/>
          <p:cNvSpPr txBox="1"/>
          <p:nvPr/>
        </p:nvSpPr>
        <p:spPr>
          <a:xfrm>
            <a:off x="4940298" y="2029411"/>
            <a:ext cx="6960549" cy="430887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Embora, à primeira vista, possa parecer que utilizar um questionário seja uma atividade simples, na realidade, não é. Elaborar questões é uma tarefa que exige conhecimento e experiência.</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Primeiro, porque as pessoas não gostam de responder questionários e, portanto, ele deve ser curto e fácil de responder.</a:t>
            </a:r>
          </a:p>
          <a:p>
            <a:r>
              <a:rPr lang="pt-BR" sz="2000" spc="217" dirty="0">
                <a:latin typeface="Roboto" panose="02000000000000000000" pitchFamily="2" charset="0"/>
                <a:ea typeface="Roboto" panose="02000000000000000000" pitchFamily="2" charset="0"/>
              </a:rPr>
              <a:t>Segundo, porque exige habilidade para não introduzir viés e nem direcionar as respostas. E, por fim, as perguntas devem permitir que sejam obtidas as informações que o analista de requisitos necessita efetivamente. </a:t>
            </a:r>
            <a:endParaRPr lang="en-US" sz="2000" spc="217" dirty="0">
              <a:latin typeface="Roboto" panose="02000000000000000000" pitchFamily="2" charset="0"/>
              <a:ea typeface="Roboto" panose="02000000000000000000" pitchFamily="2" charset="0"/>
            </a:endParaRPr>
          </a:p>
        </p:txBody>
      </p:sp>
      <p:pic>
        <p:nvPicPr>
          <p:cNvPr id="2" name="Picture 4" descr="As boas práticas para criar um questionário de pesquisa | by Mergo | |  //ux.blog">
            <a:extLst>
              <a:ext uri="{FF2B5EF4-FFF2-40B4-BE49-F238E27FC236}">
                <a16:creationId xmlns:a16="http://schemas.microsoft.com/office/drawing/2014/main" id="{DA7BB13B-4081-6B6A-2583-F9D12A89AC2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114" r="20495"/>
          <a:stretch/>
        </p:blipFill>
        <p:spPr bwMode="auto">
          <a:xfrm>
            <a:off x="1" y="528506"/>
            <a:ext cx="4460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160177"/>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38554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Existem alguns tipos de requisitos que são provenientes de outras fontes não</a:t>
            </a:r>
          </a:p>
          <a:p>
            <a:r>
              <a:rPr lang="pt-BR" sz="2000" spc="217" dirty="0">
                <a:latin typeface="Roboto" panose="02000000000000000000" pitchFamily="2" charset="0"/>
                <a:ea typeface="Roboto" panose="02000000000000000000" pitchFamily="2" charset="0"/>
              </a:rPr>
              <a:t>humanas, como, por exemplo, leis ou normativas de órgãos regulamentadores.</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Essas leis ou normativas precisam ser lidas e interpretadas pelo analista de requisitos junto com os especialistas do negócio. As regras impostas tornam-se requisitos que devem ser atendidos pelo produto de software.</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Outras</a:t>
            </a:r>
            <a:r>
              <a:rPr lang="en-US" sz="4000" b="1" spc="67" dirty="0">
                <a:latin typeface="Century Gothic" panose="020B0502020202020204" pitchFamily="34" charset="0"/>
              </a:rPr>
              <a:t> </a:t>
            </a:r>
            <a:r>
              <a:rPr lang="en-US" sz="4000" b="1" spc="67" dirty="0" err="1">
                <a:latin typeface="Century Gothic" panose="020B0502020202020204" pitchFamily="34" charset="0"/>
              </a:rPr>
              <a:t>técnicas</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36868" name="Picture 4" descr="Nova Escola Box | Modelo para construir seu PPP">
            <a:extLst>
              <a:ext uri="{FF2B5EF4-FFF2-40B4-BE49-F238E27FC236}">
                <a16:creationId xmlns:a16="http://schemas.microsoft.com/office/drawing/2014/main" id="{99DEF6D5-9390-1970-961A-EC8934D7437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422" t="-147" r="51345"/>
          <a:stretch/>
        </p:blipFill>
        <p:spPr bwMode="auto">
          <a:xfrm>
            <a:off x="6946086" y="214304"/>
            <a:ext cx="3214306" cy="68681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59063038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385542"/>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Algumas vezes, o produto está sendo desenvolvido para substituir um</a:t>
            </a:r>
          </a:p>
          <a:p>
            <a:r>
              <a:rPr lang="pt-BR" sz="2000" spc="217" dirty="0">
                <a:latin typeface="Roboto" panose="02000000000000000000" pitchFamily="2" charset="0"/>
                <a:ea typeface="Roboto" panose="02000000000000000000" pitchFamily="2" charset="0"/>
              </a:rPr>
              <a:t>software anterior, que pode não ter documentação associada e, portanto, a única</a:t>
            </a:r>
          </a:p>
          <a:p>
            <a:r>
              <a:rPr lang="pt-BR" sz="2000" spc="217" dirty="0">
                <a:latin typeface="Roboto" panose="02000000000000000000" pitchFamily="2" charset="0"/>
                <a:ea typeface="Roboto" panose="02000000000000000000" pitchFamily="2" charset="0"/>
              </a:rPr>
              <a:t>fonte dos requisitos é o próprio software que está sendo substituído.</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Nesses casos, os requisitos podem ter que ser extraídos por meio da execução simulada</a:t>
            </a:r>
          </a:p>
          <a:p>
            <a:r>
              <a:rPr lang="pt-BR" sz="2000" spc="217" dirty="0">
                <a:latin typeface="Roboto" panose="02000000000000000000" pitchFamily="2" charset="0"/>
                <a:ea typeface="Roboto" panose="02000000000000000000" pitchFamily="2" charset="0"/>
              </a:rPr>
              <a:t>de tarefas (funcionalidades) ou da leitura do código-fonte. </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Outras</a:t>
            </a:r>
            <a:r>
              <a:rPr lang="en-US" sz="4000" b="1" spc="67" dirty="0">
                <a:latin typeface="Century Gothic" panose="020B0502020202020204" pitchFamily="34" charset="0"/>
              </a:rPr>
              <a:t> </a:t>
            </a:r>
            <a:r>
              <a:rPr lang="en-US" sz="4000" b="1" spc="67" dirty="0" err="1">
                <a:latin typeface="Century Gothic" panose="020B0502020202020204" pitchFamily="34" charset="0"/>
              </a:rPr>
              <a:t>técnicas</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4" descr="Nova Escola Box | Modelo para construir seu PPP">
            <a:extLst>
              <a:ext uri="{FF2B5EF4-FFF2-40B4-BE49-F238E27FC236}">
                <a16:creationId xmlns:a16="http://schemas.microsoft.com/office/drawing/2014/main" id="{E357F0FD-8F1C-DD50-686D-EA726C850DE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873" t="-147" r="23894"/>
          <a:stretch/>
        </p:blipFill>
        <p:spPr bwMode="auto">
          <a:xfrm>
            <a:off x="6946086" y="214304"/>
            <a:ext cx="3214306" cy="68681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1101725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p:cNvSpPr txBox="1"/>
          <p:nvPr/>
        </p:nvSpPr>
        <p:spPr>
          <a:xfrm>
            <a:off x="578023" y="1590207"/>
            <a:ext cx="6368062" cy="3077766"/>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rPr>
              <a:t>Além disto, pode ainda haver um backlog de sugestões de melhoria pendentes do sistema</a:t>
            </a:r>
          </a:p>
          <a:p>
            <a:r>
              <a:rPr lang="pt-BR" sz="2000" spc="217" dirty="0">
                <a:latin typeface="Roboto" panose="02000000000000000000" pitchFamily="2" charset="0"/>
                <a:ea typeface="Roboto" panose="02000000000000000000" pitchFamily="2" charset="0"/>
              </a:rPr>
              <a:t>anterior, que pode servir de base para as funcionalidades do novo produto.</a:t>
            </a: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rPr>
              <a:t>Abordagem similar é utilizada quando se quer obter requisitos a partir do</a:t>
            </a:r>
          </a:p>
          <a:p>
            <a:r>
              <a:rPr lang="pt-BR" sz="2000" spc="217" dirty="0">
                <a:latin typeface="Roboto" panose="02000000000000000000" pitchFamily="2" charset="0"/>
                <a:ea typeface="Roboto" panose="02000000000000000000" pitchFamily="2" charset="0"/>
              </a:rPr>
              <a:t>produto dos concorrentes, com a diferença de que, normalmente, não se</a:t>
            </a:r>
          </a:p>
          <a:p>
            <a:r>
              <a:rPr lang="pt-BR" sz="2000" spc="217" dirty="0">
                <a:latin typeface="Roboto" panose="02000000000000000000" pitchFamily="2" charset="0"/>
                <a:ea typeface="Roboto" panose="02000000000000000000" pitchFamily="2" charset="0"/>
              </a:rPr>
              <a:t>tem acesso ao código-fonte.</a:t>
            </a:r>
          </a:p>
        </p:txBody>
      </p:sp>
      <p:sp>
        <p:nvSpPr>
          <p:cNvPr id="6" name="TextBox 5"/>
          <p:cNvSpPr txBox="1"/>
          <p:nvPr/>
        </p:nvSpPr>
        <p:spPr>
          <a:xfrm>
            <a:off x="578022" y="660907"/>
            <a:ext cx="6589259" cy="615553"/>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Outras</a:t>
            </a:r>
            <a:r>
              <a:rPr lang="en-US" sz="4000" b="1" spc="67" dirty="0">
                <a:latin typeface="Century Gothic" panose="020B0502020202020204" pitchFamily="34" charset="0"/>
              </a:rPr>
              <a:t> </a:t>
            </a:r>
            <a:r>
              <a:rPr lang="en-US" sz="4000" b="1" spc="67" dirty="0" err="1">
                <a:latin typeface="Century Gothic" panose="020B0502020202020204" pitchFamily="34" charset="0"/>
              </a:rPr>
              <a:t>técnicas</a:t>
            </a:r>
            <a:endParaRPr lang="en-US" sz="4000" b="1" spc="67" dirty="0">
              <a:latin typeface="Century Gothic" panose="020B0502020202020204" pitchFamily="34" charset="0"/>
            </a:endParaRPr>
          </a:p>
        </p:txBody>
      </p:sp>
      <p:sp>
        <p:nvSpPr>
          <p:cNvPr id="8" name="Freeform 7"/>
          <p:cNvSpPr/>
          <p:nvPr/>
        </p:nvSpPr>
        <p:spPr>
          <a:xfrm>
            <a:off x="7345531" y="214304"/>
            <a:ext cx="2814860" cy="6643696"/>
          </a:xfrm>
          <a:custGeom>
            <a:avLst/>
            <a:gdLst/>
            <a:ahLst/>
            <a:cxnLst/>
            <a:rect l="l" t="t" r="r" b="b"/>
            <a:pathLst>
              <a:path w="4778193" h="11277600">
                <a:moveTo>
                  <a:pt x="0" y="0"/>
                </a:moveTo>
                <a:lnTo>
                  <a:pt x="4778193" y="0"/>
                </a:lnTo>
                <a:lnTo>
                  <a:pt x="4778193" y="11277600"/>
                </a:lnTo>
                <a:lnTo>
                  <a:pt x="0" y="11277600"/>
                </a:lnTo>
                <a:lnTo>
                  <a:pt x="0" y="0"/>
                </a:lnTo>
                <a:close/>
              </a:path>
            </a:pathLst>
          </a:custGeom>
          <a:blipFill>
            <a:blip r:embed="rId3">
              <a:alphaModFix amt="80000"/>
            </a:blip>
            <a:stretch>
              <a:fillRect l="-127127" r="-127127"/>
            </a:stretch>
          </a:blipFill>
        </p:spPr>
      </p:sp>
      <p:pic>
        <p:nvPicPr>
          <p:cNvPr id="2" name="Picture 4" descr="Nova Escola Box | Modelo para construir seu PPP">
            <a:extLst>
              <a:ext uri="{FF2B5EF4-FFF2-40B4-BE49-F238E27FC236}">
                <a16:creationId xmlns:a16="http://schemas.microsoft.com/office/drawing/2014/main" id="{68CBF253-9DE1-A2E7-6289-03FF78DED9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703" t="-147" r="13064"/>
          <a:stretch/>
        </p:blipFill>
        <p:spPr bwMode="auto">
          <a:xfrm>
            <a:off x="6946086" y="214304"/>
            <a:ext cx="3214306" cy="68681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703910" y="4173095"/>
            <a:ext cx="855927" cy="1447637"/>
            <a:chOff x="0" y="0"/>
            <a:chExt cx="1876698" cy="3174077"/>
          </a:xfrm>
        </p:grpSpPr>
        <p:grpSp>
          <p:nvGrpSpPr>
            <p:cNvPr id="10" name="Group 9"/>
            <p:cNvGrpSpPr/>
            <p:nvPr/>
          </p:nvGrpSpPr>
          <p:grpSpPr>
            <a:xfrm>
              <a:off x="0" y="2892181"/>
              <a:ext cx="1876698" cy="281896"/>
              <a:chOff x="0" y="0"/>
              <a:chExt cx="386286" cy="58024"/>
            </a:xfrm>
          </p:grpSpPr>
          <p:sp>
            <p:nvSpPr>
              <p:cNvPr id="23"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4" name="TextBox 11"/>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1" name="Group 12"/>
            <p:cNvGrpSpPr/>
            <p:nvPr/>
          </p:nvGrpSpPr>
          <p:grpSpPr>
            <a:xfrm>
              <a:off x="0" y="0"/>
              <a:ext cx="1876698" cy="281896"/>
              <a:chOff x="0" y="0"/>
              <a:chExt cx="386286" cy="58024"/>
            </a:xfrm>
          </p:grpSpPr>
          <p:sp>
            <p:nvSpPr>
              <p:cNvPr id="21"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2" name="TextBox 14"/>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2" name="Group 15"/>
            <p:cNvGrpSpPr/>
            <p:nvPr/>
          </p:nvGrpSpPr>
          <p:grpSpPr>
            <a:xfrm>
              <a:off x="0" y="723045"/>
              <a:ext cx="1876698" cy="281896"/>
              <a:chOff x="0" y="0"/>
              <a:chExt cx="386286" cy="58024"/>
            </a:xfrm>
          </p:grpSpPr>
          <p:sp>
            <p:nvSpPr>
              <p:cNvPr id="19"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20" name="TextBox 17"/>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3" name="Group 18"/>
            <p:cNvGrpSpPr/>
            <p:nvPr/>
          </p:nvGrpSpPr>
          <p:grpSpPr>
            <a:xfrm>
              <a:off x="0" y="1446090"/>
              <a:ext cx="1876698" cy="281896"/>
              <a:chOff x="0" y="0"/>
              <a:chExt cx="386286" cy="58024"/>
            </a:xfrm>
          </p:grpSpPr>
          <p:sp>
            <p:nvSpPr>
              <p:cNvPr id="17"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8" name="TextBox 20"/>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nvGrpSpPr>
            <p:cNvPr id="14" name="Group 21"/>
            <p:cNvGrpSpPr/>
            <p:nvPr/>
          </p:nvGrpSpPr>
          <p:grpSpPr>
            <a:xfrm>
              <a:off x="0" y="2169135"/>
              <a:ext cx="1876698" cy="281896"/>
              <a:chOff x="0" y="0"/>
              <a:chExt cx="386286" cy="58024"/>
            </a:xfrm>
          </p:grpSpPr>
          <p:sp>
            <p:nvSpPr>
              <p:cNvPr id="15" name="Freeform 22"/>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1726A9"/>
              </a:solidFill>
            </p:spPr>
          </p:sp>
          <p:sp>
            <p:nvSpPr>
              <p:cNvPr id="16" name="TextBox 23"/>
              <p:cNvSpPr txBox="1"/>
              <p:nvPr/>
            </p:nvSpPr>
            <p:spPr>
              <a:xfrm>
                <a:off x="0" y="-47625"/>
                <a:ext cx="812800" cy="860425"/>
              </a:xfrm>
              <a:prstGeom prst="rect">
                <a:avLst/>
              </a:prstGeom>
            </p:spPr>
            <p:txBody>
              <a:bodyPr lIns="33902" tIns="33902" rIns="33902" bIns="33902" rtlCol="0" anchor="ctr"/>
              <a:lstStyle/>
              <a:p>
                <a:pPr algn="ctr">
                  <a:lnSpc>
                    <a:spcPts val="3219"/>
                  </a:lnSpc>
                </a:pPr>
                <a:endParaRPr/>
              </a:p>
            </p:txBody>
          </p:sp>
        </p:grpSp>
      </p:grpSp>
    </p:spTree>
    <p:extLst>
      <p:ext uri="{BB962C8B-B14F-4D97-AF65-F5344CB8AC3E}">
        <p14:creationId xmlns:p14="http://schemas.microsoft.com/office/powerpoint/2010/main" val="212883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2"/>
          <p:cNvSpPr/>
          <p:nvPr/>
        </p:nvSpPr>
        <p:spPr>
          <a:xfrm>
            <a:off x="10984587" y="0"/>
            <a:ext cx="1207413" cy="6883966"/>
          </a:xfrm>
          <a:prstGeom prst="rect">
            <a:avLst/>
          </a:prstGeom>
          <a:solidFill>
            <a:srgbClr val="1A27A9"/>
          </a:solidFill>
        </p:spPr>
      </p:sp>
      <p:grpSp>
        <p:nvGrpSpPr>
          <p:cNvPr id="17" name="Group 5"/>
          <p:cNvGrpSpPr/>
          <p:nvPr/>
        </p:nvGrpSpPr>
        <p:grpSpPr>
          <a:xfrm>
            <a:off x="11725456" y="3519379"/>
            <a:ext cx="466544" cy="2285917"/>
            <a:chOff x="0" y="0"/>
            <a:chExt cx="1802089" cy="3047889"/>
          </a:xfrm>
        </p:grpSpPr>
        <p:grpSp>
          <p:nvGrpSpPr>
            <p:cNvPr id="18" name="Group 6"/>
            <p:cNvGrpSpPr/>
            <p:nvPr/>
          </p:nvGrpSpPr>
          <p:grpSpPr>
            <a:xfrm>
              <a:off x="0" y="2777199"/>
              <a:ext cx="1802089" cy="270689"/>
              <a:chOff x="0" y="0"/>
              <a:chExt cx="386286" cy="58024"/>
            </a:xfrm>
          </p:grpSpPr>
          <p:sp>
            <p:nvSpPr>
              <p:cNvPr id="31" name="Freeform 7"/>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2" name="TextBox 8"/>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9" name="Group 9"/>
            <p:cNvGrpSpPr/>
            <p:nvPr/>
          </p:nvGrpSpPr>
          <p:grpSpPr>
            <a:xfrm>
              <a:off x="0" y="0"/>
              <a:ext cx="1802089" cy="270689"/>
              <a:chOff x="0" y="0"/>
              <a:chExt cx="386286" cy="58024"/>
            </a:xfrm>
          </p:grpSpPr>
          <p:sp>
            <p:nvSpPr>
              <p:cNvPr id="29"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0" name="TextBox 11"/>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0" name="Group 12"/>
            <p:cNvGrpSpPr/>
            <p:nvPr/>
          </p:nvGrpSpPr>
          <p:grpSpPr>
            <a:xfrm>
              <a:off x="0" y="694300"/>
              <a:ext cx="1802089" cy="270689"/>
              <a:chOff x="0" y="0"/>
              <a:chExt cx="386286" cy="58024"/>
            </a:xfrm>
          </p:grpSpPr>
          <p:sp>
            <p:nvSpPr>
              <p:cNvPr id="27"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8" name="TextBox 14"/>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1" name="Group 15"/>
            <p:cNvGrpSpPr/>
            <p:nvPr/>
          </p:nvGrpSpPr>
          <p:grpSpPr>
            <a:xfrm>
              <a:off x="0" y="1388600"/>
              <a:ext cx="1802089" cy="270689"/>
              <a:chOff x="0" y="0"/>
              <a:chExt cx="386286" cy="58024"/>
            </a:xfrm>
          </p:grpSpPr>
          <p:sp>
            <p:nvSpPr>
              <p:cNvPr id="25"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6" name="TextBox 17"/>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2" name="Group 18"/>
            <p:cNvGrpSpPr/>
            <p:nvPr/>
          </p:nvGrpSpPr>
          <p:grpSpPr>
            <a:xfrm>
              <a:off x="0" y="2082899"/>
              <a:ext cx="1802089" cy="270689"/>
              <a:chOff x="0" y="0"/>
              <a:chExt cx="386286" cy="58024"/>
            </a:xfrm>
          </p:grpSpPr>
          <p:sp>
            <p:nvSpPr>
              <p:cNvPr id="23"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4" name="TextBox 20"/>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sp>
        <p:nvSpPr>
          <p:cNvPr id="2" name="TextBox 5">
            <a:extLst>
              <a:ext uri="{FF2B5EF4-FFF2-40B4-BE49-F238E27FC236}">
                <a16:creationId xmlns:a16="http://schemas.microsoft.com/office/drawing/2014/main" id="{BC215E9C-10BA-B632-A5D0-35EF8E635184}"/>
              </a:ext>
            </a:extLst>
          </p:cNvPr>
          <p:cNvSpPr txBox="1"/>
          <p:nvPr/>
        </p:nvSpPr>
        <p:spPr>
          <a:xfrm>
            <a:off x="651174" y="300252"/>
            <a:ext cx="6368062" cy="1846659"/>
          </a:xfrm>
          <a:prstGeom prst="rect">
            <a:avLst/>
          </a:prstGeom>
        </p:spPr>
        <p:txBody>
          <a:bodyPr wrap="square" lIns="0" tIns="0" rIns="0" bIns="0" rtlCol="0" anchor="t">
            <a:spAutoFit/>
          </a:bodyPr>
          <a:lstStyle/>
          <a:p>
            <a:r>
              <a:rPr lang="en-US" sz="4000" b="1" spc="67" dirty="0" err="1">
                <a:latin typeface="Century Gothic" panose="020B0502020202020204" pitchFamily="34" charset="0"/>
              </a:rPr>
              <a:t>Vá</a:t>
            </a:r>
            <a:r>
              <a:rPr lang="en-US" sz="4000" b="1" spc="67" dirty="0">
                <a:latin typeface="Century Gothic" panose="020B0502020202020204" pitchFamily="34" charset="0"/>
              </a:rPr>
              <a:t> </a:t>
            </a:r>
            <a:r>
              <a:rPr lang="en-US" sz="4000" b="1" spc="67" dirty="0" err="1">
                <a:latin typeface="Century Gothic" panose="020B0502020202020204" pitchFamily="34" charset="0"/>
              </a:rPr>
              <a:t>estudar</a:t>
            </a:r>
            <a:r>
              <a:rPr lang="en-US" sz="4000" b="1" spc="67" dirty="0">
                <a:latin typeface="Century Gothic" panose="020B0502020202020204" pitchFamily="34" charset="0"/>
              </a:rPr>
              <a:t> </a:t>
            </a:r>
            <a:r>
              <a:rPr lang="en-US" sz="4000" b="1" spc="67" dirty="0" err="1">
                <a:latin typeface="Century Gothic" panose="020B0502020202020204" pitchFamily="34" charset="0"/>
              </a:rPr>
              <a:t>mais</a:t>
            </a:r>
            <a:r>
              <a:rPr lang="en-US" sz="4000" b="1" spc="67" dirty="0">
                <a:latin typeface="Century Gothic" panose="020B0502020202020204" pitchFamily="34" charset="0"/>
              </a:rPr>
              <a:t>…</a:t>
            </a:r>
          </a:p>
          <a:p>
            <a:endParaRPr lang="en-US" sz="4000" b="1" spc="67" dirty="0">
              <a:latin typeface="Century Gothic" panose="020B0502020202020204" pitchFamily="34" charset="0"/>
            </a:endParaRPr>
          </a:p>
          <a:p>
            <a:endParaRPr lang="en-US" sz="4000" b="1" spc="67" dirty="0">
              <a:latin typeface="Century Gothic" panose="020B0502020202020204" pitchFamily="34" charset="0"/>
            </a:endParaRPr>
          </a:p>
        </p:txBody>
      </p:sp>
      <p:sp>
        <p:nvSpPr>
          <p:cNvPr id="4" name="TextBox 4">
            <a:extLst>
              <a:ext uri="{FF2B5EF4-FFF2-40B4-BE49-F238E27FC236}">
                <a16:creationId xmlns:a16="http://schemas.microsoft.com/office/drawing/2014/main" id="{08B78030-B464-F20A-A158-1CF2BFE9C703}"/>
              </a:ext>
            </a:extLst>
          </p:cNvPr>
          <p:cNvSpPr txBox="1"/>
          <p:nvPr/>
        </p:nvSpPr>
        <p:spPr>
          <a:xfrm>
            <a:off x="651174" y="1103482"/>
            <a:ext cx="9985450" cy="1538883"/>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hlinkClick r:id="rId2"/>
              </a:rPr>
              <a:t>https://www.youtube.com/watch?v=VcOeM2AD8Yk</a:t>
            </a:r>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hlinkClick r:id="rId3"/>
              </a:rPr>
              <a:t>https://www.youtube.com/watch?v=ME0LrcqbeO0</a:t>
            </a:r>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57594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2"/>
          <p:cNvSpPr/>
          <p:nvPr/>
        </p:nvSpPr>
        <p:spPr>
          <a:xfrm>
            <a:off x="10984587" y="0"/>
            <a:ext cx="1207413" cy="6883966"/>
          </a:xfrm>
          <a:prstGeom prst="rect">
            <a:avLst/>
          </a:prstGeom>
          <a:solidFill>
            <a:srgbClr val="1A27A9"/>
          </a:solidFill>
        </p:spPr>
      </p:sp>
      <p:grpSp>
        <p:nvGrpSpPr>
          <p:cNvPr id="17" name="Group 5"/>
          <p:cNvGrpSpPr/>
          <p:nvPr/>
        </p:nvGrpSpPr>
        <p:grpSpPr>
          <a:xfrm>
            <a:off x="11725456" y="3519379"/>
            <a:ext cx="466544" cy="2285917"/>
            <a:chOff x="0" y="0"/>
            <a:chExt cx="1802089" cy="3047889"/>
          </a:xfrm>
        </p:grpSpPr>
        <p:grpSp>
          <p:nvGrpSpPr>
            <p:cNvPr id="18" name="Group 6"/>
            <p:cNvGrpSpPr/>
            <p:nvPr/>
          </p:nvGrpSpPr>
          <p:grpSpPr>
            <a:xfrm>
              <a:off x="0" y="2777199"/>
              <a:ext cx="1802089" cy="270689"/>
              <a:chOff x="0" y="0"/>
              <a:chExt cx="386286" cy="58024"/>
            </a:xfrm>
          </p:grpSpPr>
          <p:sp>
            <p:nvSpPr>
              <p:cNvPr id="31" name="Freeform 7"/>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2" name="TextBox 8"/>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19" name="Group 9"/>
            <p:cNvGrpSpPr/>
            <p:nvPr/>
          </p:nvGrpSpPr>
          <p:grpSpPr>
            <a:xfrm>
              <a:off x="0" y="0"/>
              <a:ext cx="1802089" cy="270689"/>
              <a:chOff x="0" y="0"/>
              <a:chExt cx="386286" cy="58024"/>
            </a:xfrm>
          </p:grpSpPr>
          <p:sp>
            <p:nvSpPr>
              <p:cNvPr id="29" name="Freeform 10"/>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30" name="TextBox 11"/>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0" name="Group 12"/>
            <p:cNvGrpSpPr/>
            <p:nvPr/>
          </p:nvGrpSpPr>
          <p:grpSpPr>
            <a:xfrm>
              <a:off x="0" y="694300"/>
              <a:ext cx="1802089" cy="270689"/>
              <a:chOff x="0" y="0"/>
              <a:chExt cx="386286" cy="58024"/>
            </a:xfrm>
          </p:grpSpPr>
          <p:sp>
            <p:nvSpPr>
              <p:cNvPr id="27" name="Freeform 13"/>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8" name="TextBox 14"/>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1" name="Group 15"/>
            <p:cNvGrpSpPr/>
            <p:nvPr/>
          </p:nvGrpSpPr>
          <p:grpSpPr>
            <a:xfrm>
              <a:off x="0" y="1388600"/>
              <a:ext cx="1802089" cy="270689"/>
              <a:chOff x="0" y="0"/>
              <a:chExt cx="386286" cy="58024"/>
            </a:xfrm>
          </p:grpSpPr>
          <p:sp>
            <p:nvSpPr>
              <p:cNvPr id="25" name="Freeform 16"/>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6" name="TextBox 17"/>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nvGrpSpPr>
            <p:cNvPr id="22" name="Group 18"/>
            <p:cNvGrpSpPr/>
            <p:nvPr/>
          </p:nvGrpSpPr>
          <p:grpSpPr>
            <a:xfrm>
              <a:off x="0" y="2082899"/>
              <a:ext cx="1802089" cy="270689"/>
              <a:chOff x="0" y="0"/>
              <a:chExt cx="386286" cy="58024"/>
            </a:xfrm>
          </p:grpSpPr>
          <p:sp>
            <p:nvSpPr>
              <p:cNvPr id="23" name="Freeform 19"/>
              <p:cNvSpPr/>
              <p:nvPr/>
            </p:nvSpPr>
            <p:spPr>
              <a:xfrm>
                <a:off x="0" y="0"/>
                <a:ext cx="386286" cy="58024"/>
              </a:xfrm>
              <a:custGeom>
                <a:avLst/>
                <a:gdLst/>
                <a:ahLst/>
                <a:cxnLst/>
                <a:rect l="l" t="t" r="r" b="b"/>
                <a:pathLst>
                  <a:path w="386286" h="58024">
                    <a:moveTo>
                      <a:pt x="0" y="0"/>
                    </a:moveTo>
                    <a:lnTo>
                      <a:pt x="386286" y="0"/>
                    </a:lnTo>
                    <a:lnTo>
                      <a:pt x="386286" y="58024"/>
                    </a:lnTo>
                    <a:lnTo>
                      <a:pt x="0" y="58024"/>
                    </a:lnTo>
                    <a:close/>
                  </a:path>
                </a:pathLst>
              </a:custGeom>
              <a:solidFill>
                <a:srgbClr val="FFFFFF"/>
              </a:solidFill>
            </p:spPr>
          </p:sp>
          <p:sp>
            <p:nvSpPr>
              <p:cNvPr id="24" name="TextBox 20"/>
              <p:cNvSpPr txBox="1"/>
              <p:nvPr/>
            </p:nvSpPr>
            <p:spPr>
              <a:xfrm>
                <a:off x="0" y="-47625"/>
                <a:ext cx="812800" cy="860425"/>
              </a:xfrm>
              <a:prstGeom prst="rect">
                <a:avLst/>
              </a:prstGeom>
            </p:spPr>
            <p:txBody>
              <a:bodyPr lIns="33902" tIns="33902" rIns="33902" bIns="33902" rtlCol="0" anchor="ctr"/>
              <a:lstStyle/>
              <a:p>
                <a:pPr algn="ctr">
                  <a:lnSpc>
                    <a:spcPts val="3220"/>
                  </a:lnSpc>
                </a:pPr>
                <a:endParaRPr/>
              </a:p>
            </p:txBody>
          </p:sp>
        </p:grpSp>
      </p:grpSp>
      <p:sp>
        <p:nvSpPr>
          <p:cNvPr id="2" name="TextBox 5">
            <a:extLst>
              <a:ext uri="{FF2B5EF4-FFF2-40B4-BE49-F238E27FC236}">
                <a16:creationId xmlns:a16="http://schemas.microsoft.com/office/drawing/2014/main" id="{BC215E9C-10BA-B632-A5D0-35EF8E635184}"/>
              </a:ext>
            </a:extLst>
          </p:cNvPr>
          <p:cNvSpPr txBox="1"/>
          <p:nvPr/>
        </p:nvSpPr>
        <p:spPr>
          <a:xfrm>
            <a:off x="651174" y="300252"/>
            <a:ext cx="6368062" cy="1846659"/>
          </a:xfrm>
          <a:prstGeom prst="rect">
            <a:avLst/>
          </a:prstGeom>
        </p:spPr>
        <p:txBody>
          <a:bodyPr wrap="square" lIns="0" tIns="0" rIns="0" bIns="0" rtlCol="0" anchor="t">
            <a:spAutoFit/>
          </a:bodyPr>
          <a:lstStyle/>
          <a:p>
            <a:r>
              <a:rPr lang="en-US" sz="4000" b="1" spc="67" dirty="0">
                <a:latin typeface="Century Gothic" panose="020B0502020202020204" pitchFamily="34" charset="0"/>
              </a:rPr>
              <a:t>Referências</a:t>
            </a:r>
          </a:p>
          <a:p>
            <a:endParaRPr lang="en-US" sz="4000" b="1" spc="67" dirty="0">
              <a:latin typeface="Century Gothic" panose="020B0502020202020204" pitchFamily="34" charset="0"/>
            </a:endParaRPr>
          </a:p>
          <a:p>
            <a:endParaRPr lang="en-US" sz="4000" b="1" spc="67" dirty="0">
              <a:latin typeface="Century Gothic" panose="020B0502020202020204" pitchFamily="34" charset="0"/>
            </a:endParaRPr>
          </a:p>
        </p:txBody>
      </p:sp>
      <p:sp>
        <p:nvSpPr>
          <p:cNvPr id="4" name="TextBox 4">
            <a:extLst>
              <a:ext uri="{FF2B5EF4-FFF2-40B4-BE49-F238E27FC236}">
                <a16:creationId xmlns:a16="http://schemas.microsoft.com/office/drawing/2014/main" id="{08B78030-B464-F20A-A158-1CF2BFE9C703}"/>
              </a:ext>
            </a:extLst>
          </p:cNvPr>
          <p:cNvSpPr txBox="1"/>
          <p:nvPr/>
        </p:nvSpPr>
        <p:spPr>
          <a:xfrm>
            <a:off x="651174" y="1103482"/>
            <a:ext cx="9985450" cy="2154436"/>
          </a:xfrm>
          <a:prstGeom prst="rect">
            <a:avLst/>
          </a:prstGeom>
        </p:spPr>
        <p:txBody>
          <a:bodyPr wrap="square" lIns="0" tIns="0" rIns="0" bIns="0" rtlCol="0" anchor="t">
            <a:spAutoFit/>
          </a:bodyPr>
          <a:lstStyle/>
          <a:p>
            <a:r>
              <a:rPr lang="pt-BR" sz="2000" spc="217" dirty="0">
                <a:latin typeface="Roboto" panose="02000000000000000000" pitchFamily="2" charset="0"/>
                <a:ea typeface="Roboto" panose="02000000000000000000" pitchFamily="2" charset="0"/>
                <a:hlinkClick r:id="rId2"/>
              </a:rPr>
              <a:t>http://www.univasf.edu.br/~ricardo.aramos/disciplinas/ESI2009_2/Aula10.pdf</a:t>
            </a:r>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r>
              <a:rPr lang="pt-BR" sz="2000" spc="217" dirty="0">
                <a:latin typeface="Roboto" panose="02000000000000000000" pitchFamily="2" charset="0"/>
                <a:ea typeface="Roboto" panose="02000000000000000000" pitchFamily="2" charset="0"/>
                <a:hlinkClick r:id="rId3"/>
              </a:rPr>
              <a:t>https://visuresolutions.com/pt/blog/requirements-engineering-process/</a:t>
            </a:r>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a:p>
            <a:endParaRPr lang="pt-BR" sz="2000" spc="217"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35339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79151" y="1504689"/>
            <a:ext cx="1235730" cy="431807"/>
          </a:xfrm>
          <a:prstGeom prst="rect">
            <a:avLst/>
          </a:prstGeom>
        </p:spPr>
      </p:pic>
      <p:pic>
        <p:nvPicPr>
          <p:cNvPr id="5" name="Imagem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18255" y="1504688"/>
            <a:ext cx="1875820" cy="431807"/>
          </a:xfrm>
          <a:prstGeom prst="rect">
            <a:avLst/>
          </a:prstGeom>
        </p:spPr>
      </p:pic>
      <p:pic>
        <p:nvPicPr>
          <p:cNvPr id="6" name="Imagem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5483" y="1504688"/>
            <a:ext cx="878854" cy="431807"/>
          </a:xfrm>
          <a:prstGeom prst="rect">
            <a:avLst/>
          </a:prstGeom>
        </p:spPr>
      </p:pic>
      <p:pic>
        <p:nvPicPr>
          <p:cNvPr id="7" name="Imagem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67993" y="1504688"/>
            <a:ext cx="2156495" cy="469908"/>
          </a:xfrm>
          <a:prstGeom prst="rect">
            <a:avLst/>
          </a:prstGeom>
        </p:spPr>
      </p:pic>
      <p:pic>
        <p:nvPicPr>
          <p:cNvPr id="8" name="Imagem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88799" y="1504689"/>
            <a:ext cx="1602766" cy="431807"/>
          </a:xfrm>
          <a:prstGeom prst="rect">
            <a:avLst/>
          </a:prstGeom>
        </p:spPr>
      </p:pic>
      <p:pic>
        <p:nvPicPr>
          <p:cNvPr id="9" name="Imagem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67513" y="1504689"/>
            <a:ext cx="1837720" cy="433077"/>
          </a:xfrm>
          <a:prstGeom prst="rect">
            <a:avLst/>
          </a:prstGeom>
        </p:spPr>
      </p:pic>
      <p:pic>
        <p:nvPicPr>
          <p:cNvPr id="11" name="Imagem 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88164" y="4880306"/>
            <a:ext cx="1604036" cy="431807"/>
          </a:xfrm>
          <a:prstGeom prst="rect">
            <a:avLst/>
          </a:prstGeom>
        </p:spPr>
      </p:pic>
      <p:pic>
        <p:nvPicPr>
          <p:cNvPr id="12" name="Imagem 1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878516" y="4880306"/>
            <a:ext cx="1237000" cy="431807"/>
          </a:xfrm>
          <a:prstGeom prst="rect">
            <a:avLst/>
          </a:prstGeom>
        </p:spPr>
      </p:pic>
      <p:pic>
        <p:nvPicPr>
          <p:cNvPr id="13" name="Imagem 1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116350" y="4880306"/>
            <a:ext cx="1877090" cy="431807"/>
          </a:xfrm>
          <a:prstGeom prst="rect">
            <a:avLst/>
          </a:prstGeom>
        </p:spPr>
      </p:pic>
      <p:pic>
        <p:nvPicPr>
          <p:cNvPr id="14" name="Imagem 1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67513" y="4880306"/>
            <a:ext cx="1836450" cy="433077"/>
          </a:xfrm>
          <a:prstGeom prst="rect">
            <a:avLst/>
          </a:prstGeom>
        </p:spPr>
      </p:pic>
      <p:pic>
        <p:nvPicPr>
          <p:cNvPr id="15" name="Imagem 1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064213" y="4880306"/>
            <a:ext cx="880124" cy="431807"/>
          </a:xfrm>
          <a:prstGeom prst="rect">
            <a:avLst/>
          </a:prstGeom>
        </p:spPr>
      </p:pic>
      <p:pic>
        <p:nvPicPr>
          <p:cNvPr id="16" name="Imagem 1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67357" y="4880306"/>
            <a:ext cx="2157765" cy="469908"/>
          </a:xfrm>
          <a:prstGeom prst="rect">
            <a:avLst/>
          </a:prstGeom>
        </p:spPr>
      </p:pic>
    </p:spTree>
    <p:extLst>
      <p:ext uri="{BB962C8B-B14F-4D97-AF65-F5344CB8AC3E}">
        <p14:creationId xmlns:p14="http://schemas.microsoft.com/office/powerpoint/2010/main" val="3680511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23849bd-efdd-4698-a5e8-6d07bff0b75f">
      <Terms xmlns="http://schemas.microsoft.com/office/infopath/2007/PartnerControls"/>
    </lcf76f155ced4ddcb4097134ff3c332f>
    <TaxCatchAll xmlns="4edbee8a-60af-40c7-a1d3-c9cb7ff0de7c" xsi:nil="true"/>
    <_Flow_SignoffStatus xmlns="e23849bd-efdd-4698-a5e8-6d07bff0b75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0666A979BC38DF4AAB1275A32016FDBF" ma:contentTypeVersion="20" ma:contentTypeDescription="Crie um novo documento." ma:contentTypeScope="" ma:versionID="b5a954a23c23e5ff2f9e54c95d6f06e0">
  <xsd:schema xmlns:xsd="http://www.w3.org/2001/XMLSchema" xmlns:xs="http://www.w3.org/2001/XMLSchema" xmlns:p="http://schemas.microsoft.com/office/2006/metadata/properties" xmlns:ns2="e23849bd-efdd-4698-a5e8-6d07bff0b75f" xmlns:ns3="4edbee8a-60af-40c7-a1d3-c9cb7ff0de7c" targetNamespace="http://schemas.microsoft.com/office/2006/metadata/properties" ma:root="true" ma:fieldsID="dba1900a17775bf0174064ff91fc8af9" ns2:_="" ns3:_="">
    <xsd:import namespace="e23849bd-efdd-4698-a5e8-6d07bff0b75f"/>
    <xsd:import namespace="4edbee8a-60af-40c7-a1d3-c9cb7ff0de7c"/>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Details" minOccurs="0"/>
                <xsd:element ref="ns3:SharedWithUsers" minOccurs="0"/>
                <xsd:element ref="ns2:MediaServiceLocation" minOccurs="0"/>
                <xsd:element ref="ns2:MediaServiceAutoKeyPoints" minOccurs="0"/>
                <xsd:element ref="ns2:MediaServiceKeyPoints" minOccurs="0"/>
                <xsd:element ref="ns2:_Flow_SignoffStatu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849bd-efdd-4698-a5e8-6d07bff0b7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Flow_SignoffStatus" ma:index="20" nillable="true" ma:displayName="Estado da aprovação" ma:internalName="Estado_x0020_da_x0020_aprova_x00e7__x00e3_o">
      <xsd:simpleType>
        <xsd:restriction base="dms:Text"/>
      </xsd:simpleType>
    </xsd:element>
    <xsd:element name="lcf76f155ced4ddcb4097134ff3c332f" ma:index="22" nillable="true" ma:taxonomy="true" ma:internalName="lcf76f155ced4ddcb4097134ff3c332f" ma:taxonomyFieldName="MediaServiceImageTags" ma:displayName="Marcações de imagem" ma:readOnly="false" ma:fieldId="{5cf76f15-5ced-4ddc-b409-7134ff3c332f}" ma:taxonomyMulti="true" ma:sspId="a60f0fae-ccbd-443b-a613-a22fb470e024"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dbee8a-60af-40c7-a1d3-c9cb7ff0de7c" elementFormDefault="qualified">
    <xsd:import namespace="http://schemas.microsoft.com/office/2006/documentManagement/types"/>
    <xsd:import namespace="http://schemas.microsoft.com/office/infopath/2007/PartnerControls"/>
    <xsd:element name="SharedWithDetails" ma:index="15" nillable="true" ma:displayName="Detalhes de Compartilhado Com" ma:internalName="SharedWithDetails" ma:readOnly="true">
      <xsd:simpleType>
        <xsd:restriction base="dms:Note">
          <xsd:maxLength value="255"/>
        </xsd:restriction>
      </xsd:simpleType>
    </xsd:element>
    <xsd:element name="SharedWithUsers" ma:index="16"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xCatchAll" ma:index="23" nillable="true" ma:displayName="Taxonomy Catch All Column" ma:hidden="true" ma:list="{51026482-432d-4692-b32f-0750dfafe8bb}" ma:internalName="TaxCatchAll" ma:showField="CatchAllData" ma:web="4edbee8a-60af-40c7-a1d3-c9cb7ff0de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1FA07A-293F-4182-AB4A-00CDE458BEEC}">
  <ds:schemaRefs>
    <ds:schemaRef ds:uri="http://schemas.microsoft.com/office/2006/metadata/properties"/>
    <ds:schemaRef ds:uri="http://schemas.microsoft.com/office/infopath/2007/PartnerControls"/>
    <ds:schemaRef ds:uri="e23849bd-efdd-4698-a5e8-6d07bff0b75f"/>
    <ds:schemaRef ds:uri="4edbee8a-60af-40c7-a1d3-c9cb7ff0de7c"/>
  </ds:schemaRefs>
</ds:datastoreItem>
</file>

<file path=customXml/itemProps2.xml><?xml version="1.0" encoding="utf-8"?>
<ds:datastoreItem xmlns:ds="http://schemas.openxmlformats.org/officeDocument/2006/customXml" ds:itemID="{A566FC51-E906-4929-B198-8AA19A758C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849bd-efdd-4698-a5e8-6d07bff0b75f"/>
    <ds:schemaRef ds:uri="4edbee8a-60af-40c7-a1d3-c9cb7ff0de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A5EF7E-FEDD-4B84-8048-57A7AA2773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734</TotalTime>
  <Words>2247</Words>
  <Application>Microsoft Office PowerPoint</Application>
  <PresentationFormat>Widescreen</PresentationFormat>
  <Paragraphs>205</Paragraphs>
  <Slides>45</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45</vt:i4>
      </vt:variant>
    </vt:vector>
  </HeadingPairs>
  <TitlesOfParts>
    <vt:vector size="52" baseType="lpstr">
      <vt:lpstr>Arial</vt:lpstr>
      <vt:lpstr>Calibri</vt:lpstr>
      <vt:lpstr>Calibri Light</vt:lpstr>
      <vt:lpstr>Century Gothic</vt:lpstr>
      <vt:lpstr>Roboto</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Bruna dos Santos Braga</dc:creator>
  <cp:lastModifiedBy>Gregory Veloso Silva</cp:lastModifiedBy>
  <cp:revision>23</cp:revision>
  <dcterms:created xsi:type="dcterms:W3CDTF">2023-07-19T20:57:09Z</dcterms:created>
  <dcterms:modified xsi:type="dcterms:W3CDTF">2024-02-19T16:31:54Z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0x0101000666A979BC38DF4AAB1275A32016FDBF</vt:lpwstr>
  </property>
</Properties>
</file>