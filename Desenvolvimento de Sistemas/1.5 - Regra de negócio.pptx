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4" r:id="rId6"/>
    <p:sldId id="276" r:id="rId7"/>
    <p:sldId id="277" r:id="rId8"/>
    <p:sldId id="278" r:id="rId9"/>
    <p:sldId id="261" r:id="rId10"/>
    <p:sldId id="257" r:id="rId11"/>
    <p:sldId id="280" r:id="rId12"/>
    <p:sldId id="281" r:id="rId13"/>
    <p:sldId id="279" r:id="rId14"/>
    <p:sldId id="282" r:id="rId15"/>
    <p:sldId id="283" r:id="rId16"/>
    <p:sldId id="284" r:id="rId17"/>
    <p:sldId id="272" r:id="rId18"/>
    <p:sldId id="259" r:id="rId1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  <a:srgbClr val="1C23AC"/>
    <a:srgbClr val="2029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8F6ED1-1C9C-706E-9D4C-51EA8A971E59}" v="1" dt="2023-08-21T20:37:08.4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Estilo Médio 3 - Ênfase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5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B2A3A-CF44-4963-9E58-75E9E3D4DB71}" type="datetimeFigureOut">
              <a:rPr lang="pt-BR" smtClean="0"/>
              <a:t>23/02/2024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39AA5-5BCD-4FB7-BB87-EF7DD58EBD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232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B2A3A-CF44-4963-9E58-75E9E3D4DB71}" type="datetimeFigureOut">
              <a:rPr lang="pt-BR" smtClean="0"/>
              <a:t>23/02/2024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39AA5-5BCD-4FB7-BB87-EF7DD58EBD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1887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B2A3A-CF44-4963-9E58-75E9E3D4DB71}" type="datetimeFigureOut">
              <a:rPr lang="pt-BR" smtClean="0"/>
              <a:t>23/02/2024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39AA5-5BCD-4FB7-BB87-EF7DD58EBD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6405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B2A3A-CF44-4963-9E58-75E9E3D4DB71}" type="datetimeFigureOut">
              <a:rPr lang="pt-BR" smtClean="0"/>
              <a:t>23/02/2024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39AA5-5BCD-4FB7-BB87-EF7DD58EBD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254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B2A3A-CF44-4963-9E58-75E9E3D4DB71}" type="datetimeFigureOut">
              <a:rPr lang="pt-BR" smtClean="0"/>
              <a:t>23/02/2024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39AA5-5BCD-4FB7-BB87-EF7DD58EBD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1461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B2A3A-CF44-4963-9E58-75E9E3D4DB71}" type="datetimeFigureOut">
              <a:rPr lang="pt-BR" smtClean="0"/>
              <a:t>23/02/2024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39AA5-5BCD-4FB7-BB87-EF7DD58EBD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3767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B2A3A-CF44-4963-9E58-75E9E3D4DB71}" type="datetimeFigureOut">
              <a:rPr lang="pt-BR" smtClean="0"/>
              <a:t>23/02/2024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39AA5-5BCD-4FB7-BB87-EF7DD58EBD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1854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B2A3A-CF44-4963-9E58-75E9E3D4DB71}" type="datetimeFigureOut">
              <a:rPr lang="pt-BR" smtClean="0"/>
              <a:t>23/02/2024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39AA5-5BCD-4FB7-BB87-EF7DD58EBD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9561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B2A3A-CF44-4963-9E58-75E9E3D4DB71}" type="datetimeFigureOut">
              <a:rPr lang="pt-BR" smtClean="0"/>
              <a:t>23/02/2024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39AA5-5BCD-4FB7-BB87-EF7DD58EBD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8385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B2A3A-CF44-4963-9E58-75E9E3D4DB71}" type="datetimeFigureOut">
              <a:rPr lang="pt-BR" smtClean="0"/>
              <a:t>23/02/2024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39AA5-5BCD-4FB7-BB87-EF7DD58EBD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8267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B2A3A-CF44-4963-9E58-75E9E3D4DB71}" type="datetimeFigureOut">
              <a:rPr lang="pt-BR" smtClean="0"/>
              <a:t>23/02/2024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39AA5-5BCD-4FB7-BB87-EF7DD58EBD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9368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4B2A3A-CF44-4963-9E58-75E9E3D4DB71}" type="datetimeFigureOut">
              <a:rPr lang="pt-BR" smtClean="0"/>
              <a:t>23/02/2024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E39AA5-5BCD-4FB7-BB87-EF7DD58EBD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6032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lura.com.br/artigos/o-que-sao-regras-de-negocio#:~:text=Uma%20regra%20de%20neg%C3%B3cio%20descreve,Vamos%20destrinchar%20melhor%20essas%20defini%C3%A7%C3%B5es" TargetMode="External"/><Relationship Id="rId7" Type="http://schemas.openxmlformats.org/officeDocument/2006/relationships/hyperlink" Target="https://www.youtube.com/watch?v=N9w5-TChccQ" TargetMode="External"/><Relationship Id="rId2" Type="http://schemas.openxmlformats.org/officeDocument/2006/relationships/hyperlink" Target="https://www.ateomomento.com.br/o-que-e-regra-de-negocio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NsjIXy-pmEs" TargetMode="External"/><Relationship Id="rId5" Type="http://schemas.openxmlformats.org/officeDocument/2006/relationships/hyperlink" Target="https://www.youtube.com/watch?v=QyJDkR1Ejt4" TargetMode="External"/><Relationship Id="rId4" Type="http://schemas.openxmlformats.org/officeDocument/2006/relationships/hyperlink" Target="https://www.sydle.com/br/blog/regras-de-negocio-5f6333be1e43744c69d995e0" TargetMode="Externa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Agrupar 18">
            <a:extLst>
              <a:ext uri="{FF2B5EF4-FFF2-40B4-BE49-F238E27FC236}">
                <a16:creationId xmlns:a16="http://schemas.microsoft.com/office/drawing/2014/main" id="{846CADEE-C7EE-4E06-9632-84607C922B29}"/>
              </a:ext>
            </a:extLst>
          </p:cNvPr>
          <p:cNvGrpSpPr/>
          <p:nvPr/>
        </p:nvGrpSpPr>
        <p:grpSpPr>
          <a:xfrm>
            <a:off x="0" y="0"/>
            <a:ext cx="12192000" cy="7005918"/>
            <a:chOff x="389820" y="1729968"/>
            <a:chExt cx="10713720" cy="6302476"/>
          </a:xfrm>
        </p:grpSpPr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EE08A477-3390-4A88-8175-EFCF388B3F01}"/>
                </a:ext>
              </a:extLst>
            </p:cNvPr>
            <p:cNvSpPr/>
            <p:nvPr/>
          </p:nvSpPr>
          <p:spPr>
            <a:xfrm>
              <a:off x="389820" y="1729968"/>
              <a:ext cx="10713720" cy="6253992"/>
            </a:xfrm>
            <a:prstGeom prst="rect">
              <a:avLst/>
            </a:prstGeom>
            <a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0AAE235B-F313-4D9F-B15B-27111F24E55B}"/>
                </a:ext>
              </a:extLst>
            </p:cNvPr>
            <p:cNvSpPr/>
            <p:nvPr/>
          </p:nvSpPr>
          <p:spPr>
            <a:xfrm>
              <a:off x="389820" y="1729968"/>
              <a:ext cx="10713720" cy="6302476"/>
            </a:xfrm>
            <a:prstGeom prst="rect">
              <a:avLst/>
            </a:prstGeom>
            <a:solidFill>
              <a:srgbClr val="2029AD">
                <a:alpha val="55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007971" y="3622365"/>
            <a:ext cx="9265582" cy="1151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400"/>
              </a:lnSpc>
            </a:pPr>
            <a:r>
              <a:rPr lang="pt-BR" sz="5400" b="1" spc="124" dirty="0">
                <a:solidFill>
                  <a:schemeClr val="bg1"/>
                </a:solidFill>
                <a:latin typeface="Century Gothic" panose="020B0502020202020204" pitchFamily="34" charset="0"/>
              </a:rPr>
              <a:t>Regras de negócio</a:t>
            </a:r>
            <a:endParaRPr lang="en-US" sz="5400" b="1" spc="124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AAD58517-3032-46F2-82CF-CB5A744413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3923"/>
            <a:ext cx="7582958" cy="523948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DAF6D871-E5BF-4649-B56C-218575E5CF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918" y="2225673"/>
            <a:ext cx="6189197" cy="1667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192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4940299" y="1197803"/>
            <a:ext cx="6368062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b="1" spc="67" dirty="0">
                <a:latin typeface="Century Gothic" panose="020B0502020202020204" pitchFamily="34" charset="0"/>
              </a:rPr>
              <a:t>O que é um </a:t>
            </a:r>
            <a:r>
              <a:rPr lang="en-US" sz="4000" b="1" spc="67" dirty="0" err="1">
                <a:latin typeface="Century Gothic" panose="020B0502020202020204" pitchFamily="34" charset="0"/>
              </a:rPr>
              <a:t>requisito</a:t>
            </a:r>
            <a:r>
              <a:rPr lang="en-US" sz="4000" b="1" spc="67" dirty="0">
                <a:latin typeface="Century Gothic" panose="020B0502020202020204" pitchFamily="34" charset="0"/>
              </a:rPr>
              <a:t>?</a:t>
            </a:r>
          </a:p>
          <a:p>
            <a:endParaRPr lang="en-US" sz="4000" b="1" spc="67" dirty="0">
              <a:latin typeface="Century Gothic" panose="020B0502020202020204" pitchFamily="34" charset="0"/>
            </a:endParaRPr>
          </a:p>
        </p:txBody>
      </p:sp>
      <p:sp>
        <p:nvSpPr>
          <p:cNvPr id="6" name="TextBox 4"/>
          <p:cNvSpPr txBox="1"/>
          <p:nvPr/>
        </p:nvSpPr>
        <p:spPr>
          <a:xfrm>
            <a:off x="4940299" y="2029411"/>
            <a:ext cx="6516595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pt-BR" sz="2000" spc="217" dirty="0">
                <a:latin typeface="Roboto" panose="02000000000000000000" pitchFamily="2" charset="0"/>
                <a:ea typeface="Roboto" panose="02000000000000000000" pitchFamily="2" charset="0"/>
              </a:rPr>
              <a:t>Um requisito é precisamente definido como uma condição ou uma capacidade que um usuário precisa para resolver um problema ou atingir um objetivo. </a:t>
            </a:r>
          </a:p>
          <a:p>
            <a:r>
              <a:rPr lang="pt-BR" sz="2000" spc="217" dirty="0">
                <a:latin typeface="Roboto" panose="02000000000000000000" pitchFamily="2" charset="0"/>
                <a:ea typeface="Roboto" panose="02000000000000000000" pitchFamily="2" charset="0"/>
              </a:rPr>
              <a:t>Em outras palavras, requisitos são condições ou capacidades que devem ser atendidas ou possuídas por um sistema para satisfazer um contrato, padrões, especificações e outra documentação formal. </a:t>
            </a:r>
            <a:endParaRPr lang="en-US" sz="2000" spc="217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2" name="Picture 2" descr="Requisitos de Software - Diagrama">
            <a:extLst>
              <a:ext uri="{FF2B5EF4-FFF2-40B4-BE49-F238E27FC236}">
                <a16:creationId xmlns:a16="http://schemas.microsoft.com/office/drawing/2014/main" id="{633FF1F1-C007-341E-9358-F24483D022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95"/>
          <a:stretch/>
        </p:blipFill>
        <p:spPr bwMode="auto">
          <a:xfrm>
            <a:off x="120744" y="2069752"/>
            <a:ext cx="4581525" cy="2112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6736793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4940299" y="1197803"/>
            <a:ext cx="6368062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b="1" spc="67" dirty="0" err="1">
                <a:latin typeface="Century Gothic" panose="020B0502020202020204" pitchFamily="34" charset="0"/>
              </a:rPr>
              <a:t>Regras</a:t>
            </a:r>
            <a:r>
              <a:rPr lang="en-US" sz="4000" b="1" spc="67" dirty="0">
                <a:latin typeface="Century Gothic" panose="020B0502020202020204" pitchFamily="34" charset="0"/>
              </a:rPr>
              <a:t> de </a:t>
            </a:r>
            <a:r>
              <a:rPr lang="en-US" sz="4000" b="1" spc="67" dirty="0" err="1">
                <a:latin typeface="Century Gothic" panose="020B0502020202020204" pitchFamily="34" charset="0"/>
              </a:rPr>
              <a:t>negócio</a:t>
            </a:r>
            <a:endParaRPr lang="en-US" sz="4000" b="1" spc="67" dirty="0">
              <a:latin typeface="Century Gothic" panose="020B0502020202020204" pitchFamily="34" charset="0"/>
            </a:endParaRPr>
          </a:p>
          <a:p>
            <a:endParaRPr lang="en-US" sz="4000" b="1" spc="67" dirty="0">
              <a:latin typeface="Century Gothic" panose="020B0502020202020204" pitchFamily="34" charset="0"/>
            </a:endParaRPr>
          </a:p>
        </p:txBody>
      </p:sp>
      <p:sp>
        <p:nvSpPr>
          <p:cNvPr id="6" name="TextBox 4"/>
          <p:cNvSpPr txBox="1"/>
          <p:nvPr/>
        </p:nvSpPr>
        <p:spPr>
          <a:xfrm>
            <a:off x="4940299" y="2029411"/>
            <a:ext cx="6516595" cy="30777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pt-BR" sz="2000" spc="217" dirty="0">
                <a:latin typeface="Roboto" panose="02000000000000000000" pitchFamily="2" charset="0"/>
                <a:ea typeface="Roboto" panose="02000000000000000000" pitchFamily="2" charset="0"/>
              </a:rPr>
              <a:t>Regras de negócio (RN) são premissas e restrições aplicadas a uma operação comercial de uma empresa, que precisam ser atendidas para que o negócio funcione da maneira esperada. </a:t>
            </a:r>
          </a:p>
          <a:p>
            <a:endParaRPr lang="pt-BR" sz="2000" spc="217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pt-BR" sz="2000" spc="217" dirty="0">
                <a:latin typeface="Roboto" panose="02000000000000000000" pitchFamily="2" charset="0"/>
                <a:ea typeface="Roboto" panose="02000000000000000000" pitchFamily="2" charset="0"/>
              </a:rPr>
              <a:t>As </a:t>
            </a:r>
            <a:r>
              <a:rPr lang="pt-BR" sz="2000" spc="217" dirty="0" err="1">
                <a:latin typeface="Roboto" panose="02000000000000000000" pitchFamily="2" charset="0"/>
                <a:ea typeface="Roboto" panose="02000000000000000000" pitchFamily="2" charset="0"/>
              </a:rPr>
              <a:t>RNs</a:t>
            </a:r>
            <a:r>
              <a:rPr lang="pt-BR" sz="2000" spc="217" dirty="0">
                <a:latin typeface="Roboto" panose="02000000000000000000" pitchFamily="2" charset="0"/>
                <a:ea typeface="Roboto" panose="02000000000000000000" pitchFamily="2" charset="0"/>
              </a:rPr>
              <a:t> definem como o sistema fará o atendimento às necessidades/exigências definidas</a:t>
            </a:r>
          </a:p>
          <a:p>
            <a:endParaRPr lang="en-US" sz="2000" spc="217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2" name="Picture 8" descr="Processos de Negócio: o que são e como modelar? Exemplos. | Blog SYDLE">
            <a:extLst>
              <a:ext uri="{FF2B5EF4-FFF2-40B4-BE49-F238E27FC236}">
                <a16:creationId xmlns:a16="http://schemas.microsoft.com/office/drawing/2014/main" id="{70F57417-6B12-9EFD-69D4-291366CDAF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12" r="32910"/>
          <a:stretch/>
        </p:blipFill>
        <p:spPr bwMode="auto">
          <a:xfrm>
            <a:off x="0" y="520293"/>
            <a:ext cx="4460200" cy="6329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0075688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4940299" y="1197803"/>
            <a:ext cx="6368062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b="1" spc="67" dirty="0" err="1">
                <a:latin typeface="Century Gothic" panose="020B0502020202020204" pitchFamily="34" charset="0"/>
              </a:rPr>
              <a:t>Regras</a:t>
            </a:r>
            <a:r>
              <a:rPr lang="en-US" sz="4000" b="1" spc="67" dirty="0">
                <a:latin typeface="Century Gothic" panose="020B0502020202020204" pitchFamily="34" charset="0"/>
              </a:rPr>
              <a:t> de </a:t>
            </a:r>
            <a:r>
              <a:rPr lang="en-US" sz="4000" b="1" spc="67" dirty="0" err="1">
                <a:latin typeface="Century Gothic" panose="020B0502020202020204" pitchFamily="34" charset="0"/>
              </a:rPr>
              <a:t>negócio</a:t>
            </a:r>
            <a:endParaRPr lang="en-US" sz="4000" b="1" spc="67" dirty="0">
              <a:latin typeface="Century Gothic" panose="020B0502020202020204" pitchFamily="34" charset="0"/>
            </a:endParaRPr>
          </a:p>
          <a:p>
            <a:endParaRPr lang="en-US" sz="4000" b="1" spc="67" dirty="0">
              <a:latin typeface="Century Gothic" panose="020B0502020202020204" pitchFamily="34" charset="0"/>
            </a:endParaRPr>
          </a:p>
        </p:txBody>
      </p:sp>
      <p:sp>
        <p:nvSpPr>
          <p:cNvPr id="6" name="TextBox 4"/>
          <p:cNvSpPr txBox="1"/>
          <p:nvPr/>
        </p:nvSpPr>
        <p:spPr>
          <a:xfrm>
            <a:off x="4940299" y="2029411"/>
            <a:ext cx="6516595" cy="33855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pt-BR" sz="2000" spc="217" dirty="0">
                <a:latin typeface="Roboto" panose="02000000000000000000" pitchFamily="2" charset="0"/>
                <a:ea typeface="Roboto" panose="02000000000000000000" pitchFamily="2" charset="0"/>
              </a:rPr>
              <a:t>As regras ajudam empresas a expressarem os objetivos, determinações, limitações e procedimentos de seus produtos de forma clara, tanto para quem trabalha no desenvolvimento do produto quanto para quem o utiliza. É comum o foco em partes do negócio que precisam de regras claras, como por exemplo, controle de acesso, cálculos e valores e políticas internas do produto.</a:t>
            </a:r>
          </a:p>
          <a:p>
            <a:endParaRPr lang="pt-BR" sz="2000" spc="217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endParaRPr lang="en-US" sz="2000" spc="217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2" name="Picture 8" descr="Processos de Negócio: o que são e como modelar? Exemplos. | Blog SYDLE">
            <a:extLst>
              <a:ext uri="{FF2B5EF4-FFF2-40B4-BE49-F238E27FC236}">
                <a16:creationId xmlns:a16="http://schemas.microsoft.com/office/drawing/2014/main" id="{2129345F-96A9-A25E-D77A-CB2FA8D2B2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12" r="32910"/>
          <a:stretch/>
        </p:blipFill>
        <p:spPr bwMode="auto">
          <a:xfrm>
            <a:off x="0" y="520293"/>
            <a:ext cx="4460200" cy="6329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9837254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4940299" y="1197803"/>
            <a:ext cx="6368062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b="1" spc="67" dirty="0" err="1">
                <a:latin typeface="Century Gothic" panose="020B0502020202020204" pitchFamily="34" charset="0"/>
              </a:rPr>
              <a:t>Regras</a:t>
            </a:r>
            <a:r>
              <a:rPr lang="en-US" sz="4000" b="1" spc="67" dirty="0">
                <a:latin typeface="Century Gothic" panose="020B0502020202020204" pitchFamily="34" charset="0"/>
              </a:rPr>
              <a:t> de </a:t>
            </a:r>
            <a:r>
              <a:rPr lang="en-US" sz="4000" b="1" spc="67" dirty="0" err="1">
                <a:latin typeface="Century Gothic" panose="020B0502020202020204" pitchFamily="34" charset="0"/>
              </a:rPr>
              <a:t>negócio</a:t>
            </a:r>
            <a:endParaRPr lang="en-US" sz="4000" b="1" spc="67" dirty="0">
              <a:latin typeface="Century Gothic" panose="020B0502020202020204" pitchFamily="34" charset="0"/>
            </a:endParaRPr>
          </a:p>
          <a:p>
            <a:endParaRPr lang="en-US" sz="4000" b="1" spc="67" dirty="0">
              <a:latin typeface="Century Gothic" panose="020B0502020202020204" pitchFamily="34" charset="0"/>
            </a:endParaRPr>
          </a:p>
        </p:txBody>
      </p:sp>
      <p:sp>
        <p:nvSpPr>
          <p:cNvPr id="6" name="TextBox 4"/>
          <p:cNvSpPr txBox="1"/>
          <p:nvPr/>
        </p:nvSpPr>
        <p:spPr>
          <a:xfrm>
            <a:off x="4940299" y="2029411"/>
            <a:ext cx="6516595" cy="2154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pt-BR" sz="2000" spc="217" dirty="0">
                <a:latin typeface="Roboto" panose="02000000000000000000" pitchFamily="2" charset="0"/>
                <a:ea typeface="Roboto" panose="02000000000000000000" pitchFamily="2" charset="0"/>
              </a:rPr>
              <a:t>Uma regra, por definição, deve ser sucinta, direta e compreensível, lidando apenas com um aspecto ou atividade do negócio e definindo procedimentos para cada um destes aspectos ou atividades.</a:t>
            </a:r>
          </a:p>
          <a:p>
            <a:endParaRPr lang="pt-BR" sz="2000" spc="217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endParaRPr lang="en-US" sz="2000" spc="217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2" name="Picture 8" descr="Processos de Negócio: o que são e como modelar? Exemplos. | Blog SYDLE">
            <a:extLst>
              <a:ext uri="{FF2B5EF4-FFF2-40B4-BE49-F238E27FC236}">
                <a16:creationId xmlns:a16="http://schemas.microsoft.com/office/drawing/2014/main" id="{423167E6-B5BE-CE8F-837F-89CDE40E80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12" r="32910"/>
          <a:stretch/>
        </p:blipFill>
        <p:spPr bwMode="auto">
          <a:xfrm>
            <a:off x="0" y="520293"/>
            <a:ext cx="4460200" cy="6329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1823459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5303855" y="754050"/>
            <a:ext cx="6717815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pt-BR" sz="3200" b="1" spc="67" dirty="0">
                <a:latin typeface="Century Gothic" panose="020B0502020202020204" pitchFamily="34" charset="0"/>
              </a:rPr>
              <a:t>Exemplos de Regras de Negócio</a:t>
            </a:r>
            <a:endParaRPr lang="en-US" sz="3200" b="1" spc="67" dirty="0">
              <a:latin typeface="Century Gothic" panose="020B0502020202020204" pitchFamily="34" charset="0"/>
            </a:endParaRPr>
          </a:p>
        </p:txBody>
      </p:sp>
      <p:sp>
        <p:nvSpPr>
          <p:cNvPr id="6" name="TextBox 4"/>
          <p:cNvSpPr txBox="1"/>
          <p:nvPr/>
        </p:nvSpPr>
        <p:spPr>
          <a:xfrm>
            <a:off x="5303857" y="1286608"/>
            <a:ext cx="6368062" cy="5539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pt-BR" sz="2000" spc="217" dirty="0">
                <a:latin typeface="Roboto" panose="02000000000000000000" pitchFamily="2" charset="0"/>
                <a:ea typeface="Roboto" panose="02000000000000000000" pitchFamily="2" charset="0"/>
              </a:rPr>
              <a:t>•O valor total de um pedido é igual à soma dos totais dos itens do pedido acrescido de 10% de taxa de entrega.</a:t>
            </a:r>
          </a:p>
          <a:p>
            <a:endParaRPr lang="pt-BR" sz="2000" spc="217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pt-BR" sz="2000" spc="217" dirty="0">
                <a:latin typeface="Roboto" panose="02000000000000000000" pitchFamily="2" charset="0"/>
                <a:ea typeface="Roboto" panose="02000000000000000000" pitchFamily="2" charset="0"/>
              </a:rPr>
              <a:t>•Um professor só pode lecionar disciplinas para as quais esteja habilitado.</a:t>
            </a:r>
          </a:p>
          <a:p>
            <a:endParaRPr lang="pt-BR" sz="2000" spc="217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pt-BR" sz="2000" spc="217" dirty="0">
                <a:latin typeface="Roboto" panose="02000000000000000000" pitchFamily="2" charset="0"/>
                <a:ea typeface="Roboto" panose="02000000000000000000" pitchFamily="2" charset="0"/>
              </a:rPr>
              <a:t>•Um cliente do banco não pode sacar mais de R$ 500,00 por dia de sua conta.</a:t>
            </a:r>
          </a:p>
          <a:p>
            <a:endParaRPr lang="pt-BR" sz="2000" spc="217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pt-BR" sz="2000" spc="217" dirty="0">
                <a:latin typeface="Roboto" panose="02000000000000000000" pitchFamily="2" charset="0"/>
                <a:ea typeface="Roboto" panose="02000000000000000000" pitchFamily="2" charset="0"/>
              </a:rPr>
              <a:t>•Senhas devem ter, no mínimo, seis caracteres, entre números, letras e símbolos.</a:t>
            </a:r>
          </a:p>
          <a:p>
            <a:endParaRPr lang="pt-BR" sz="2000" spc="217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pt-BR" sz="2000" spc="217" dirty="0">
                <a:latin typeface="Roboto" panose="02000000000000000000" pitchFamily="2" charset="0"/>
                <a:ea typeface="Roboto" panose="02000000000000000000" pitchFamily="2" charset="0"/>
              </a:rPr>
              <a:t>•Para alugar um carro, o proponente deve estar com a carteira de motorista válida.</a:t>
            </a:r>
          </a:p>
          <a:p>
            <a:endParaRPr lang="pt-BR" sz="2000" spc="217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pt-BR" sz="2000" spc="217" dirty="0">
                <a:latin typeface="Roboto" panose="02000000000000000000" pitchFamily="2" charset="0"/>
                <a:ea typeface="Roboto" panose="02000000000000000000" pitchFamily="2" charset="0"/>
              </a:rPr>
              <a:t>•O número máximo de alunos por turma é igual a 30.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344DA6C-063D-46EB-9533-EC144B977F9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6" r="1964"/>
          <a:stretch/>
        </p:blipFill>
        <p:spPr>
          <a:xfrm>
            <a:off x="520081" y="0"/>
            <a:ext cx="4240177" cy="6858000"/>
          </a:xfrm>
          <a:prstGeom prst="rect">
            <a:avLst/>
          </a:prstGeom>
        </p:spPr>
      </p:pic>
      <p:pic>
        <p:nvPicPr>
          <p:cNvPr id="4100" name="Picture 4" descr="Vetores de Rede Social Ideias e mais imagens de Aberto - Aberto, Conceito,  Cérebro humano - iStock">
            <a:extLst>
              <a:ext uri="{FF2B5EF4-FFF2-40B4-BE49-F238E27FC236}">
                <a16:creationId xmlns:a16="http://schemas.microsoft.com/office/drawing/2014/main" id="{93795DCF-91A4-49F1-9177-B13DCD5D1A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46" r="5232"/>
          <a:stretch/>
        </p:blipFill>
        <p:spPr bwMode="auto">
          <a:xfrm>
            <a:off x="520081" y="-37424"/>
            <a:ext cx="4240177" cy="6896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BFCD72F3-E616-BC82-0D6C-6035B58093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58" r="17634"/>
          <a:stretch/>
        </p:blipFill>
        <p:spPr bwMode="auto">
          <a:xfrm>
            <a:off x="520082" y="-37424"/>
            <a:ext cx="4347754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5">
            <a:extLst>
              <a:ext uri="{FF2B5EF4-FFF2-40B4-BE49-F238E27FC236}">
                <a16:creationId xmlns:a16="http://schemas.microsoft.com/office/drawing/2014/main" id="{5C80CDEE-49AF-4E23-8D0A-2B2A92D5AC9C}"/>
              </a:ext>
            </a:extLst>
          </p:cNvPr>
          <p:cNvGrpSpPr/>
          <p:nvPr/>
        </p:nvGrpSpPr>
        <p:grpSpPr>
          <a:xfrm>
            <a:off x="-1" y="1737716"/>
            <a:ext cx="1010920" cy="5093390"/>
            <a:chOff x="-112968" y="-222176"/>
            <a:chExt cx="3904816" cy="679118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C5502A4-75CA-442E-BEF5-768DE9DFE35D}"/>
                </a:ext>
              </a:extLst>
            </p:cNvPr>
            <p:cNvGrpSpPr/>
            <p:nvPr/>
          </p:nvGrpSpPr>
          <p:grpSpPr>
            <a:xfrm>
              <a:off x="-112968" y="2555023"/>
              <a:ext cx="3904816" cy="4013987"/>
              <a:chOff x="-24215" y="-47625"/>
              <a:chExt cx="837015" cy="860425"/>
            </a:xfrm>
          </p:grpSpPr>
          <p:sp>
            <p:nvSpPr>
              <p:cNvPr id="20" name="Freeform 7">
                <a:extLst>
                  <a:ext uri="{FF2B5EF4-FFF2-40B4-BE49-F238E27FC236}">
                    <a16:creationId xmlns:a16="http://schemas.microsoft.com/office/drawing/2014/main" id="{277F34EC-A7AA-4C35-BDF3-11CFE791B595}"/>
                  </a:ext>
                </a:extLst>
              </p:cNvPr>
              <p:cNvSpPr/>
              <p:nvPr/>
            </p:nvSpPr>
            <p:spPr>
              <a:xfrm>
                <a:off x="-24215" y="9216"/>
                <a:ext cx="634624" cy="64467"/>
              </a:xfrm>
              <a:custGeom>
                <a:avLst/>
                <a:gdLst/>
                <a:ahLst/>
                <a:cxnLst/>
                <a:rect l="l" t="t" r="r" b="b"/>
                <a:pathLst>
                  <a:path w="386286" h="58024">
                    <a:moveTo>
                      <a:pt x="0" y="0"/>
                    </a:moveTo>
                    <a:lnTo>
                      <a:pt x="386286" y="0"/>
                    </a:lnTo>
                    <a:lnTo>
                      <a:pt x="386286" y="58024"/>
                    </a:lnTo>
                    <a:lnTo>
                      <a:pt x="0" y="58024"/>
                    </a:lnTo>
                    <a:close/>
                  </a:path>
                </a:pathLst>
              </a:custGeom>
              <a:solidFill>
                <a:srgbClr val="2029AD"/>
              </a:solidFill>
            </p:spPr>
          </p:sp>
          <p:sp>
            <p:nvSpPr>
              <p:cNvPr id="21" name="TextBox 8">
                <a:extLst>
                  <a:ext uri="{FF2B5EF4-FFF2-40B4-BE49-F238E27FC236}">
                    <a16:creationId xmlns:a16="http://schemas.microsoft.com/office/drawing/2014/main" id="{35F67D66-932B-4D85-8892-BF3A1727A6F7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33902" tIns="33902" rIns="33902" bIns="33902" rtlCol="0" anchor="ctr"/>
              <a:lstStyle/>
              <a:p>
                <a:pPr algn="ctr">
                  <a:lnSpc>
                    <a:spcPts val="3220"/>
                  </a:lnSpc>
                </a:pPr>
                <a:endParaRPr/>
              </a:p>
            </p:txBody>
          </p:sp>
        </p:grpSp>
        <p:grpSp>
          <p:nvGrpSpPr>
            <p:cNvPr id="8" name="Group 9">
              <a:extLst>
                <a:ext uri="{FF2B5EF4-FFF2-40B4-BE49-F238E27FC236}">
                  <a16:creationId xmlns:a16="http://schemas.microsoft.com/office/drawing/2014/main" id="{94CD4F4F-25BA-4AD4-AEBC-A446E270BF5A}"/>
                </a:ext>
              </a:extLst>
            </p:cNvPr>
            <p:cNvGrpSpPr/>
            <p:nvPr/>
          </p:nvGrpSpPr>
          <p:grpSpPr>
            <a:xfrm>
              <a:off x="-112967" y="-222176"/>
              <a:ext cx="3904815" cy="4013987"/>
              <a:chOff x="-24215" y="-47625"/>
              <a:chExt cx="837015" cy="860425"/>
            </a:xfrm>
          </p:grpSpPr>
          <p:sp>
            <p:nvSpPr>
              <p:cNvPr id="18" name="Freeform 10">
                <a:extLst>
                  <a:ext uri="{FF2B5EF4-FFF2-40B4-BE49-F238E27FC236}">
                    <a16:creationId xmlns:a16="http://schemas.microsoft.com/office/drawing/2014/main" id="{15BD9FBC-633D-4781-8242-BA0962F4C894}"/>
                  </a:ext>
                </a:extLst>
              </p:cNvPr>
              <p:cNvSpPr/>
              <p:nvPr/>
            </p:nvSpPr>
            <p:spPr>
              <a:xfrm>
                <a:off x="-24215" y="-422"/>
                <a:ext cx="634627" cy="63638"/>
              </a:xfrm>
              <a:custGeom>
                <a:avLst/>
                <a:gdLst/>
                <a:ahLst/>
                <a:cxnLst/>
                <a:rect l="l" t="t" r="r" b="b"/>
                <a:pathLst>
                  <a:path w="386286" h="58024">
                    <a:moveTo>
                      <a:pt x="0" y="0"/>
                    </a:moveTo>
                    <a:lnTo>
                      <a:pt x="386286" y="0"/>
                    </a:lnTo>
                    <a:lnTo>
                      <a:pt x="386286" y="58024"/>
                    </a:lnTo>
                    <a:lnTo>
                      <a:pt x="0" y="58024"/>
                    </a:lnTo>
                    <a:close/>
                  </a:path>
                </a:pathLst>
              </a:custGeom>
              <a:solidFill>
                <a:srgbClr val="1C23AC"/>
              </a:solidFill>
            </p:spPr>
          </p:sp>
          <p:sp>
            <p:nvSpPr>
              <p:cNvPr id="19" name="TextBox 11">
                <a:extLst>
                  <a:ext uri="{FF2B5EF4-FFF2-40B4-BE49-F238E27FC236}">
                    <a16:creationId xmlns:a16="http://schemas.microsoft.com/office/drawing/2014/main" id="{83AE9562-B355-4BCF-A8C2-06E1AB48D350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33902" tIns="33902" rIns="33902" bIns="33902" rtlCol="0" anchor="ctr"/>
              <a:lstStyle/>
              <a:p>
                <a:pPr algn="ctr">
                  <a:lnSpc>
                    <a:spcPts val="3220"/>
                  </a:lnSpc>
                </a:pPr>
                <a:endParaRPr/>
              </a:p>
            </p:txBody>
          </p:sp>
        </p:grpSp>
        <p:grpSp>
          <p:nvGrpSpPr>
            <p:cNvPr id="9" name="Group 12">
              <a:extLst>
                <a:ext uri="{FF2B5EF4-FFF2-40B4-BE49-F238E27FC236}">
                  <a16:creationId xmlns:a16="http://schemas.microsoft.com/office/drawing/2014/main" id="{B460FE5A-F447-4B7D-AA7F-91BC273CC940}"/>
                </a:ext>
              </a:extLst>
            </p:cNvPr>
            <p:cNvGrpSpPr/>
            <p:nvPr/>
          </p:nvGrpSpPr>
          <p:grpSpPr>
            <a:xfrm>
              <a:off x="-112967" y="472124"/>
              <a:ext cx="3904815" cy="4013987"/>
              <a:chOff x="-24215" y="-47625"/>
              <a:chExt cx="837015" cy="860425"/>
            </a:xfrm>
          </p:grpSpPr>
          <p:sp>
            <p:nvSpPr>
              <p:cNvPr id="16" name="Freeform 13">
                <a:extLst>
                  <a:ext uri="{FF2B5EF4-FFF2-40B4-BE49-F238E27FC236}">
                    <a16:creationId xmlns:a16="http://schemas.microsoft.com/office/drawing/2014/main" id="{AE867023-2677-4E34-8B40-3674C4972C47}"/>
                  </a:ext>
                </a:extLst>
              </p:cNvPr>
              <p:cNvSpPr/>
              <p:nvPr/>
            </p:nvSpPr>
            <p:spPr>
              <a:xfrm>
                <a:off x="-24215" y="49976"/>
                <a:ext cx="634627" cy="64467"/>
              </a:xfrm>
              <a:custGeom>
                <a:avLst/>
                <a:gdLst/>
                <a:ahLst/>
                <a:cxnLst/>
                <a:rect l="l" t="t" r="r" b="b"/>
                <a:pathLst>
                  <a:path w="386286" h="58024">
                    <a:moveTo>
                      <a:pt x="0" y="0"/>
                    </a:moveTo>
                    <a:lnTo>
                      <a:pt x="386286" y="0"/>
                    </a:lnTo>
                    <a:lnTo>
                      <a:pt x="386286" y="58024"/>
                    </a:lnTo>
                    <a:lnTo>
                      <a:pt x="0" y="58024"/>
                    </a:lnTo>
                    <a:close/>
                  </a:path>
                </a:pathLst>
              </a:custGeom>
              <a:solidFill>
                <a:srgbClr val="2029AD"/>
              </a:solidFill>
            </p:spPr>
          </p:sp>
          <p:sp>
            <p:nvSpPr>
              <p:cNvPr id="17" name="TextBox 14">
                <a:extLst>
                  <a:ext uri="{FF2B5EF4-FFF2-40B4-BE49-F238E27FC236}">
                    <a16:creationId xmlns:a16="http://schemas.microsoft.com/office/drawing/2014/main" id="{AFF1ACEE-8363-453D-9096-BF131EC0C416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33902" tIns="33902" rIns="33902" bIns="33902" rtlCol="0" anchor="ctr"/>
              <a:lstStyle/>
              <a:p>
                <a:pPr algn="ctr">
                  <a:lnSpc>
                    <a:spcPts val="3220"/>
                  </a:lnSpc>
                </a:pPr>
                <a:endParaRPr/>
              </a:p>
            </p:txBody>
          </p:sp>
        </p:grpSp>
        <p:grpSp>
          <p:nvGrpSpPr>
            <p:cNvPr id="10" name="Group 15">
              <a:extLst>
                <a:ext uri="{FF2B5EF4-FFF2-40B4-BE49-F238E27FC236}">
                  <a16:creationId xmlns:a16="http://schemas.microsoft.com/office/drawing/2014/main" id="{E45D1764-0DF0-4E09-BE13-E73AFA2FE2E7}"/>
                </a:ext>
              </a:extLst>
            </p:cNvPr>
            <p:cNvGrpSpPr/>
            <p:nvPr/>
          </p:nvGrpSpPr>
          <p:grpSpPr>
            <a:xfrm>
              <a:off x="-94867" y="1166424"/>
              <a:ext cx="3886715" cy="4013987"/>
              <a:chOff x="-20335" y="-47625"/>
              <a:chExt cx="833135" cy="860425"/>
            </a:xfrm>
          </p:grpSpPr>
          <p:sp>
            <p:nvSpPr>
              <p:cNvPr id="14" name="Freeform 16">
                <a:extLst>
                  <a:ext uri="{FF2B5EF4-FFF2-40B4-BE49-F238E27FC236}">
                    <a16:creationId xmlns:a16="http://schemas.microsoft.com/office/drawing/2014/main" id="{74CF2C1C-4143-478A-B7AB-7B8FA2ABD6CC}"/>
                  </a:ext>
                </a:extLst>
              </p:cNvPr>
              <p:cNvSpPr/>
              <p:nvPr/>
            </p:nvSpPr>
            <p:spPr>
              <a:xfrm>
                <a:off x="-20335" y="106817"/>
                <a:ext cx="630745" cy="64467"/>
              </a:xfrm>
              <a:custGeom>
                <a:avLst/>
                <a:gdLst/>
                <a:ahLst/>
                <a:cxnLst/>
                <a:rect l="l" t="t" r="r" b="b"/>
                <a:pathLst>
                  <a:path w="386286" h="58024">
                    <a:moveTo>
                      <a:pt x="0" y="0"/>
                    </a:moveTo>
                    <a:lnTo>
                      <a:pt x="386286" y="0"/>
                    </a:lnTo>
                    <a:lnTo>
                      <a:pt x="386286" y="58024"/>
                    </a:lnTo>
                    <a:lnTo>
                      <a:pt x="0" y="58024"/>
                    </a:lnTo>
                    <a:close/>
                  </a:path>
                </a:pathLst>
              </a:custGeom>
              <a:solidFill>
                <a:srgbClr val="1C23AC"/>
              </a:solidFill>
            </p:spPr>
          </p:sp>
          <p:sp>
            <p:nvSpPr>
              <p:cNvPr id="15" name="TextBox 17">
                <a:extLst>
                  <a:ext uri="{FF2B5EF4-FFF2-40B4-BE49-F238E27FC236}">
                    <a16:creationId xmlns:a16="http://schemas.microsoft.com/office/drawing/2014/main" id="{4EE7CB50-9221-4625-879C-46F313AFD3CF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33902" tIns="33902" rIns="33902" bIns="33902" rtlCol="0" anchor="ctr"/>
              <a:lstStyle/>
              <a:p>
                <a:pPr algn="ctr">
                  <a:lnSpc>
                    <a:spcPts val="3220"/>
                  </a:lnSpc>
                </a:pPr>
                <a:endParaRPr/>
              </a:p>
            </p:txBody>
          </p:sp>
        </p:grpSp>
        <p:grpSp>
          <p:nvGrpSpPr>
            <p:cNvPr id="11" name="Group 18">
              <a:extLst>
                <a:ext uri="{FF2B5EF4-FFF2-40B4-BE49-F238E27FC236}">
                  <a16:creationId xmlns:a16="http://schemas.microsoft.com/office/drawing/2014/main" id="{598DDFCB-666C-405B-BE7C-56D4A2D0E291}"/>
                </a:ext>
              </a:extLst>
            </p:cNvPr>
            <p:cNvGrpSpPr/>
            <p:nvPr/>
          </p:nvGrpSpPr>
          <p:grpSpPr>
            <a:xfrm>
              <a:off x="-112967" y="1860723"/>
              <a:ext cx="3904815" cy="4013987"/>
              <a:chOff x="-24215" y="-47625"/>
              <a:chExt cx="837015" cy="860425"/>
            </a:xfrm>
          </p:grpSpPr>
          <p:sp>
            <p:nvSpPr>
              <p:cNvPr id="12" name="Freeform 19">
                <a:extLst>
                  <a:ext uri="{FF2B5EF4-FFF2-40B4-BE49-F238E27FC236}">
                    <a16:creationId xmlns:a16="http://schemas.microsoft.com/office/drawing/2014/main" id="{29A3F478-7C2B-44C8-BFF8-17BEE1715623}"/>
                  </a:ext>
                </a:extLst>
              </p:cNvPr>
              <p:cNvSpPr/>
              <p:nvPr/>
            </p:nvSpPr>
            <p:spPr>
              <a:xfrm>
                <a:off x="-24215" y="360247"/>
                <a:ext cx="634623" cy="70953"/>
              </a:xfrm>
              <a:custGeom>
                <a:avLst/>
                <a:gdLst/>
                <a:ahLst/>
                <a:cxnLst/>
                <a:rect l="l" t="t" r="r" b="b"/>
                <a:pathLst>
                  <a:path w="386286" h="58024">
                    <a:moveTo>
                      <a:pt x="0" y="0"/>
                    </a:moveTo>
                    <a:lnTo>
                      <a:pt x="386286" y="0"/>
                    </a:lnTo>
                    <a:lnTo>
                      <a:pt x="386286" y="58024"/>
                    </a:lnTo>
                    <a:lnTo>
                      <a:pt x="0" y="58024"/>
                    </a:lnTo>
                    <a:close/>
                  </a:path>
                </a:pathLst>
              </a:custGeom>
              <a:solidFill>
                <a:srgbClr val="1C23AC"/>
              </a:solidFill>
            </p:spPr>
          </p:sp>
          <p:sp>
            <p:nvSpPr>
              <p:cNvPr id="13" name="TextBox 20">
                <a:extLst>
                  <a:ext uri="{FF2B5EF4-FFF2-40B4-BE49-F238E27FC236}">
                    <a16:creationId xmlns:a16="http://schemas.microsoft.com/office/drawing/2014/main" id="{6ADA9749-0BC8-426B-8C5C-028C7D225CC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33902" tIns="33902" rIns="33902" bIns="33902" rtlCol="0" anchor="ctr"/>
              <a:lstStyle/>
              <a:p>
                <a:pPr algn="ctr">
                  <a:lnSpc>
                    <a:spcPts val="3220"/>
                  </a:lnSpc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09585401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78022" y="660907"/>
            <a:ext cx="11295731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pt-BR" sz="4000" b="1" spc="67" dirty="0">
                <a:latin typeface="Century Gothic" panose="020B0502020202020204" pitchFamily="34" charset="0"/>
              </a:rPr>
              <a:t>Atributos de uma boa Regra de Negócio</a:t>
            </a:r>
            <a:endParaRPr lang="en-US" sz="4000" b="1" spc="67" dirty="0">
              <a:latin typeface="Century Gothic" panose="020B0502020202020204" pitchFamily="34" charset="0"/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A457110D-A7F0-FFEF-538D-D676061BF5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1571623"/>
              </p:ext>
            </p:extLst>
          </p:nvPr>
        </p:nvGraphicFramePr>
        <p:xfrm>
          <a:off x="578022" y="1691499"/>
          <a:ext cx="10475460" cy="3956264"/>
        </p:xfrm>
        <a:graphic>
          <a:graphicData uri="http://schemas.openxmlformats.org/drawingml/2006/table">
            <a:tbl>
              <a:tblPr firstCol="1" bandRow="1">
                <a:tableStyleId>{6E25E649-3F16-4E02-A733-19D2CDBF48F0}</a:tableStyleId>
              </a:tblPr>
              <a:tblGrid>
                <a:gridCol w="2407225">
                  <a:extLst>
                    <a:ext uri="{9D8B030D-6E8A-4147-A177-3AD203B41FA5}">
                      <a16:colId xmlns:a16="http://schemas.microsoft.com/office/drawing/2014/main" val="3668027927"/>
                    </a:ext>
                  </a:extLst>
                </a:gridCol>
                <a:gridCol w="8068235">
                  <a:extLst>
                    <a:ext uri="{9D8B030D-6E8A-4147-A177-3AD203B41FA5}">
                      <a16:colId xmlns:a16="http://schemas.microsoft.com/office/drawing/2014/main" val="826615392"/>
                    </a:ext>
                  </a:extLst>
                </a:gridCol>
              </a:tblGrid>
              <a:tr h="81898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2400" kern="100" dirty="0">
                          <a:effectLst/>
                        </a:rPr>
                        <a:t>Unidade</a:t>
                      </a:r>
                      <a:endParaRPr lang="pt-BR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2400" b="0" kern="10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A RN deve propor/viabilizar uma única coisa apenas. Não deve atender a mais de uma restrição.</a:t>
                      </a:r>
                      <a:endParaRPr lang="pt-BR" sz="2400" b="0" kern="10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08603440"/>
                  </a:ext>
                </a:extLst>
              </a:tr>
              <a:tr h="77276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2400" kern="100">
                          <a:effectLst/>
                        </a:rPr>
                        <a:t>Completude</a:t>
                      </a:r>
                      <a:endParaRPr lang="pt-BR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2400" b="0" kern="10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A RN deve ser autocontida, deve ter “início/meio/fim”, ser completa.</a:t>
                      </a:r>
                      <a:endParaRPr lang="pt-BR" sz="2400" b="0" kern="10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96131215"/>
                  </a:ext>
                </a:extLst>
              </a:tr>
              <a:tr h="81898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2400" kern="100" dirty="0">
                          <a:effectLst/>
                        </a:rPr>
                        <a:t>Consistência</a:t>
                      </a:r>
                      <a:endParaRPr lang="pt-BR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2400" b="0" kern="10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Não deve contradizer outra RN do mesmo escopo do projeto.</a:t>
                      </a:r>
                      <a:endParaRPr lang="pt-BR" sz="2400" b="0" kern="10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50158343"/>
                  </a:ext>
                </a:extLst>
              </a:tr>
              <a:tr h="77276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2400" kern="100">
                          <a:effectLst/>
                        </a:rPr>
                        <a:t>Rastreável</a:t>
                      </a:r>
                      <a:endParaRPr lang="pt-BR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2400" b="0" kern="10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Deve ser possível achar a RN no sistema pronto. </a:t>
                      </a:r>
                      <a:endParaRPr lang="pt-BR" sz="2400" b="0" kern="10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52424192"/>
                  </a:ext>
                </a:extLst>
              </a:tr>
              <a:tr h="77276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2400" kern="100" dirty="0">
                          <a:effectLst/>
                        </a:rPr>
                        <a:t>Verificável</a:t>
                      </a:r>
                      <a:endParaRPr lang="pt-BR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2400" b="0" kern="10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Uma RN tem que ser testável, tem que ser possível atestar que a RN foi atendida através de algum RF</a:t>
                      </a:r>
                      <a:endParaRPr lang="pt-BR" sz="2400" b="0" kern="10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011383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3228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78022" y="660907"/>
            <a:ext cx="11295731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pt-BR" sz="4000" b="1" spc="67" dirty="0">
                <a:latin typeface="Century Gothic" panose="020B0502020202020204" pitchFamily="34" charset="0"/>
              </a:rPr>
              <a:t>Atributos de uma boa Regra de Negócio</a:t>
            </a:r>
            <a:endParaRPr lang="en-US" sz="4000" b="1" spc="67" dirty="0">
              <a:latin typeface="Century Gothic" panose="020B0502020202020204" pitchFamily="34" charset="0"/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F67F3659-11D0-A6E4-4A8B-B5762C26E763}"/>
              </a:ext>
            </a:extLst>
          </p:cNvPr>
          <p:cNvSpPr txBox="1"/>
          <p:nvPr/>
        </p:nvSpPr>
        <p:spPr>
          <a:xfrm>
            <a:off x="578023" y="1590207"/>
            <a:ext cx="10757848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pt-BR" sz="2000" spc="217" dirty="0">
                <a:latin typeface="Roboto" panose="02000000000000000000" pitchFamily="2" charset="0"/>
                <a:ea typeface="Roboto" panose="02000000000000000000" pitchFamily="2" charset="0"/>
              </a:rPr>
              <a:t>Uma RN não possui prioridade. Como uma RN, no contexto de um sistema, somente existe se associada a um ou mais Requisitos Funcionais, a prioridade aplicada à RN será a prioridade aplicada ao requisito que depende dela.</a:t>
            </a:r>
          </a:p>
        </p:txBody>
      </p:sp>
    </p:spTree>
    <p:extLst>
      <p:ext uri="{BB962C8B-B14F-4D97-AF65-F5344CB8AC3E}">
        <p14:creationId xmlns:p14="http://schemas.microsoft.com/office/powerpoint/2010/main" val="2263552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78022" y="660907"/>
            <a:ext cx="11295731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pt-BR" sz="4000" b="1" spc="67" dirty="0">
                <a:latin typeface="Century Gothic" panose="020B0502020202020204" pitchFamily="34" charset="0"/>
              </a:rPr>
              <a:t>Estrutura de uma Regra de Negócio</a:t>
            </a:r>
            <a:endParaRPr lang="en-US" sz="4000" b="1" spc="67" dirty="0">
              <a:latin typeface="Century Gothic" panose="020B0502020202020204" pitchFamily="34" charset="0"/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89290203-1886-0F34-3D73-B08D2B365045}"/>
              </a:ext>
            </a:extLst>
          </p:cNvPr>
          <p:cNvSpPr txBox="1"/>
          <p:nvPr/>
        </p:nvSpPr>
        <p:spPr>
          <a:xfrm>
            <a:off x="578022" y="1442290"/>
            <a:ext cx="10757848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pt-BR" sz="2000" spc="217" dirty="0">
                <a:latin typeface="Roboto" panose="02000000000000000000" pitchFamily="2" charset="0"/>
                <a:ea typeface="Roboto" panose="02000000000000000000" pitchFamily="2" charset="0"/>
              </a:rPr>
              <a:t>O modelo a seguir contempla os campos mais relevantes: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817EB514-EBF7-5A1F-09ED-187D6B2CDA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6666204"/>
              </p:ext>
            </p:extLst>
          </p:nvPr>
        </p:nvGraphicFramePr>
        <p:xfrm>
          <a:off x="578021" y="1915897"/>
          <a:ext cx="9292120" cy="4125225"/>
        </p:xfrm>
        <a:graphic>
          <a:graphicData uri="http://schemas.openxmlformats.org/drawingml/2006/table">
            <a:tbl>
              <a:tblPr firstCol="1" bandRow="1">
                <a:tableStyleId>{2D5ABB26-0587-4C30-8999-92F81FD0307C}</a:tableStyleId>
              </a:tblPr>
              <a:tblGrid>
                <a:gridCol w="2322483">
                  <a:extLst>
                    <a:ext uri="{9D8B030D-6E8A-4147-A177-3AD203B41FA5}">
                      <a16:colId xmlns:a16="http://schemas.microsoft.com/office/drawing/2014/main" val="3412599818"/>
                    </a:ext>
                  </a:extLst>
                </a:gridCol>
                <a:gridCol w="2322483">
                  <a:extLst>
                    <a:ext uri="{9D8B030D-6E8A-4147-A177-3AD203B41FA5}">
                      <a16:colId xmlns:a16="http://schemas.microsoft.com/office/drawing/2014/main" val="1161651979"/>
                    </a:ext>
                  </a:extLst>
                </a:gridCol>
                <a:gridCol w="2323577">
                  <a:extLst>
                    <a:ext uri="{9D8B030D-6E8A-4147-A177-3AD203B41FA5}">
                      <a16:colId xmlns:a16="http://schemas.microsoft.com/office/drawing/2014/main" val="119465605"/>
                    </a:ext>
                  </a:extLst>
                </a:gridCol>
                <a:gridCol w="2323577">
                  <a:extLst>
                    <a:ext uri="{9D8B030D-6E8A-4147-A177-3AD203B41FA5}">
                      <a16:colId xmlns:a16="http://schemas.microsoft.com/office/drawing/2014/main" val="4139776413"/>
                    </a:ext>
                  </a:extLst>
                </a:gridCol>
              </a:tblGrid>
              <a:tr h="6014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2000" b="1" kern="100" dirty="0">
                          <a:effectLst/>
                        </a:rPr>
                        <a:t>Identificador</a:t>
                      </a:r>
                      <a:endParaRPr lang="pt-BR" sz="20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557" marR="6655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2000" b="1" kern="100">
                          <a:effectLst/>
                        </a:rPr>
                        <a:t> </a:t>
                      </a:r>
                      <a:endParaRPr lang="pt-BR" sz="20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743" marR="88743" marT="44372" marB="443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991433"/>
                  </a:ext>
                </a:extLst>
              </a:tr>
              <a:tr h="5681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2000" b="1" kern="100">
                          <a:effectLst/>
                        </a:rPr>
                        <a:t>Nome</a:t>
                      </a:r>
                      <a:endParaRPr lang="pt-BR" sz="20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557" marR="6655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2000" b="1" kern="100">
                          <a:effectLst/>
                        </a:rPr>
                        <a:t> </a:t>
                      </a:r>
                      <a:endParaRPr lang="pt-BR" sz="20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743" marR="88743" marT="44372" marB="443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683596"/>
                  </a:ext>
                </a:extLst>
              </a:tr>
              <a:tr h="5681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2000" b="1" kern="100">
                          <a:effectLst/>
                        </a:rPr>
                        <a:t>Módulo</a:t>
                      </a:r>
                      <a:endParaRPr lang="pt-BR" sz="20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557" marR="6655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2000" b="1" kern="100" dirty="0">
                          <a:effectLst/>
                        </a:rPr>
                        <a:t> </a:t>
                      </a:r>
                      <a:endParaRPr lang="pt-BR" sz="20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743" marR="88743" marT="44372" marB="443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706322"/>
                  </a:ext>
                </a:extLst>
              </a:tr>
              <a:tr h="6014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2000" b="1" kern="100">
                          <a:effectLst/>
                        </a:rPr>
                        <a:t>Data de criação</a:t>
                      </a:r>
                      <a:endParaRPr lang="pt-BR" sz="20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557" marR="6655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2000" b="1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557" marR="6655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2000" b="1" kern="100" dirty="0">
                          <a:solidFill>
                            <a:schemeClr val="tx1"/>
                          </a:solidFill>
                          <a:effectLst/>
                        </a:rPr>
                        <a:t>Autor</a:t>
                      </a:r>
                      <a:endParaRPr lang="pt-BR" sz="20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557" marR="6655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2000" b="1" kern="100" dirty="0">
                          <a:effectLst/>
                        </a:rPr>
                        <a:t> </a:t>
                      </a:r>
                      <a:endParaRPr lang="pt-BR" sz="20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557" marR="6655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1107036"/>
                  </a:ext>
                </a:extLst>
              </a:tr>
              <a:tr h="64621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2000" b="1" kern="100">
                          <a:effectLst/>
                        </a:rPr>
                        <a:t>Data da última alteração</a:t>
                      </a:r>
                      <a:endParaRPr lang="pt-BR" sz="20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557" marR="6655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2000" b="1" kern="1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 b="1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557" marR="6655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2000" b="1" kern="100" dirty="0">
                          <a:solidFill>
                            <a:schemeClr val="tx1"/>
                          </a:solidFill>
                          <a:effectLst/>
                        </a:rPr>
                        <a:t>Autor</a:t>
                      </a:r>
                      <a:endParaRPr lang="pt-BR" sz="20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557" marR="6655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2000" b="1" kern="100">
                          <a:effectLst/>
                        </a:rPr>
                        <a:t> </a:t>
                      </a:r>
                      <a:endParaRPr lang="pt-BR" sz="20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557" marR="6655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2763883"/>
                  </a:ext>
                </a:extLst>
              </a:tr>
              <a:tr h="57170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2000" b="1" kern="100">
                          <a:effectLst/>
                        </a:rPr>
                        <a:t>Versão</a:t>
                      </a:r>
                      <a:endParaRPr lang="pt-BR" sz="20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557" marR="6655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2000" b="1" kern="1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pt-BR" sz="2000" b="1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557" marR="6655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2000" b="1" kern="100" dirty="0">
                          <a:solidFill>
                            <a:schemeClr val="tx1"/>
                          </a:solidFill>
                          <a:effectLst/>
                        </a:rPr>
                        <a:t>Dependências</a:t>
                      </a:r>
                      <a:endParaRPr lang="pt-BR" sz="20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557" marR="6655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2000" b="1" kern="100">
                          <a:effectLst/>
                        </a:rPr>
                        <a:t> </a:t>
                      </a:r>
                      <a:endParaRPr lang="pt-BR" sz="20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557" marR="6655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523629"/>
                  </a:ext>
                </a:extLst>
              </a:tr>
              <a:tr h="5681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2000" b="1" kern="100">
                          <a:effectLst/>
                        </a:rPr>
                        <a:t>Descrição</a:t>
                      </a:r>
                      <a:endParaRPr lang="pt-BR" sz="20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557" marR="6655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2000" b="1" kern="100" dirty="0">
                          <a:effectLst/>
                        </a:rPr>
                        <a:t> </a:t>
                      </a:r>
                      <a:endParaRPr lang="pt-BR" sz="20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743" marR="88743" marT="44372" marB="443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81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079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78023" y="1590207"/>
            <a:ext cx="6368062" cy="46166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spc="217" dirty="0">
                <a:latin typeface="Roboto" panose="02000000000000000000" pitchFamily="2" charset="0"/>
                <a:ea typeface="Roboto" panose="02000000000000000000" pitchFamily="2" charset="0"/>
              </a:rPr>
              <a:t>Identificador</a:t>
            </a:r>
            <a:r>
              <a:rPr lang="pt-BR" sz="2000" spc="217" dirty="0">
                <a:latin typeface="Roboto" panose="02000000000000000000" pitchFamily="2" charset="0"/>
                <a:ea typeface="Roboto" panose="02000000000000000000" pitchFamily="2" charset="0"/>
              </a:rPr>
              <a:t>: Sufixo seguido de um identificador único. O sufixo geralmente utilizado é RN (Regra de Negócio) e o identificador único geralmente é composto de quatro dígitos (podendo ser mais, conforme a o tamanho do sistema que está sendo especificado).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spc="217" dirty="0">
                <a:latin typeface="Roboto" panose="02000000000000000000" pitchFamily="2" charset="0"/>
                <a:ea typeface="Roboto" panose="02000000000000000000" pitchFamily="2" charset="0"/>
              </a:rPr>
              <a:t>Nome</a:t>
            </a:r>
            <a:r>
              <a:rPr lang="pt-BR" sz="2000" spc="217" dirty="0">
                <a:latin typeface="Roboto" panose="02000000000000000000" pitchFamily="2" charset="0"/>
                <a:ea typeface="Roboto" panose="02000000000000000000" pitchFamily="2" charset="0"/>
              </a:rPr>
              <a:t>: Nome curto da RN, mas que possibilite entender bem o que RN faz apenas pelo nome.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spc="217" dirty="0">
                <a:latin typeface="Roboto" panose="02000000000000000000" pitchFamily="2" charset="0"/>
                <a:ea typeface="Roboto" panose="02000000000000000000" pitchFamily="2" charset="0"/>
              </a:rPr>
              <a:t>Módulo</a:t>
            </a:r>
            <a:r>
              <a:rPr lang="pt-BR" sz="2000" spc="217" dirty="0">
                <a:latin typeface="Roboto" panose="02000000000000000000" pitchFamily="2" charset="0"/>
                <a:ea typeface="Roboto" panose="02000000000000000000" pitchFamily="2" charset="0"/>
              </a:rPr>
              <a:t>: Módulo ao qual o RF pertence. Se for um sistema pequeno que não possua nenhum módulo, somente o próprio sistema, deve ser preenchido com N/A (não se aplica).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8022" y="660907"/>
            <a:ext cx="6589259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b="1" spc="67" dirty="0">
                <a:latin typeface="Century Gothic" panose="020B0502020202020204" pitchFamily="34" charset="0"/>
              </a:rPr>
              <a:t>Campos</a:t>
            </a:r>
          </a:p>
        </p:txBody>
      </p:sp>
      <p:pic>
        <p:nvPicPr>
          <p:cNvPr id="2" name="Picture 2" descr="AgeRio - As pessoas é que são a alma do negócio">
            <a:extLst>
              <a:ext uri="{FF2B5EF4-FFF2-40B4-BE49-F238E27FC236}">
                <a16:creationId xmlns:a16="http://schemas.microsoft.com/office/drawing/2014/main" id="{5D3F00CC-0410-8224-A5B9-65142BBD60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17" r="33236"/>
          <a:stretch/>
        </p:blipFill>
        <p:spPr bwMode="auto">
          <a:xfrm>
            <a:off x="6946085" y="0"/>
            <a:ext cx="321430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/>
          <p:cNvGrpSpPr/>
          <p:nvPr/>
        </p:nvGrpSpPr>
        <p:grpSpPr>
          <a:xfrm>
            <a:off x="9703910" y="4173095"/>
            <a:ext cx="855927" cy="1447637"/>
            <a:chOff x="0" y="0"/>
            <a:chExt cx="1876698" cy="3174077"/>
          </a:xfrm>
        </p:grpSpPr>
        <p:grpSp>
          <p:nvGrpSpPr>
            <p:cNvPr id="10" name="Group 9"/>
            <p:cNvGrpSpPr/>
            <p:nvPr/>
          </p:nvGrpSpPr>
          <p:grpSpPr>
            <a:xfrm>
              <a:off x="0" y="2892181"/>
              <a:ext cx="1876698" cy="281896"/>
              <a:chOff x="0" y="0"/>
              <a:chExt cx="386286" cy="58024"/>
            </a:xfrm>
          </p:grpSpPr>
          <p:sp>
            <p:nvSpPr>
              <p:cNvPr id="23" name="Freeform 10"/>
              <p:cNvSpPr/>
              <p:nvPr/>
            </p:nvSpPr>
            <p:spPr>
              <a:xfrm>
                <a:off x="0" y="0"/>
                <a:ext cx="386286" cy="58024"/>
              </a:xfrm>
              <a:custGeom>
                <a:avLst/>
                <a:gdLst/>
                <a:ahLst/>
                <a:cxnLst/>
                <a:rect l="l" t="t" r="r" b="b"/>
                <a:pathLst>
                  <a:path w="386286" h="58024">
                    <a:moveTo>
                      <a:pt x="0" y="0"/>
                    </a:moveTo>
                    <a:lnTo>
                      <a:pt x="386286" y="0"/>
                    </a:lnTo>
                    <a:lnTo>
                      <a:pt x="386286" y="58024"/>
                    </a:lnTo>
                    <a:lnTo>
                      <a:pt x="0" y="58024"/>
                    </a:lnTo>
                    <a:close/>
                  </a:path>
                </a:pathLst>
              </a:custGeom>
              <a:solidFill>
                <a:srgbClr val="1726A9"/>
              </a:solidFill>
            </p:spPr>
          </p:sp>
          <p:sp>
            <p:nvSpPr>
              <p:cNvPr id="24" name="TextBox 11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33902" tIns="33902" rIns="33902" bIns="33902" rtlCol="0" anchor="ctr"/>
              <a:lstStyle/>
              <a:p>
                <a:pPr algn="ctr">
                  <a:lnSpc>
                    <a:spcPts val="3219"/>
                  </a:lnSpc>
                </a:pPr>
                <a:endParaRPr/>
              </a:p>
            </p:txBody>
          </p:sp>
        </p:grpSp>
        <p:grpSp>
          <p:nvGrpSpPr>
            <p:cNvPr id="11" name="Group 12"/>
            <p:cNvGrpSpPr/>
            <p:nvPr/>
          </p:nvGrpSpPr>
          <p:grpSpPr>
            <a:xfrm>
              <a:off x="0" y="0"/>
              <a:ext cx="1876698" cy="281896"/>
              <a:chOff x="0" y="0"/>
              <a:chExt cx="386286" cy="58024"/>
            </a:xfrm>
          </p:grpSpPr>
          <p:sp>
            <p:nvSpPr>
              <p:cNvPr id="21" name="Freeform 13"/>
              <p:cNvSpPr/>
              <p:nvPr/>
            </p:nvSpPr>
            <p:spPr>
              <a:xfrm>
                <a:off x="0" y="0"/>
                <a:ext cx="386286" cy="58024"/>
              </a:xfrm>
              <a:custGeom>
                <a:avLst/>
                <a:gdLst/>
                <a:ahLst/>
                <a:cxnLst/>
                <a:rect l="l" t="t" r="r" b="b"/>
                <a:pathLst>
                  <a:path w="386286" h="58024">
                    <a:moveTo>
                      <a:pt x="0" y="0"/>
                    </a:moveTo>
                    <a:lnTo>
                      <a:pt x="386286" y="0"/>
                    </a:lnTo>
                    <a:lnTo>
                      <a:pt x="386286" y="58024"/>
                    </a:lnTo>
                    <a:lnTo>
                      <a:pt x="0" y="58024"/>
                    </a:lnTo>
                    <a:close/>
                  </a:path>
                </a:pathLst>
              </a:custGeom>
              <a:solidFill>
                <a:srgbClr val="1726A9"/>
              </a:solidFill>
            </p:spPr>
          </p:sp>
          <p:sp>
            <p:nvSpPr>
              <p:cNvPr id="22" name="TextBox 14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33902" tIns="33902" rIns="33902" bIns="33902" rtlCol="0" anchor="ctr"/>
              <a:lstStyle/>
              <a:p>
                <a:pPr algn="ctr">
                  <a:lnSpc>
                    <a:spcPts val="3219"/>
                  </a:lnSpc>
                </a:pPr>
                <a:endParaRPr/>
              </a:p>
            </p:txBody>
          </p:sp>
        </p:grpSp>
        <p:grpSp>
          <p:nvGrpSpPr>
            <p:cNvPr id="12" name="Group 15"/>
            <p:cNvGrpSpPr/>
            <p:nvPr/>
          </p:nvGrpSpPr>
          <p:grpSpPr>
            <a:xfrm>
              <a:off x="0" y="723045"/>
              <a:ext cx="1876698" cy="281896"/>
              <a:chOff x="0" y="0"/>
              <a:chExt cx="386286" cy="58024"/>
            </a:xfrm>
          </p:grpSpPr>
          <p:sp>
            <p:nvSpPr>
              <p:cNvPr id="19" name="Freeform 16"/>
              <p:cNvSpPr/>
              <p:nvPr/>
            </p:nvSpPr>
            <p:spPr>
              <a:xfrm>
                <a:off x="0" y="0"/>
                <a:ext cx="386286" cy="58024"/>
              </a:xfrm>
              <a:custGeom>
                <a:avLst/>
                <a:gdLst/>
                <a:ahLst/>
                <a:cxnLst/>
                <a:rect l="l" t="t" r="r" b="b"/>
                <a:pathLst>
                  <a:path w="386286" h="58024">
                    <a:moveTo>
                      <a:pt x="0" y="0"/>
                    </a:moveTo>
                    <a:lnTo>
                      <a:pt x="386286" y="0"/>
                    </a:lnTo>
                    <a:lnTo>
                      <a:pt x="386286" y="58024"/>
                    </a:lnTo>
                    <a:lnTo>
                      <a:pt x="0" y="58024"/>
                    </a:lnTo>
                    <a:close/>
                  </a:path>
                </a:pathLst>
              </a:custGeom>
              <a:solidFill>
                <a:srgbClr val="1726A9"/>
              </a:solidFill>
            </p:spPr>
          </p:sp>
          <p:sp>
            <p:nvSpPr>
              <p:cNvPr id="20" name="TextBox 17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33902" tIns="33902" rIns="33902" bIns="33902" rtlCol="0" anchor="ctr"/>
              <a:lstStyle/>
              <a:p>
                <a:pPr algn="ctr">
                  <a:lnSpc>
                    <a:spcPts val="3219"/>
                  </a:lnSpc>
                </a:pPr>
                <a:endParaRPr/>
              </a:p>
            </p:txBody>
          </p:sp>
        </p:grpSp>
        <p:grpSp>
          <p:nvGrpSpPr>
            <p:cNvPr id="13" name="Group 18"/>
            <p:cNvGrpSpPr/>
            <p:nvPr/>
          </p:nvGrpSpPr>
          <p:grpSpPr>
            <a:xfrm>
              <a:off x="0" y="1446090"/>
              <a:ext cx="1876698" cy="281896"/>
              <a:chOff x="0" y="0"/>
              <a:chExt cx="386286" cy="58024"/>
            </a:xfrm>
          </p:grpSpPr>
          <p:sp>
            <p:nvSpPr>
              <p:cNvPr id="17" name="Freeform 19"/>
              <p:cNvSpPr/>
              <p:nvPr/>
            </p:nvSpPr>
            <p:spPr>
              <a:xfrm>
                <a:off x="0" y="0"/>
                <a:ext cx="386286" cy="58024"/>
              </a:xfrm>
              <a:custGeom>
                <a:avLst/>
                <a:gdLst/>
                <a:ahLst/>
                <a:cxnLst/>
                <a:rect l="l" t="t" r="r" b="b"/>
                <a:pathLst>
                  <a:path w="386286" h="58024">
                    <a:moveTo>
                      <a:pt x="0" y="0"/>
                    </a:moveTo>
                    <a:lnTo>
                      <a:pt x="386286" y="0"/>
                    </a:lnTo>
                    <a:lnTo>
                      <a:pt x="386286" y="58024"/>
                    </a:lnTo>
                    <a:lnTo>
                      <a:pt x="0" y="58024"/>
                    </a:lnTo>
                    <a:close/>
                  </a:path>
                </a:pathLst>
              </a:custGeom>
              <a:solidFill>
                <a:srgbClr val="1726A9"/>
              </a:solidFill>
            </p:spPr>
          </p:sp>
          <p:sp>
            <p:nvSpPr>
              <p:cNvPr id="18" name="TextBox 20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33902" tIns="33902" rIns="33902" bIns="33902" rtlCol="0" anchor="ctr"/>
              <a:lstStyle/>
              <a:p>
                <a:pPr algn="ctr">
                  <a:lnSpc>
                    <a:spcPts val="3219"/>
                  </a:lnSpc>
                </a:pPr>
                <a:endParaRPr/>
              </a:p>
            </p:txBody>
          </p:sp>
        </p:grpSp>
        <p:grpSp>
          <p:nvGrpSpPr>
            <p:cNvPr id="14" name="Group 21"/>
            <p:cNvGrpSpPr/>
            <p:nvPr/>
          </p:nvGrpSpPr>
          <p:grpSpPr>
            <a:xfrm>
              <a:off x="0" y="2169135"/>
              <a:ext cx="1876698" cy="281896"/>
              <a:chOff x="0" y="0"/>
              <a:chExt cx="386286" cy="58024"/>
            </a:xfrm>
          </p:grpSpPr>
          <p:sp>
            <p:nvSpPr>
              <p:cNvPr id="15" name="Freeform 22"/>
              <p:cNvSpPr/>
              <p:nvPr/>
            </p:nvSpPr>
            <p:spPr>
              <a:xfrm>
                <a:off x="0" y="0"/>
                <a:ext cx="386286" cy="58024"/>
              </a:xfrm>
              <a:custGeom>
                <a:avLst/>
                <a:gdLst/>
                <a:ahLst/>
                <a:cxnLst/>
                <a:rect l="l" t="t" r="r" b="b"/>
                <a:pathLst>
                  <a:path w="386286" h="58024">
                    <a:moveTo>
                      <a:pt x="0" y="0"/>
                    </a:moveTo>
                    <a:lnTo>
                      <a:pt x="386286" y="0"/>
                    </a:lnTo>
                    <a:lnTo>
                      <a:pt x="386286" y="58024"/>
                    </a:lnTo>
                    <a:lnTo>
                      <a:pt x="0" y="58024"/>
                    </a:lnTo>
                    <a:close/>
                  </a:path>
                </a:pathLst>
              </a:custGeom>
              <a:solidFill>
                <a:srgbClr val="1726A9"/>
              </a:solidFill>
            </p:spPr>
          </p:sp>
          <p:sp>
            <p:nvSpPr>
              <p:cNvPr id="16" name="TextBox 23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33902" tIns="33902" rIns="33902" bIns="33902" rtlCol="0" anchor="ctr"/>
              <a:lstStyle/>
              <a:p>
                <a:pPr algn="ctr">
                  <a:lnSpc>
                    <a:spcPts val="3219"/>
                  </a:lnSpc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32032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78023" y="1590207"/>
            <a:ext cx="6368062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spc="217" dirty="0">
                <a:latin typeface="Roboto" panose="02000000000000000000" pitchFamily="2" charset="0"/>
                <a:ea typeface="Roboto" panose="02000000000000000000" pitchFamily="2" charset="0"/>
              </a:rPr>
              <a:t>Data de criação</a:t>
            </a:r>
            <a:r>
              <a:rPr lang="pt-BR" sz="2000" spc="217" dirty="0">
                <a:latin typeface="Roboto" panose="02000000000000000000" pitchFamily="2" charset="0"/>
                <a:ea typeface="Roboto" panose="02000000000000000000" pitchFamily="2" charset="0"/>
              </a:rPr>
              <a:t>: Data da criação da RN, ou a data em que ela foi especificada.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000" b="1" spc="217" dirty="0">
                <a:latin typeface="Roboto" panose="02000000000000000000" pitchFamily="2" charset="0"/>
                <a:ea typeface="Roboto" panose="02000000000000000000" pitchFamily="2" charset="0"/>
              </a:rPr>
              <a:t>Autor</a:t>
            </a:r>
            <a:r>
              <a:rPr lang="pt-BR" sz="2000" spc="217" dirty="0">
                <a:latin typeface="Roboto" panose="02000000000000000000" pitchFamily="2" charset="0"/>
                <a:ea typeface="Roboto" panose="02000000000000000000" pitchFamily="2" charset="0"/>
              </a:rPr>
              <a:t>: Profissional que especificou a RN pela primeira vez, quem a criou.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spc="217" dirty="0">
                <a:latin typeface="Roboto" panose="02000000000000000000" pitchFamily="2" charset="0"/>
                <a:ea typeface="Roboto" panose="02000000000000000000" pitchFamily="2" charset="0"/>
              </a:rPr>
              <a:t>Data da última alteração</a:t>
            </a:r>
            <a:r>
              <a:rPr lang="pt-BR" sz="2000" spc="217" dirty="0">
                <a:latin typeface="Roboto" panose="02000000000000000000" pitchFamily="2" charset="0"/>
                <a:ea typeface="Roboto" panose="02000000000000000000" pitchFamily="2" charset="0"/>
              </a:rPr>
              <a:t>: Data em que houve a última alteração no RN.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000" b="1" spc="217" dirty="0">
                <a:latin typeface="Roboto" panose="02000000000000000000" pitchFamily="2" charset="0"/>
                <a:ea typeface="Roboto" panose="02000000000000000000" pitchFamily="2" charset="0"/>
              </a:rPr>
              <a:t>Autor</a:t>
            </a:r>
            <a:r>
              <a:rPr lang="pt-BR" sz="2000" spc="217" dirty="0">
                <a:latin typeface="Roboto" panose="02000000000000000000" pitchFamily="2" charset="0"/>
                <a:ea typeface="Roboto" panose="02000000000000000000" pitchFamily="2" charset="0"/>
              </a:rPr>
              <a:t>: Profissional que alterou a especificação da RN pela última vez.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8022" y="660907"/>
            <a:ext cx="6589259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b="1" spc="67" dirty="0">
                <a:latin typeface="Century Gothic" panose="020B0502020202020204" pitchFamily="34" charset="0"/>
              </a:rPr>
              <a:t>Campos</a:t>
            </a:r>
          </a:p>
        </p:txBody>
      </p:sp>
      <p:pic>
        <p:nvPicPr>
          <p:cNvPr id="2" name="Picture 2" descr="AgeRio - As pessoas é que são a alma do negócio">
            <a:extLst>
              <a:ext uri="{FF2B5EF4-FFF2-40B4-BE49-F238E27FC236}">
                <a16:creationId xmlns:a16="http://schemas.microsoft.com/office/drawing/2014/main" id="{F1B51CAD-00ED-223B-A737-2188ADDA7A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17" r="33236"/>
          <a:stretch/>
        </p:blipFill>
        <p:spPr bwMode="auto">
          <a:xfrm>
            <a:off x="6946085" y="0"/>
            <a:ext cx="321430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/>
          <p:cNvGrpSpPr/>
          <p:nvPr/>
        </p:nvGrpSpPr>
        <p:grpSpPr>
          <a:xfrm>
            <a:off x="9703910" y="4173095"/>
            <a:ext cx="855927" cy="1447637"/>
            <a:chOff x="0" y="0"/>
            <a:chExt cx="1876698" cy="3174077"/>
          </a:xfrm>
        </p:grpSpPr>
        <p:grpSp>
          <p:nvGrpSpPr>
            <p:cNvPr id="10" name="Group 9"/>
            <p:cNvGrpSpPr/>
            <p:nvPr/>
          </p:nvGrpSpPr>
          <p:grpSpPr>
            <a:xfrm>
              <a:off x="0" y="2892181"/>
              <a:ext cx="1876698" cy="281896"/>
              <a:chOff x="0" y="0"/>
              <a:chExt cx="386286" cy="58024"/>
            </a:xfrm>
          </p:grpSpPr>
          <p:sp>
            <p:nvSpPr>
              <p:cNvPr id="23" name="Freeform 10"/>
              <p:cNvSpPr/>
              <p:nvPr/>
            </p:nvSpPr>
            <p:spPr>
              <a:xfrm>
                <a:off x="0" y="0"/>
                <a:ext cx="386286" cy="58024"/>
              </a:xfrm>
              <a:custGeom>
                <a:avLst/>
                <a:gdLst/>
                <a:ahLst/>
                <a:cxnLst/>
                <a:rect l="l" t="t" r="r" b="b"/>
                <a:pathLst>
                  <a:path w="386286" h="58024">
                    <a:moveTo>
                      <a:pt x="0" y="0"/>
                    </a:moveTo>
                    <a:lnTo>
                      <a:pt x="386286" y="0"/>
                    </a:lnTo>
                    <a:lnTo>
                      <a:pt x="386286" y="58024"/>
                    </a:lnTo>
                    <a:lnTo>
                      <a:pt x="0" y="58024"/>
                    </a:lnTo>
                    <a:close/>
                  </a:path>
                </a:pathLst>
              </a:custGeom>
              <a:solidFill>
                <a:srgbClr val="1726A9"/>
              </a:solidFill>
            </p:spPr>
          </p:sp>
          <p:sp>
            <p:nvSpPr>
              <p:cNvPr id="24" name="TextBox 11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33902" tIns="33902" rIns="33902" bIns="33902" rtlCol="0" anchor="ctr"/>
              <a:lstStyle/>
              <a:p>
                <a:pPr algn="ctr">
                  <a:lnSpc>
                    <a:spcPts val="3219"/>
                  </a:lnSpc>
                </a:pPr>
                <a:endParaRPr/>
              </a:p>
            </p:txBody>
          </p:sp>
        </p:grpSp>
        <p:grpSp>
          <p:nvGrpSpPr>
            <p:cNvPr id="11" name="Group 12"/>
            <p:cNvGrpSpPr/>
            <p:nvPr/>
          </p:nvGrpSpPr>
          <p:grpSpPr>
            <a:xfrm>
              <a:off x="0" y="0"/>
              <a:ext cx="1876698" cy="281896"/>
              <a:chOff x="0" y="0"/>
              <a:chExt cx="386286" cy="58024"/>
            </a:xfrm>
          </p:grpSpPr>
          <p:sp>
            <p:nvSpPr>
              <p:cNvPr id="21" name="Freeform 13"/>
              <p:cNvSpPr/>
              <p:nvPr/>
            </p:nvSpPr>
            <p:spPr>
              <a:xfrm>
                <a:off x="0" y="0"/>
                <a:ext cx="386286" cy="58024"/>
              </a:xfrm>
              <a:custGeom>
                <a:avLst/>
                <a:gdLst/>
                <a:ahLst/>
                <a:cxnLst/>
                <a:rect l="l" t="t" r="r" b="b"/>
                <a:pathLst>
                  <a:path w="386286" h="58024">
                    <a:moveTo>
                      <a:pt x="0" y="0"/>
                    </a:moveTo>
                    <a:lnTo>
                      <a:pt x="386286" y="0"/>
                    </a:lnTo>
                    <a:lnTo>
                      <a:pt x="386286" y="58024"/>
                    </a:lnTo>
                    <a:lnTo>
                      <a:pt x="0" y="58024"/>
                    </a:lnTo>
                    <a:close/>
                  </a:path>
                </a:pathLst>
              </a:custGeom>
              <a:solidFill>
                <a:srgbClr val="1726A9"/>
              </a:solidFill>
            </p:spPr>
          </p:sp>
          <p:sp>
            <p:nvSpPr>
              <p:cNvPr id="22" name="TextBox 14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33902" tIns="33902" rIns="33902" bIns="33902" rtlCol="0" anchor="ctr"/>
              <a:lstStyle/>
              <a:p>
                <a:pPr algn="ctr">
                  <a:lnSpc>
                    <a:spcPts val="3219"/>
                  </a:lnSpc>
                </a:pPr>
                <a:endParaRPr/>
              </a:p>
            </p:txBody>
          </p:sp>
        </p:grpSp>
        <p:grpSp>
          <p:nvGrpSpPr>
            <p:cNvPr id="12" name="Group 15"/>
            <p:cNvGrpSpPr/>
            <p:nvPr/>
          </p:nvGrpSpPr>
          <p:grpSpPr>
            <a:xfrm>
              <a:off x="0" y="723045"/>
              <a:ext cx="1876698" cy="281896"/>
              <a:chOff x="0" y="0"/>
              <a:chExt cx="386286" cy="58024"/>
            </a:xfrm>
          </p:grpSpPr>
          <p:sp>
            <p:nvSpPr>
              <p:cNvPr id="19" name="Freeform 16"/>
              <p:cNvSpPr/>
              <p:nvPr/>
            </p:nvSpPr>
            <p:spPr>
              <a:xfrm>
                <a:off x="0" y="0"/>
                <a:ext cx="386286" cy="58024"/>
              </a:xfrm>
              <a:custGeom>
                <a:avLst/>
                <a:gdLst/>
                <a:ahLst/>
                <a:cxnLst/>
                <a:rect l="l" t="t" r="r" b="b"/>
                <a:pathLst>
                  <a:path w="386286" h="58024">
                    <a:moveTo>
                      <a:pt x="0" y="0"/>
                    </a:moveTo>
                    <a:lnTo>
                      <a:pt x="386286" y="0"/>
                    </a:lnTo>
                    <a:lnTo>
                      <a:pt x="386286" y="58024"/>
                    </a:lnTo>
                    <a:lnTo>
                      <a:pt x="0" y="58024"/>
                    </a:lnTo>
                    <a:close/>
                  </a:path>
                </a:pathLst>
              </a:custGeom>
              <a:solidFill>
                <a:srgbClr val="1726A9"/>
              </a:solidFill>
            </p:spPr>
          </p:sp>
          <p:sp>
            <p:nvSpPr>
              <p:cNvPr id="20" name="TextBox 17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33902" tIns="33902" rIns="33902" bIns="33902" rtlCol="0" anchor="ctr"/>
              <a:lstStyle/>
              <a:p>
                <a:pPr algn="ctr">
                  <a:lnSpc>
                    <a:spcPts val="3219"/>
                  </a:lnSpc>
                </a:pPr>
                <a:endParaRPr/>
              </a:p>
            </p:txBody>
          </p:sp>
        </p:grpSp>
        <p:grpSp>
          <p:nvGrpSpPr>
            <p:cNvPr id="13" name="Group 18"/>
            <p:cNvGrpSpPr/>
            <p:nvPr/>
          </p:nvGrpSpPr>
          <p:grpSpPr>
            <a:xfrm>
              <a:off x="0" y="1446090"/>
              <a:ext cx="1876698" cy="281896"/>
              <a:chOff x="0" y="0"/>
              <a:chExt cx="386286" cy="58024"/>
            </a:xfrm>
          </p:grpSpPr>
          <p:sp>
            <p:nvSpPr>
              <p:cNvPr id="17" name="Freeform 19"/>
              <p:cNvSpPr/>
              <p:nvPr/>
            </p:nvSpPr>
            <p:spPr>
              <a:xfrm>
                <a:off x="0" y="0"/>
                <a:ext cx="386286" cy="58024"/>
              </a:xfrm>
              <a:custGeom>
                <a:avLst/>
                <a:gdLst/>
                <a:ahLst/>
                <a:cxnLst/>
                <a:rect l="l" t="t" r="r" b="b"/>
                <a:pathLst>
                  <a:path w="386286" h="58024">
                    <a:moveTo>
                      <a:pt x="0" y="0"/>
                    </a:moveTo>
                    <a:lnTo>
                      <a:pt x="386286" y="0"/>
                    </a:lnTo>
                    <a:lnTo>
                      <a:pt x="386286" y="58024"/>
                    </a:lnTo>
                    <a:lnTo>
                      <a:pt x="0" y="58024"/>
                    </a:lnTo>
                    <a:close/>
                  </a:path>
                </a:pathLst>
              </a:custGeom>
              <a:solidFill>
                <a:srgbClr val="1726A9"/>
              </a:solidFill>
            </p:spPr>
          </p:sp>
          <p:sp>
            <p:nvSpPr>
              <p:cNvPr id="18" name="TextBox 20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33902" tIns="33902" rIns="33902" bIns="33902" rtlCol="0" anchor="ctr"/>
              <a:lstStyle/>
              <a:p>
                <a:pPr algn="ctr">
                  <a:lnSpc>
                    <a:spcPts val="3219"/>
                  </a:lnSpc>
                </a:pPr>
                <a:endParaRPr/>
              </a:p>
            </p:txBody>
          </p:sp>
        </p:grpSp>
        <p:grpSp>
          <p:nvGrpSpPr>
            <p:cNvPr id="14" name="Group 21"/>
            <p:cNvGrpSpPr/>
            <p:nvPr/>
          </p:nvGrpSpPr>
          <p:grpSpPr>
            <a:xfrm>
              <a:off x="0" y="2169135"/>
              <a:ext cx="1876698" cy="281896"/>
              <a:chOff x="0" y="0"/>
              <a:chExt cx="386286" cy="58024"/>
            </a:xfrm>
          </p:grpSpPr>
          <p:sp>
            <p:nvSpPr>
              <p:cNvPr id="15" name="Freeform 22"/>
              <p:cNvSpPr/>
              <p:nvPr/>
            </p:nvSpPr>
            <p:spPr>
              <a:xfrm>
                <a:off x="0" y="0"/>
                <a:ext cx="386286" cy="58024"/>
              </a:xfrm>
              <a:custGeom>
                <a:avLst/>
                <a:gdLst/>
                <a:ahLst/>
                <a:cxnLst/>
                <a:rect l="l" t="t" r="r" b="b"/>
                <a:pathLst>
                  <a:path w="386286" h="58024">
                    <a:moveTo>
                      <a:pt x="0" y="0"/>
                    </a:moveTo>
                    <a:lnTo>
                      <a:pt x="386286" y="0"/>
                    </a:lnTo>
                    <a:lnTo>
                      <a:pt x="386286" y="58024"/>
                    </a:lnTo>
                    <a:lnTo>
                      <a:pt x="0" y="58024"/>
                    </a:lnTo>
                    <a:close/>
                  </a:path>
                </a:pathLst>
              </a:custGeom>
              <a:solidFill>
                <a:srgbClr val="1726A9"/>
              </a:solidFill>
            </p:spPr>
          </p:sp>
          <p:sp>
            <p:nvSpPr>
              <p:cNvPr id="16" name="TextBox 23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33902" tIns="33902" rIns="33902" bIns="33902" rtlCol="0" anchor="ctr"/>
              <a:lstStyle/>
              <a:p>
                <a:pPr algn="ctr">
                  <a:lnSpc>
                    <a:spcPts val="3219"/>
                  </a:lnSpc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54128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78023" y="1590207"/>
            <a:ext cx="6368062" cy="3693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spc="217" dirty="0">
                <a:latin typeface="Roboto" panose="02000000000000000000" pitchFamily="2" charset="0"/>
                <a:ea typeface="Roboto" panose="02000000000000000000" pitchFamily="2" charset="0"/>
              </a:rPr>
              <a:t>Versão</a:t>
            </a:r>
            <a:r>
              <a:rPr lang="pt-BR" sz="2000" spc="217" dirty="0">
                <a:latin typeface="Roboto" panose="02000000000000000000" pitchFamily="2" charset="0"/>
                <a:ea typeface="Roboto" panose="02000000000000000000" pitchFamily="2" charset="0"/>
              </a:rPr>
              <a:t>: Número da versão do RN. Geralmente utiliza-se algo simples, como 1, 2 etc. A versão inicial sempre é a 1, e a cada alteração incrementa-se a versão (na criação versão 1, na primeira alteração versão 2 etc.).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spc="217" dirty="0">
                <a:latin typeface="Roboto" panose="02000000000000000000" pitchFamily="2" charset="0"/>
                <a:ea typeface="Roboto" panose="02000000000000000000" pitchFamily="2" charset="0"/>
              </a:rPr>
              <a:t>Dependências</a:t>
            </a:r>
            <a:r>
              <a:rPr lang="pt-BR" sz="2000" spc="217" dirty="0">
                <a:latin typeface="Roboto" panose="02000000000000000000" pitchFamily="2" charset="0"/>
                <a:ea typeface="Roboto" panose="02000000000000000000" pitchFamily="2" charset="0"/>
              </a:rPr>
              <a:t>: Quais </a:t>
            </a:r>
            <a:r>
              <a:rPr lang="pt-BR" sz="2000" spc="217" dirty="0" err="1">
                <a:latin typeface="Roboto" panose="02000000000000000000" pitchFamily="2" charset="0"/>
                <a:ea typeface="Roboto" panose="02000000000000000000" pitchFamily="2" charset="0"/>
              </a:rPr>
              <a:t>RFs</a:t>
            </a:r>
            <a:r>
              <a:rPr lang="pt-BR" sz="2000" spc="217" dirty="0">
                <a:latin typeface="Roboto" panose="02000000000000000000" pitchFamily="2" charset="0"/>
                <a:ea typeface="Roboto" panose="02000000000000000000" pitchFamily="2" charset="0"/>
              </a:rPr>
              <a:t> (Requisitos Funcionais) são dependentes da RN para serem realizados. Coloca-se apenas o identificador dos </a:t>
            </a:r>
            <a:r>
              <a:rPr lang="pt-BR" sz="2000" spc="217" dirty="0" err="1">
                <a:latin typeface="Roboto" panose="02000000000000000000" pitchFamily="2" charset="0"/>
                <a:ea typeface="Roboto" panose="02000000000000000000" pitchFamily="2" charset="0"/>
              </a:rPr>
              <a:t>RFs</a:t>
            </a:r>
            <a:r>
              <a:rPr lang="pt-BR" sz="2000" spc="217" dirty="0"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spc="217" dirty="0">
                <a:latin typeface="Roboto" panose="02000000000000000000" pitchFamily="2" charset="0"/>
                <a:ea typeface="Roboto" panose="02000000000000000000" pitchFamily="2" charset="0"/>
              </a:rPr>
              <a:t>Descrição</a:t>
            </a:r>
            <a:r>
              <a:rPr lang="pt-BR" sz="2000" spc="217" dirty="0">
                <a:latin typeface="Roboto" panose="02000000000000000000" pitchFamily="2" charset="0"/>
                <a:ea typeface="Roboto" panose="02000000000000000000" pitchFamily="2" charset="0"/>
              </a:rPr>
              <a:t>: Descrição detalhada (a mais detalhada possível) da RN.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8022" y="660907"/>
            <a:ext cx="6589259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b="1" spc="67" dirty="0">
                <a:latin typeface="Century Gothic" panose="020B0502020202020204" pitchFamily="34" charset="0"/>
              </a:rPr>
              <a:t>Campos</a:t>
            </a:r>
          </a:p>
        </p:txBody>
      </p:sp>
      <p:pic>
        <p:nvPicPr>
          <p:cNvPr id="2" name="Picture 2" descr="AgeRio - As pessoas é que são a alma do negócio">
            <a:extLst>
              <a:ext uri="{FF2B5EF4-FFF2-40B4-BE49-F238E27FC236}">
                <a16:creationId xmlns:a16="http://schemas.microsoft.com/office/drawing/2014/main" id="{EFED86D7-BB6A-3933-85CB-A8D183188B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17" r="33236"/>
          <a:stretch/>
        </p:blipFill>
        <p:spPr bwMode="auto">
          <a:xfrm>
            <a:off x="6946085" y="0"/>
            <a:ext cx="321430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/>
          <p:cNvGrpSpPr/>
          <p:nvPr/>
        </p:nvGrpSpPr>
        <p:grpSpPr>
          <a:xfrm>
            <a:off x="9703910" y="4173095"/>
            <a:ext cx="855927" cy="1447637"/>
            <a:chOff x="0" y="0"/>
            <a:chExt cx="1876698" cy="3174077"/>
          </a:xfrm>
        </p:grpSpPr>
        <p:grpSp>
          <p:nvGrpSpPr>
            <p:cNvPr id="10" name="Group 9"/>
            <p:cNvGrpSpPr/>
            <p:nvPr/>
          </p:nvGrpSpPr>
          <p:grpSpPr>
            <a:xfrm>
              <a:off x="0" y="2892181"/>
              <a:ext cx="1876698" cy="281896"/>
              <a:chOff x="0" y="0"/>
              <a:chExt cx="386286" cy="58024"/>
            </a:xfrm>
          </p:grpSpPr>
          <p:sp>
            <p:nvSpPr>
              <p:cNvPr id="23" name="Freeform 10"/>
              <p:cNvSpPr/>
              <p:nvPr/>
            </p:nvSpPr>
            <p:spPr>
              <a:xfrm>
                <a:off x="0" y="0"/>
                <a:ext cx="386286" cy="58024"/>
              </a:xfrm>
              <a:custGeom>
                <a:avLst/>
                <a:gdLst/>
                <a:ahLst/>
                <a:cxnLst/>
                <a:rect l="l" t="t" r="r" b="b"/>
                <a:pathLst>
                  <a:path w="386286" h="58024">
                    <a:moveTo>
                      <a:pt x="0" y="0"/>
                    </a:moveTo>
                    <a:lnTo>
                      <a:pt x="386286" y="0"/>
                    </a:lnTo>
                    <a:lnTo>
                      <a:pt x="386286" y="58024"/>
                    </a:lnTo>
                    <a:lnTo>
                      <a:pt x="0" y="58024"/>
                    </a:lnTo>
                    <a:close/>
                  </a:path>
                </a:pathLst>
              </a:custGeom>
              <a:solidFill>
                <a:srgbClr val="1726A9"/>
              </a:solidFill>
            </p:spPr>
          </p:sp>
          <p:sp>
            <p:nvSpPr>
              <p:cNvPr id="24" name="TextBox 11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33902" tIns="33902" rIns="33902" bIns="33902" rtlCol="0" anchor="ctr"/>
              <a:lstStyle/>
              <a:p>
                <a:pPr algn="ctr">
                  <a:lnSpc>
                    <a:spcPts val="3219"/>
                  </a:lnSpc>
                </a:pPr>
                <a:endParaRPr/>
              </a:p>
            </p:txBody>
          </p:sp>
        </p:grpSp>
        <p:grpSp>
          <p:nvGrpSpPr>
            <p:cNvPr id="11" name="Group 12"/>
            <p:cNvGrpSpPr/>
            <p:nvPr/>
          </p:nvGrpSpPr>
          <p:grpSpPr>
            <a:xfrm>
              <a:off x="0" y="0"/>
              <a:ext cx="1876698" cy="281896"/>
              <a:chOff x="0" y="0"/>
              <a:chExt cx="386286" cy="58024"/>
            </a:xfrm>
          </p:grpSpPr>
          <p:sp>
            <p:nvSpPr>
              <p:cNvPr id="21" name="Freeform 13"/>
              <p:cNvSpPr/>
              <p:nvPr/>
            </p:nvSpPr>
            <p:spPr>
              <a:xfrm>
                <a:off x="0" y="0"/>
                <a:ext cx="386286" cy="58024"/>
              </a:xfrm>
              <a:custGeom>
                <a:avLst/>
                <a:gdLst/>
                <a:ahLst/>
                <a:cxnLst/>
                <a:rect l="l" t="t" r="r" b="b"/>
                <a:pathLst>
                  <a:path w="386286" h="58024">
                    <a:moveTo>
                      <a:pt x="0" y="0"/>
                    </a:moveTo>
                    <a:lnTo>
                      <a:pt x="386286" y="0"/>
                    </a:lnTo>
                    <a:lnTo>
                      <a:pt x="386286" y="58024"/>
                    </a:lnTo>
                    <a:lnTo>
                      <a:pt x="0" y="58024"/>
                    </a:lnTo>
                    <a:close/>
                  </a:path>
                </a:pathLst>
              </a:custGeom>
              <a:solidFill>
                <a:srgbClr val="1726A9"/>
              </a:solidFill>
            </p:spPr>
          </p:sp>
          <p:sp>
            <p:nvSpPr>
              <p:cNvPr id="22" name="TextBox 14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33902" tIns="33902" rIns="33902" bIns="33902" rtlCol="0" anchor="ctr"/>
              <a:lstStyle/>
              <a:p>
                <a:pPr algn="ctr">
                  <a:lnSpc>
                    <a:spcPts val="3219"/>
                  </a:lnSpc>
                </a:pPr>
                <a:endParaRPr/>
              </a:p>
            </p:txBody>
          </p:sp>
        </p:grpSp>
        <p:grpSp>
          <p:nvGrpSpPr>
            <p:cNvPr id="12" name="Group 15"/>
            <p:cNvGrpSpPr/>
            <p:nvPr/>
          </p:nvGrpSpPr>
          <p:grpSpPr>
            <a:xfrm>
              <a:off x="0" y="723045"/>
              <a:ext cx="1876698" cy="281896"/>
              <a:chOff x="0" y="0"/>
              <a:chExt cx="386286" cy="58024"/>
            </a:xfrm>
          </p:grpSpPr>
          <p:sp>
            <p:nvSpPr>
              <p:cNvPr id="19" name="Freeform 16"/>
              <p:cNvSpPr/>
              <p:nvPr/>
            </p:nvSpPr>
            <p:spPr>
              <a:xfrm>
                <a:off x="0" y="0"/>
                <a:ext cx="386286" cy="58024"/>
              </a:xfrm>
              <a:custGeom>
                <a:avLst/>
                <a:gdLst/>
                <a:ahLst/>
                <a:cxnLst/>
                <a:rect l="l" t="t" r="r" b="b"/>
                <a:pathLst>
                  <a:path w="386286" h="58024">
                    <a:moveTo>
                      <a:pt x="0" y="0"/>
                    </a:moveTo>
                    <a:lnTo>
                      <a:pt x="386286" y="0"/>
                    </a:lnTo>
                    <a:lnTo>
                      <a:pt x="386286" y="58024"/>
                    </a:lnTo>
                    <a:lnTo>
                      <a:pt x="0" y="58024"/>
                    </a:lnTo>
                    <a:close/>
                  </a:path>
                </a:pathLst>
              </a:custGeom>
              <a:solidFill>
                <a:srgbClr val="1726A9"/>
              </a:solidFill>
            </p:spPr>
          </p:sp>
          <p:sp>
            <p:nvSpPr>
              <p:cNvPr id="20" name="TextBox 17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33902" tIns="33902" rIns="33902" bIns="33902" rtlCol="0" anchor="ctr"/>
              <a:lstStyle/>
              <a:p>
                <a:pPr algn="ctr">
                  <a:lnSpc>
                    <a:spcPts val="3219"/>
                  </a:lnSpc>
                </a:pPr>
                <a:endParaRPr/>
              </a:p>
            </p:txBody>
          </p:sp>
        </p:grpSp>
        <p:grpSp>
          <p:nvGrpSpPr>
            <p:cNvPr id="13" name="Group 18"/>
            <p:cNvGrpSpPr/>
            <p:nvPr/>
          </p:nvGrpSpPr>
          <p:grpSpPr>
            <a:xfrm>
              <a:off x="0" y="1446090"/>
              <a:ext cx="1876698" cy="281896"/>
              <a:chOff x="0" y="0"/>
              <a:chExt cx="386286" cy="58024"/>
            </a:xfrm>
          </p:grpSpPr>
          <p:sp>
            <p:nvSpPr>
              <p:cNvPr id="17" name="Freeform 19"/>
              <p:cNvSpPr/>
              <p:nvPr/>
            </p:nvSpPr>
            <p:spPr>
              <a:xfrm>
                <a:off x="0" y="0"/>
                <a:ext cx="386286" cy="58024"/>
              </a:xfrm>
              <a:custGeom>
                <a:avLst/>
                <a:gdLst/>
                <a:ahLst/>
                <a:cxnLst/>
                <a:rect l="l" t="t" r="r" b="b"/>
                <a:pathLst>
                  <a:path w="386286" h="58024">
                    <a:moveTo>
                      <a:pt x="0" y="0"/>
                    </a:moveTo>
                    <a:lnTo>
                      <a:pt x="386286" y="0"/>
                    </a:lnTo>
                    <a:lnTo>
                      <a:pt x="386286" y="58024"/>
                    </a:lnTo>
                    <a:lnTo>
                      <a:pt x="0" y="58024"/>
                    </a:lnTo>
                    <a:close/>
                  </a:path>
                </a:pathLst>
              </a:custGeom>
              <a:solidFill>
                <a:srgbClr val="1726A9"/>
              </a:solidFill>
            </p:spPr>
          </p:sp>
          <p:sp>
            <p:nvSpPr>
              <p:cNvPr id="18" name="TextBox 20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33902" tIns="33902" rIns="33902" bIns="33902" rtlCol="0" anchor="ctr"/>
              <a:lstStyle/>
              <a:p>
                <a:pPr algn="ctr">
                  <a:lnSpc>
                    <a:spcPts val="3219"/>
                  </a:lnSpc>
                </a:pPr>
                <a:endParaRPr/>
              </a:p>
            </p:txBody>
          </p:sp>
        </p:grpSp>
        <p:grpSp>
          <p:nvGrpSpPr>
            <p:cNvPr id="14" name="Group 21"/>
            <p:cNvGrpSpPr/>
            <p:nvPr/>
          </p:nvGrpSpPr>
          <p:grpSpPr>
            <a:xfrm>
              <a:off x="0" y="2169135"/>
              <a:ext cx="1876698" cy="281896"/>
              <a:chOff x="0" y="0"/>
              <a:chExt cx="386286" cy="58024"/>
            </a:xfrm>
          </p:grpSpPr>
          <p:sp>
            <p:nvSpPr>
              <p:cNvPr id="15" name="Freeform 22"/>
              <p:cNvSpPr/>
              <p:nvPr/>
            </p:nvSpPr>
            <p:spPr>
              <a:xfrm>
                <a:off x="0" y="0"/>
                <a:ext cx="386286" cy="58024"/>
              </a:xfrm>
              <a:custGeom>
                <a:avLst/>
                <a:gdLst/>
                <a:ahLst/>
                <a:cxnLst/>
                <a:rect l="l" t="t" r="r" b="b"/>
                <a:pathLst>
                  <a:path w="386286" h="58024">
                    <a:moveTo>
                      <a:pt x="0" y="0"/>
                    </a:moveTo>
                    <a:lnTo>
                      <a:pt x="386286" y="0"/>
                    </a:lnTo>
                    <a:lnTo>
                      <a:pt x="386286" y="58024"/>
                    </a:lnTo>
                    <a:lnTo>
                      <a:pt x="0" y="58024"/>
                    </a:lnTo>
                    <a:close/>
                  </a:path>
                </a:pathLst>
              </a:custGeom>
              <a:solidFill>
                <a:srgbClr val="1726A9"/>
              </a:solidFill>
            </p:spPr>
          </p:sp>
          <p:sp>
            <p:nvSpPr>
              <p:cNvPr id="16" name="TextBox 23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33902" tIns="33902" rIns="33902" bIns="33902" rtlCol="0" anchor="ctr"/>
              <a:lstStyle/>
              <a:p>
                <a:pPr algn="ctr">
                  <a:lnSpc>
                    <a:spcPts val="3219"/>
                  </a:lnSpc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73682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78022" y="970189"/>
            <a:ext cx="11613978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pt-BR" sz="3600" b="1" spc="67" dirty="0">
                <a:latin typeface="Century Gothic" panose="020B0502020202020204" pitchFamily="34" charset="0"/>
              </a:rPr>
              <a:t>Exemplo de uma Regra de Negócio especificada</a:t>
            </a:r>
            <a:endParaRPr lang="en-US" sz="3600" b="1" spc="67" dirty="0">
              <a:latin typeface="Century Gothic" panose="020B0502020202020204" pitchFamily="34" charset="0"/>
            </a:endParaRP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817EB514-EBF7-5A1F-09ED-187D6B2CDA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001030"/>
              </p:ext>
            </p:extLst>
          </p:nvPr>
        </p:nvGraphicFramePr>
        <p:xfrm>
          <a:off x="578020" y="1524187"/>
          <a:ext cx="11430205" cy="4028727"/>
        </p:xfrm>
        <a:graphic>
          <a:graphicData uri="http://schemas.openxmlformats.org/drawingml/2006/table">
            <a:tbl>
              <a:tblPr firstCol="1" bandRow="1">
                <a:tableStyleId>{2D5ABB26-0587-4C30-8999-92F81FD0307C}</a:tableStyleId>
              </a:tblPr>
              <a:tblGrid>
                <a:gridCol w="1929945">
                  <a:extLst>
                    <a:ext uri="{9D8B030D-6E8A-4147-A177-3AD203B41FA5}">
                      <a16:colId xmlns:a16="http://schemas.microsoft.com/office/drawing/2014/main" val="3412599818"/>
                    </a:ext>
                  </a:extLst>
                </a:gridCol>
                <a:gridCol w="3783812">
                  <a:extLst>
                    <a:ext uri="{9D8B030D-6E8A-4147-A177-3AD203B41FA5}">
                      <a16:colId xmlns:a16="http://schemas.microsoft.com/office/drawing/2014/main" val="1161651979"/>
                    </a:ext>
                  </a:extLst>
                </a:gridCol>
                <a:gridCol w="2858224">
                  <a:extLst>
                    <a:ext uri="{9D8B030D-6E8A-4147-A177-3AD203B41FA5}">
                      <a16:colId xmlns:a16="http://schemas.microsoft.com/office/drawing/2014/main" val="119465605"/>
                    </a:ext>
                  </a:extLst>
                </a:gridCol>
                <a:gridCol w="2858224">
                  <a:extLst>
                    <a:ext uri="{9D8B030D-6E8A-4147-A177-3AD203B41FA5}">
                      <a16:colId xmlns:a16="http://schemas.microsoft.com/office/drawing/2014/main" val="4139776413"/>
                    </a:ext>
                  </a:extLst>
                </a:gridCol>
              </a:tblGrid>
              <a:tr h="32949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800" b="1" kern="100" dirty="0">
                          <a:effectLst/>
                        </a:rPr>
                        <a:t>Identificador</a:t>
                      </a:r>
                      <a:endParaRPr lang="pt-BR" sz="18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557" marR="6655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800" b="1" kern="100" dirty="0">
                          <a:effectLst/>
                        </a:rPr>
                        <a:t> </a:t>
                      </a:r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RN0001</a:t>
                      </a:r>
                      <a:endParaRPr lang="pt-BR" sz="18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743" marR="88743" marT="44372" marB="443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991433"/>
                  </a:ext>
                </a:extLst>
              </a:tr>
              <a:tr h="32949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800" b="1" kern="100">
                          <a:effectLst/>
                        </a:rPr>
                        <a:t>Nome</a:t>
                      </a:r>
                      <a:endParaRPr lang="pt-BR" sz="18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557" marR="6655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800" b="1" kern="100" dirty="0">
                          <a:effectLst/>
                        </a:rPr>
                        <a:t> </a:t>
                      </a:r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Validação da identificação da pessoa que solicita a retirada/entrega do material</a:t>
                      </a:r>
                      <a:endParaRPr lang="pt-BR" sz="18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743" marR="88743" marT="44372" marB="443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683596"/>
                  </a:ext>
                </a:extLst>
              </a:tr>
              <a:tr h="32949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800" b="1" kern="100">
                          <a:effectLst/>
                        </a:rPr>
                        <a:t>Módulo</a:t>
                      </a:r>
                      <a:endParaRPr lang="pt-BR" sz="18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557" marR="6655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800" b="1" kern="100" dirty="0">
                          <a:effectLst/>
                        </a:rPr>
                        <a:t> </a:t>
                      </a:r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Gestão de Armazéns</a:t>
                      </a:r>
                      <a:endParaRPr lang="pt-BR" sz="18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743" marR="88743" marT="44372" marB="443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706322"/>
                  </a:ext>
                </a:extLst>
              </a:tr>
              <a:tr h="2502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800" b="1" kern="100">
                          <a:effectLst/>
                        </a:rPr>
                        <a:t>Data de criação</a:t>
                      </a:r>
                      <a:endParaRPr lang="pt-BR" sz="18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557" marR="6655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800" b="1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31/01/2016</a:t>
                      </a:r>
                      <a:endParaRPr lang="pt-BR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557" marR="6655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800" b="1" kern="100" dirty="0">
                          <a:solidFill>
                            <a:schemeClr val="tx1"/>
                          </a:solidFill>
                          <a:effectLst/>
                        </a:rPr>
                        <a:t>Autor</a:t>
                      </a:r>
                      <a:endParaRPr lang="pt-BR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557" marR="6655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800" b="1" kern="100" dirty="0">
                          <a:effectLst/>
                        </a:rPr>
                        <a:t> </a:t>
                      </a:r>
                      <a:r>
                        <a:rPr lang="pt-BR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Nagarjuna</a:t>
                      </a:r>
                      <a:endParaRPr lang="pt-BR" sz="18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557" marR="6655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1107036"/>
                  </a:ext>
                </a:extLst>
              </a:tr>
              <a:tr h="5122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800" b="1" kern="100">
                          <a:effectLst/>
                        </a:rPr>
                        <a:t>Data da última alteração</a:t>
                      </a:r>
                      <a:endParaRPr lang="pt-BR" sz="18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557" marR="6655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800" b="1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N/A</a:t>
                      </a:r>
                      <a:endParaRPr lang="pt-BR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557" marR="6655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800" b="1" kern="100" dirty="0">
                          <a:solidFill>
                            <a:schemeClr val="tx1"/>
                          </a:solidFill>
                          <a:effectLst/>
                        </a:rPr>
                        <a:t>Autor</a:t>
                      </a:r>
                      <a:endParaRPr lang="pt-BR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557" marR="6655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800" b="1" kern="100" dirty="0">
                          <a:effectLst/>
                        </a:rPr>
                        <a:t> </a:t>
                      </a:r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N/A</a:t>
                      </a:r>
                      <a:endParaRPr lang="pt-BR" sz="18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557" marR="6655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2763883"/>
                  </a:ext>
                </a:extLst>
              </a:tr>
              <a:tr h="2502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800" b="1" kern="100">
                          <a:effectLst/>
                        </a:rPr>
                        <a:t>Versão</a:t>
                      </a:r>
                      <a:endParaRPr lang="pt-BR" sz="18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557" marR="6655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800" b="1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pt-BR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557" marR="6655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800" b="1" kern="100" dirty="0">
                          <a:solidFill>
                            <a:schemeClr val="tx1"/>
                          </a:solidFill>
                          <a:effectLst/>
                        </a:rPr>
                        <a:t>Dependências</a:t>
                      </a:r>
                      <a:endParaRPr lang="pt-BR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557" marR="6655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800" b="1" kern="100" dirty="0">
                          <a:effectLst/>
                        </a:rPr>
                        <a:t> </a:t>
                      </a:r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RF0099</a:t>
                      </a:r>
                      <a:endParaRPr lang="pt-BR" sz="18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557" marR="6655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523629"/>
                  </a:ext>
                </a:extLst>
              </a:tr>
              <a:tr h="178611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800" b="1" kern="100" dirty="0">
                          <a:effectLst/>
                        </a:rPr>
                        <a:t>Descrição</a:t>
                      </a:r>
                      <a:endParaRPr lang="pt-BR" sz="18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557" marR="6655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800" b="0" kern="100" dirty="0">
                          <a:solidFill>
                            <a:schemeClr val="tx1"/>
                          </a:solidFill>
                          <a:effectLst/>
                        </a:rPr>
                        <a:t>Sempre que uma pessoa se dirigir ao departamento de expedição para solicitar uma mercadoria esta pessoa deve se identificar com seu documento de identidade. O profissional do departamento de expedição deve certificar-se que o documento é válido.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pt-BR" sz="18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743" marR="88743" marT="44372" marB="443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81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6079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2"/>
          <p:cNvSpPr/>
          <p:nvPr/>
        </p:nvSpPr>
        <p:spPr>
          <a:xfrm>
            <a:off x="10984587" y="0"/>
            <a:ext cx="1207413" cy="6883966"/>
          </a:xfrm>
          <a:prstGeom prst="rect">
            <a:avLst/>
          </a:prstGeom>
          <a:solidFill>
            <a:srgbClr val="1A27A9"/>
          </a:solidFill>
        </p:spPr>
      </p:sp>
      <p:grpSp>
        <p:nvGrpSpPr>
          <p:cNvPr id="17" name="Group 5"/>
          <p:cNvGrpSpPr/>
          <p:nvPr/>
        </p:nvGrpSpPr>
        <p:grpSpPr>
          <a:xfrm>
            <a:off x="11725456" y="3519379"/>
            <a:ext cx="466544" cy="2285917"/>
            <a:chOff x="0" y="0"/>
            <a:chExt cx="1802089" cy="3047889"/>
          </a:xfrm>
        </p:grpSpPr>
        <p:grpSp>
          <p:nvGrpSpPr>
            <p:cNvPr id="18" name="Group 6"/>
            <p:cNvGrpSpPr/>
            <p:nvPr/>
          </p:nvGrpSpPr>
          <p:grpSpPr>
            <a:xfrm>
              <a:off x="0" y="2777199"/>
              <a:ext cx="1802089" cy="270689"/>
              <a:chOff x="0" y="0"/>
              <a:chExt cx="386286" cy="58024"/>
            </a:xfrm>
          </p:grpSpPr>
          <p:sp>
            <p:nvSpPr>
              <p:cNvPr id="31" name="Freeform 7"/>
              <p:cNvSpPr/>
              <p:nvPr/>
            </p:nvSpPr>
            <p:spPr>
              <a:xfrm>
                <a:off x="0" y="0"/>
                <a:ext cx="386286" cy="58024"/>
              </a:xfrm>
              <a:custGeom>
                <a:avLst/>
                <a:gdLst/>
                <a:ahLst/>
                <a:cxnLst/>
                <a:rect l="l" t="t" r="r" b="b"/>
                <a:pathLst>
                  <a:path w="386286" h="58024">
                    <a:moveTo>
                      <a:pt x="0" y="0"/>
                    </a:moveTo>
                    <a:lnTo>
                      <a:pt x="386286" y="0"/>
                    </a:lnTo>
                    <a:lnTo>
                      <a:pt x="386286" y="58024"/>
                    </a:lnTo>
                    <a:lnTo>
                      <a:pt x="0" y="5802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2" name="TextBox 8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33902" tIns="33902" rIns="33902" bIns="33902" rtlCol="0" anchor="ctr"/>
              <a:lstStyle/>
              <a:p>
                <a:pPr algn="ctr">
                  <a:lnSpc>
                    <a:spcPts val="3220"/>
                  </a:lnSpc>
                </a:pPr>
                <a:endParaRPr/>
              </a:p>
            </p:txBody>
          </p:sp>
        </p:grpSp>
        <p:grpSp>
          <p:nvGrpSpPr>
            <p:cNvPr id="19" name="Group 9"/>
            <p:cNvGrpSpPr/>
            <p:nvPr/>
          </p:nvGrpSpPr>
          <p:grpSpPr>
            <a:xfrm>
              <a:off x="0" y="0"/>
              <a:ext cx="1802089" cy="270689"/>
              <a:chOff x="0" y="0"/>
              <a:chExt cx="386286" cy="58024"/>
            </a:xfrm>
          </p:grpSpPr>
          <p:sp>
            <p:nvSpPr>
              <p:cNvPr id="29" name="Freeform 10"/>
              <p:cNvSpPr/>
              <p:nvPr/>
            </p:nvSpPr>
            <p:spPr>
              <a:xfrm>
                <a:off x="0" y="0"/>
                <a:ext cx="386286" cy="58024"/>
              </a:xfrm>
              <a:custGeom>
                <a:avLst/>
                <a:gdLst/>
                <a:ahLst/>
                <a:cxnLst/>
                <a:rect l="l" t="t" r="r" b="b"/>
                <a:pathLst>
                  <a:path w="386286" h="58024">
                    <a:moveTo>
                      <a:pt x="0" y="0"/>
                    </a:moveTo>
                    <a:lnTo>
                      <a:pt x="386286" y="0"/>
                    </a:lnTo>
                    <a:lnTo>
                      <a:pt x="386286" y="58024"/>
                    </a:lnTo>
                    <a:lnTo>
                      <a:pt x="0" y="5802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0" name="TextBox 11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33902" tIns="33902" rIns="33902" bIns="33902" rtlCol="0" anchor="ctr"/>
              <a:lstStyle/>
              <a:p>
                <a:pPr algn="ctr">
                  <a:lnSpc>
                    <a:spcPts val="3220"/>
                  </a:lnSpc>
                </a:pPr>
                <a:endParaRPr/>
              </a:p>
            </p:txBody>
          </p:sp>
        </p:grpSp>
        <p:grpSp>
          <p:nvGrpSpPr>
            <p:cNvPr id="20" name="Group 12"/>
            <p:cNvGrpSpPr/>
            <p:nvPr/>
          </p:nvGrpSpPr>
          <p:grpSpPr>
            <a:xfrm>
              <a:off x="0" y="694300"/>
              <a:ext cx="1802089" cy="270689"/>
              <a:chOff x="0" y="0"/>
              <a:chExt cx="386286" cy="58024"/>
            </a:xfrm>
          </p:grpSpPr>
          <p:sp>
            <p:nvSpPr>
              <p:cNvPr id="27" name="Freeform 13"/>
              <p:cNvSpPr/>
              <p:nvPr/>
            </p:nvSpPr>
            <p:spPr>
              <a:xfrm>
                <a:off x="0" y="0"/>
                <a:ext cx="386286" cy="58024"/>
              </a:xfrm>
              <a:custGeom>
                <a:avLst/>
                <a:gdLst/>
                <a:ahLst/>
                <a:cxnLst/>
                <a:rect l="l" t="t" r="r" b="b"/>
                <a:pathLst>
                  <a:path w="386286" h="58024">
                    <a:moveTo>
                      <a:pt x="0" y="0"/>
                    </a:moveTo>
                    <a:lnTo>
                      <a:pt x="386286" y="0"/>
                    </a:lnTo>
                    <a:lnTo>
                      <a:pt x="386286" y="58024"/>
                    </a:lnTo>
                    <a:lnTo>
                      <a:pt x="0" y="5802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8" name="TextBox 14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33902" tIns="33902" rIns="33902" bIns="33902" rtlCol="0" anchor="ctr"/>
              <a:lstStyle/>
              <a:p>
                <a:pPr algn="ctr">
                  <a:lnSpc>
                    <a:spcPts val="3220"/>
                  </a:lnSpc>
                </a:pPr>
                <a:endParaRPr/>
              </a:p>
            </p:txBody>
          </p:sp>
        </p:grpSp>
        <p:grpSp>
          <p:nvGrpSpPr>
            <p:cNvPr id="21" name="Group 15"/>
            <p:cNvGrpSpPr/>
            <p:nvPr/>
          </p:nvGrpSpPr>
          <p:grpSpPr>
            <a:xfrm>
              <a:off x="0" y="1388600"/>
              <a:ext cx="1802089" cy="270689"/>
              <a:chOff x="0" y="0"/>
              <a:chExt cx="386286" cy="58024"/>
            </a:xfrm>
          </p:grpSpPr>
          <p:sp>
            <p:nvSpPr>
              <p:cNvPr id="25" name="Freeform 16"/>
              <p:cNvSpPr/>
              <p:nvPr/>
            </p:nvSpPr>
            <p:spPr>
              <a:xfrm>
                <a:off x="0" y="0"/>
                <a:ext cx="386286" cy="58024"/>
              </a:xfrm>
              <a:custGeom>
                <a:avLst/>
                <a:gdLst/>
                <a:ahLst/>
                <a:cxnLst/>
                <a:rect l="l" t="t" r="r" b="b"/>
                <a:pathLst>
                  <a:path w="386286" h="58024">
                    <a:moveTo>
                      <a:pt x="0" y="0"/>
                    </a:moveTo>
                    <a:lnTo>
                      <a:pt x="386286" y="0"/>
                    </a:lnTo>
                    <a:lnTo>
                      <a:pt x="386286" y="58024"/>
                    </a:lnTo>
                    <a:lnTo>
                      <a:pt x="0" y="5802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6" name="TextBox 17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33902" tIns="33902" rIns="33902" bIns="33902" rtlCol="0" anchor="ctr"/>
              <a:lstStyle/>
              <a:p>
                <a:pPr algn="ctr">
                  <a:lnSpc>
                    <a:spcPts val="3220"/>
                  </a:lnSpc>
                </a:pPr>
                <a:endParaRPr/>
              </a:p>
            </p:txBody>
          </p:sp>
        </p:grpSp>
        <p:grpSp>
          <p:nvGrpSpPr>
            <p:cNvPr id="22" name="Group 18"/>
            <p:cNvGrpSpPr/>
            <p:nvPr/>
          </p:nvGrpSpPr>
          <p:grpSpPr>
            <a:xfrm>
              <a:off x="0" y="2082899"/>
              <a:ext cx="1802089" cy="270689"/>
              <a:chOff x="0" y="0"/>
              <a:chExt cx="386286" cy="58024"/>
            </a:xfrm>
          </p:grpSpPr>
          <p:sp>
            <p:nvSpPr>
              <p:cNvPr id="23" name="Freeform 19"/>
              <p:cNvSpPr/>
              <p:nvPr/>
            </p:nvSpPr>
            <p:spPr>
              <a:xfrm>
                <a:off x="0" y="0"/>
                <a:ext cx="386286" cy="58024"/>
              </a:xfrm>
              <a:custGeom>
                <a:avLst/>
                <a:gdLst/>
                <a:ahLst/>
                <a:cxnLst/>
                <a:rect l="l" t="t" r="r" b="b"/>
                <a:pathLst>
                  <a:path w="386286" h="58024">
                    <a:moveTo>
                      <a:pt x="0" y="0"/>
                    </a:moveTo>
                    <a:lnTo>
                      <a:pt x="386286" y="0"/>
                    </a:lnTo>
                    <a:lnTo>
                      <a:pt x="386286" y="58024"/>
                    </a:lnTo>
                    <a:lnTo>
                      <a:pt x="0" y="5802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4" name="TextBox 20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33902" tIns="33902" rIns="33902" bIns="33902" rtlCol="0" anchor="ctr"/>
              <a:lstStyle/>
              <a:p>
                <a:pPr algn="ctr">
                  <a:lnSpc>
                    <a:spcPts val="3220"/>
                  </a:lnSpc>
                </a:pPr>
                <a:endParaRPr/>
              </a:p>
            </p:txBody>
          </p:sp>
        </p:grpSp>
      </p:grpSp>
      <p:sp>
        <p:nvSpPr>
          <p:cNvPr id="2" name="TextBox 5">
            <a:extLst>
              <a:ext uri="{FF2B5EF4-FFF2-40B4-BE49-F238E27FC236}">
                <a16:creationId xmlns:a16="http://schemas.microsoft.com/office/drawing/2014/main" id="{BC215E9C-10BA-B632-A5D0-35EF8E635184}"/>
              </a:ext>
            </a:extLst>
          </p:cNvPr>
          <p:cNvSpPr txBox="1"/>
          <p:nvPr/>
        </p:nvSpPr>
        <p:spPr>
          <a:xfrm>
            <a:off x="651174" y="300252"/>
            <a:ext cx="6368062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b="1" spc="67" dirty="0">
                <a:latin typeface="Century Gothic" panose="020B0502020202020204" pitchFamily="34" charset="0"/>
              </a:rPr>
              <a:t>Referências</a:t>
            </a:r>
          </a:p>
          <a:p>
            <a:endParaRPr lang="en-US" sz="4000" b="1" spc="67" dirty="0">
              <a:latin typeface="Century Gothic" panose="020B0502020202020204" pitchFamily="34" charset="0"/>
            </a:endParaRPr>
          </a:p>
          <a:p>
            <a:endParaRPr lang="en-US" sz="4000" b="1" spc="67" dirty="0">
              <a:latin typeface="Century Gothic" panose="020B0502020202020204" pitchFamily="34" charset="0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8B78030-B464-F20A-A158-1CF2BFE9C703}"/>
              </a:ext>
            </a:extLst>
          </p:cNvPr>
          <p:cNvSpPr txBox="1"/>
          <p:nvPr/>
        </p:nvSpPr>
        <p:spPr>
          <a:xfrm>
            <a:off x="651174" y="1103482"/>
            <a:ext cx="9985450" cy="4924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pt-BR" sz="2000" spc="217" dirty="0">
                <a:latin typeface="Roboto" panose="02000000000000000000" pitchFamily="2" charset="0"/>
                <a:ea typeface="Roboto" panose="02000000000000000000" pitchFamily="2" charset="0"/>
                <a:hlinkClick r:id="rId2"/>
              </a:rPr>
              <a:t>https://www.ateomomento.com.br/o-que-e-regra-de-negocio/</a:t>
            </a:r>
            <a:endParaRPr lang="pt-BR" sz="2000" spc="217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endParaRPr lang="pt-BR" sz="2000" spc="217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pt-BR" sz="2000" spc="217" dirty="0">
                <a:latin typeface="Roboto" panose="02000000000000000000" pitchFamily="2" charset="0"/>
                <a:ea typeface="Roboto" panose="02000000000000000000" pitchFamily="2" charset="0"/>
                <a:hlinkClick r:id="rId3"/>
              </a:rPr>
              <a:t>https://www.alura.com.br/artigos/o-que-sao-regras-de-negocio#:~:text=Uma%20regra%20de%20neg%C3%B3cio%20descreve,Vamos%20destrinchar%20melhor%20essas%20defini%C3%A7%C3%B5es</a:t>
            </a:r>
            <a:r>
              <a:rPr lang="pt-BR" sz="2000" spc="217" dirty="0">
                <a:latin typeface="Roboto" panose="02000000000000000000" pitchFamily="2" charset="0"/>
                <a:ea typeface="Roboto" panose="02000000000000000000" pitchFamily="2" charset="0"/>
              </a:rPr>
              <a:t>!</a:t>
            </a:r>
          </a:p>
          <a:p>
            <a:endParaRPr lang="pt-BR" sz="2000" spc="217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pt-BR" sz="2000" spc="217" dirty="0">
                <a:latin typeface="Roboto" panose="02000000000000000000" pitchFamily="2" charset="0"/>
                <a:ea typeface="Roboto" panose="02000000000000000000" pitchFamily="2" charset="0"/>
                <a:hlinkClick r:id="rId4"/>
              </a:rPr>
              <a:t>https://www.sydle.com/br/blog/regras-de-negocio-5f6333be1e43744c69d995e0</a:t>
            </a:r>
            <a:endParaRPr lang="pt-BR" sz="2000" spc="217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endParaRPr lang="pt-BR" sz="2000" spc="217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pt-BR" sz="2000" spc="217" dirty="0">
                <a:latin typeface="Roboto" panose="02000000000000000000" pitchFamily="2" charset="0"/>
                <a:ea typeface="Roboto" panose="02000000000000000000" pitchFamily="2" charset="0"/>
                <a:hlinkClick r:id="rId5"/>
              </a:rPr>
              <a:t>https://www.youtube.com/watch?v=QyJDkR1Ejt4</a:t>
            </a:r>
            <a:endParaRPr lang="pt-BR" sz="2000" spc="217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endParaRPr lang="pt-BR" sz="2000" spc="217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pt-BR" sz="2000" spc="217" dirty="0">
                <a:latin typeface="Roboto" panose="02000000000000000000" pitchFamily="2" charset="0"/>
                <a:ea typeface="Roboto" panose="02000000000000000000" pitchFamily="2" charset="0"/>
                <a:hlinkClick r:id="rId6"/>
              </a:rPr>
              <a:t>https://www.youtube.com/watch?v=NsjIXy-pmEs</a:t>
            </a:r>
            <a:endParaRPr lang="pt-BR" sz="2000" spc="217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endParaRPr lang="pt-BR" sz="2000" spc="217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pt-BR" sz="2000" spc="217" dirty="0">
                <a:latin typeface="Roboto" panose="02000000000000000000" pitchFamily="2" charset="0"/>
                <a:ea typeface="Roboto" panose="02000000000000000000" pitchFamily="2" charset="0"/>
                <a:hlinkClick r:id="rId7"/>
              </a:rPr>
              <a:t>https://www.youtube.com/watch?v=N9w5-TChccQ</a:t>
            </a:r>
            <a:endParaRPr lang="pt-BR" sz="2000" spc="217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endParaRPr lang="pt-BR" sz="2000" spc="217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endParaRPr lang="pt-BR" sz="2000" spc="217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53398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151" y="1504689"/>
            <a:ext cx="1235730" cy="431807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8255" y="1504688"/>
            <a:ext cx="1875820" cy="431807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5483" y="1504688"/>
            <a:ext cx="878854" cy="431807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7993" y="1504688"/>
            <a:ext cx="2156495" cy="469908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8799" y="1504689"/>
            <a:ext cx="1602766" cy="431807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513" y="1504689"/>
            <a:ext cx="1837720" cy="433077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8164" y="4880306"/>
            <a:ext cx="1604036" cy="431807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8516" y="4880306"/>
            <a:ext cx="1237000" cy="431807"/>
          </a:xfrm>
          <a:prstGeom prst="rect">
            <a:avLst/>
          </a:prstGeom>
        </p:spPr>
      </p:pic>
      <p:pic>
        <p:nvPicPr>
          <p:cNvPr id="13" name="Imagem 12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6350" y="4880306"/>
            <a:ext cx="1877090" cy="431807"/>
          </a:xfrm>
          <a:prstGeom prst="rect">
            <a:avLst/>
          </a:prstGeom>
        </p:spPr>
      </p:pic>
      <p:pic>
        <p:nvPicPr>
          <p:cNvPr id="14" name="Imagem 13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513" y="4880306"/>
            <a:ext cx="1836450" cy="433077"/>
          </a:xfrm>
          <a:prstGeom prst="rect">
            <a:avLst/>
          </a:prstGeom>
        </p:spPr>
      </p:pic>
      <p:pic>
        <p:nvPicPr>
          <p:cNvPr id="15" name="Imagem 14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4213" y="4880306"/>
            <a:ext cx="880124" cy="431807"/>
          </a:xfrm>
          <a:prstGeom prst="rect">
            <a:avLst/>
          </a:prstGeom>
        </p:spPr>
      </p:pic>
      <p:pic>
        <p:nvPicPr>
          <p:cNvPr id="16" name="Imagem 15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7357" y="4880306"/>
            <a:ext cx="2157765" cy="469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5115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3849bd-efdd-4698-a5e8-6d07bff0b75f">
      <Terms xmlns="http://schemas.microsoft.com/office/infopath/2007/PartnerControls"/>
    </lcf76f155ced4ddcb4097134ff3c332f>
    <TaxCatchAll xmlns="4edbee8a-60af-40c7-a1d3-c9cb7ff0de7c" xsi:nil="true"/>
    <_Flow_SignoffStatus xmlns="e23849bd-efdd-4698-a5e8-6d07bff0b75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666A979BC38DF4AAB1275A32016FDBF" ma:contentTypeVersion="20" ma:contentTypeDescription="Crie um novo documento." ma:contentTypeScope="" ma:versionID="b5a954a23c23e5ff2f9e54c95d6f06e0">
  <xsd:schema xmlns:xsd="http://www.w3.org/2001/XMLSchema" xmlns:xs="http://www.w3.org/2001/XMLSchema" xmlns:p="http://schemas.microsoft.com/office/2006/metadata/properties" xmlns:ns2="e23849bd-efdd-4698-a5e8-6d07bff0b75f" xmlns:ns3="4edbee8a-60af-40c7-a1d3-c9cb7ff0de7c" targetNamespace="http://schemas.microsoft.com/office/2006/metadata/properties" ma:root="true" ma:fieldsID="dba1900a17775bf0174064ff91fc8af9" ns2:_="" ns3:_="">
    <xsd:import namespace="e23849bd-efdd-4698-a5e8-6d07bff0b75f"/>
    <xsd:import namespace="4edbee8a-60af-40c7-a1d3-c9cb7ff0de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Details" minOccurs="0"/>
                <xsd:element ref="ns3:SharedWithUser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_Flow_SignoffStatu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3849bd-efdd-4698-a5e8-6d07bff0b7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Flow_SignoffStatus" ma:index="20" nillable="true" ma:displayName="Estado da aprovação" ma:internalName="Estado_x0020_da_x0020_aprova_x00e7__x00e3_o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a60f0fae-ccbd-443b-a613-a22fb470e02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dbee8a-60af-40c7-a1d3-c9cb7ff0de7c" elementFormDefault="qualified">
    <xsd:import namespace="http://schemas.microsoft.com/office/2006/documentManagement/types"/>
    <xsd:import namespace="http://schemas.microsoft.com/office/infopath/2007/PartnerControls"/>
    <xsd:element name="SharedWithDetails" ma:index="15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edWithUsers" ma:index="16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TaxCatchAll" ma:index="23" nillable="true" ma:displayName="Taxonomy Catch All Column" ma:hidden="true" ma:list="{51026482-432d-4692-b32f-0750dfafe8bb}" ma:internalName="TaxCatchAll" ma:showField="CatchAllData" ma:web="4edbee8a-60af-40c7-a1d3-c9cb7ff0de7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FA5EF7E-FEDD-4B84-8048-57A7AA2773F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01FA07A-293F-4182-AB4A-00CDE458BEEC}">
  <ds:schemaRefs>
    <ds:schemaRef ds:uri="http://schemas.microsoft.com/office/2006/metadata/properties"/>
    <ds:schemaRef ds:uri="http://schemas.microsoft.com/office/infopath/2007/PartnerControls"/>
    <ds:schemaRef ds:uri="e23849bd-efdd-4698-a5e8-6d07bff0b75f"/>
    <ds:schemaRef ds:uri="4edbee8a-60af-40c7-a1d3-c9cb7ff0de7c"/>
  </ds:schemaRefs>
</ds:datastoreItem>
</file>

<file path=customXml/itemProps3.xml><?xml version="1.0" encoding="utf-8"?>
<ds:datastoreItem xmlns:ds="http://schemas.openxmlformats.org/officeDocument/2006/customXml" ds:itemID="{A566FC51-E906-4929-B198-8AA19A758CB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23849bd-efdd-4698-a5e8-6d07bff0b75f"/>
    <ds:schemaRef ds:uri="4edbee8a-60af-40c7-a1d3-c9cb7ff0de7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1122</TotalTime>
  <Words>973</Words>
  <Application>Microsoft Office PowerPoint</Application>
  <PresentationFormat>Widescreen</PresentationFormat>
  <Paragraphs>105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Century Gothic</vt:lpstr>
      <vt:lpstr>Roboto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Bruna dos Santos Braga</dc:creator>
  <cp:lastModifiedBy>Gregory Veloso Silva</cp:lastModifiedBy>
  <cp:revision>24</cp:revision>
  <dcterms:created xsi:type="dcterms:W3CDTF">2023-07-19T20:57:09Z</dcterms:created>
  <dcterms:modified xsi:type="dcterms:W3CDTF">2024-02-23T14:05:45Z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0x0101000666A979BC38DF4AAB1275A32016FDBF</vt:lpwstr>
  </property>
</Properties>
</file>